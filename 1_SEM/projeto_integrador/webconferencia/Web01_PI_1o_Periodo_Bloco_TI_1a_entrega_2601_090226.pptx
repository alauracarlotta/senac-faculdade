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300" r:id="rId3"/>
    <p:sldId id="257" r:id="rId4"/>
    <p:sldId id="258" r:id="rId5"/>
    <p:sldId id="259" r:id="rId6"/>
    <p:sldId id="275" r:id="rId7"/>
    <p:sldId id="276" r:id="rId8"/>
    <p:sldId id="277" r:id="rId9"/>
    <p:sldId id="278" r:id="rId10"/>
    <p:sldId id="261" r:id="rId11"/>
    <p:sldId id="262" r:id="rId12"/>
    <p:sldId id="263" r:id="rId13"/>
    <p:sldId id="264" r:id="rId14"/>
    <p:sldId id="265" r:id="rId15"/>
    <p:sldId id="279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80" r:id="rId25"/>
    <p:sldId id="281" r:id="rId26"/>
    <p:sldId id="282" r:id="rId27"/>
    <p:sldId id="283" r:id="rId28"/>
    <p:sldId id="284" r:id="rId29"/>
    <p:sldId id="287" r:id="rId30"/>
    <p:sldId id="301" r:id="rId31"/>
    <p:sldId id="274" r:id="rId32"/>
  </p:sldIdLst>
  <p:sldSz cx="12192000" cy="6858000"/>
  <p:notesSz cx="6858000" cy="9144000"/>
  <p:embeddedFontLst>
    <p:embeddedFont>
      <p:font typeface="Helvetica" panose="020B0604020202020204" pitchFamily="34" charset="0"/>
      <p:regular r:id="rId34"/>
      <p:bold r:id="rId35"/>
      <p:italic r:id="rId36"/>
      <p:boldItalic r:id="rId37"/>
    </p:embeddedFont>
    <p:embeddedFont>
      <p:font typeface="Helvetica Neue" panose="020B0604020202020204" charset="0"/>
      <p:regular r:id="rId38"/>
      <p:bold r:id="rId39"/>
      <p:italic r:id="rId40"/>
      <p:boldItalic r:id="rId41"/>
    </p:embeddedFont>
    <p:embeddedFont>
      <p:font typeface="Lucida Sans" panose="020B0602040502020204" pitchFamily="34" charset="0"/>
      <p:regular r:id="rId42"/>
      <p:bold r:id="rId43"/>
      <p:italic r:id="rId44"/>
      <p:boldItalic r:id="rId45"/>
    </p:embeddedFont>
    <p:embeddedFont>
      <p:font typeface="Segoe UI" panose="020B0502040204020203" pitchFamily="34" charset="0"/>
      <p:regular r:id="rId46"/>
      <p:bold r:id="rId47"/>
      <p:italic r:id="rId48"/>
      <p:boldItalic r:id="rId49"/>
    </p:embeddedFont>
    <p:embeddedFont>
      <p:font typeface="Tahoma" panose="020B0604030504040204" pitchFamily="34" charset="0"/>
      <p:regular r:id="rId50"/>
      <p:bold r:id="rId5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2" roundtripDataSignature="AMtx7mjQSJwI9lymRbQLCcAifvcYrDo+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6.fntdata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42" Type="http://schemas.openxmlformats.org/officeDocument/2006/relationships/font" Target="fonts/font9.fntdata"/><Relationship Id="rId47" Type="http://schemas.openxmlformats.org/officeDocument/2006/relationships/font" Target="fonts/font14.fntdata"/><Relationship Id="rId50" Type="http://schemas.openxmlformats.org/officeDocument/2006/relationships/font" Target="fonts/font17.fntdata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5.fntdata"/><Relationship Id="rId46" Type="http://schemas.openxmlformats.org/officeDocument/2006/relationships/font" Target="fonts/font1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font" Target="fonts/font8.fntdata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4.fntdata"/><Relationship Id="rId40" Type="http://schemas.openxmlformats.org/officeDocument/2006/relationships/font" Target="fonts/font7.fntdata"/><Relationship Id="rId45" Type="http://schemas.openxmlformats.org/officeDocument/2006/relationships/font" Target="fonts/font12.fntdata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49" Type="http://schemas.openxmlformats.org/officeDocument/2006/relationships/font" Target="fonts/font1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1.fntdata"/><Relationship Id="rId52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43" Type="http://schemas.openxmlformats.org/officeDocument/2006/relationships/font" Target="fonts/font10.fntdata"/><Relationship Id="rId48" Type="http://schemas.openxmlformats.org/officeDocument/2006/relationships/font" Target="fonts/font15.fntdata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font" Target="fonts/font18.fntdata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" name="Google Shape;1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4AAD18-244F-45AF-A07F-495B4780C708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51745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" name="Google Shape;2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" name="Google Shape;3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5" name="Google Shape;4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">
          <a:extLst>
            <a:ext uri="{FF2B5EF4-FFF2-40B4-BE49-F238E27FC236}">
              <a16:creationId xmlns:a16="http://schemas.microsoft.com/office/drawing/2014/main" id="{904BD929-D2F1-9621-5ED5-12F96DC25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4:notes">
            <a:extLst>
              <a:ext uri="{FF2B5EF4-FFF2-40B4-BE49-F238E27FC236}">
                <a16:creationId xmlns:a16="http://schemas.microsoft.com/office/drawing/2014/main" id="{C6D4E553-3560-6B4E-95B2-94A8C1154B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4:notes">
            <a:extLst>
              <a:ext uri="{FF2B5EF4-FFF2-40B4-BE49-F238E27FC236}">
                <a16:creationId xmlns:a16="http://schemas.microsoft.com/office/drawing/2014/main" id="{2E9E7E70-16BC-1D59-EE29-7C70CC46A2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94875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">
          <a:extLst>
            <a:ext uri="{FF2B5EF4-FFF2-40B4-BE49-F238E27FC236}">
              <a16:creationId xmlns:a16="http://schemas.microsoft.com/office/drawing/2014/main" id="{05199F34-2930-F3EC-F1A0-D1306A567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4:notes">
            <a:extLst>
              <a:ext uri="{FF2B5EF4-FFF2-40B4-BE49-F238E27FC236}">
                <a16:creationId xmlns:a16="http://schemas.microsoft.com/office/drawing/2014/main" id="{BE136A3D-1318-D2C4-FFBB-1AE1CEA7FB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4:notes">
            <a:extLst>
              <a:ext uri="{FF2B5EF4-FFF2-40B4-BE49-F238E27FC236}">
                <a16:creationId xmlns:a16="http://schemas.microsoft.com/office/drawing/2014/main" id="{DB40C45D-54F2-8AED-6A41-0DB9C5AD90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87372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">
          <a:extLst>
            <a:ext uri="{FF2B5EF4-FFF2-40B4-BE49-F238E27FC236}">
              <a16:creationId xmlns:a16="http://schemas.microsoft.com/office/drawing/2014/main" id="{4700DCA5-FDB6-C58B-F2BA-9337163DF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4:notes">
            <a:extLst>
              <a:ext uri="{FF2B5EF4-FFF2-40B4-BE49-F238E27FC236}">
                <a16:creationId xmlns:a16="http://schemas.microsoft.com/office/drawing/2014/main" id="{4980E80F-9755-DB32-E47E-7504769063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4:notes">
            <a:extLst>
              <a:ext uri="{FF2B5EF4-FFF2-40B4-BE49-F238E27FC236}">
                <a16:creationId xmlns:a16="http://schemas.microsoft.com/office/drawing/2014/main" id="{2D6AB9B2-32F8-B905-87F0-35A0B11284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405401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9" name="Google Shape;69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0" name="Google Shape;8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1" name="Google Shape;9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3" name="Google Shape;11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5" name="Google Shape;12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7" name="Google Shape;13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8" name="Google Shape;15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5243bc8f80_0_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8" name="Google Shape;178;g35243bc8f8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9" name="Google Shape;18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1" name="Google Shape;201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3" name="Google Shape;213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5" name="Google Shape;22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741B3B-F024-58FE-E5F0-BBADF2533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6CD476E-78DC-7735-CF77-B1F69EF359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1748DAA0-648E-72F7-E6C4-57939C634F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32F6276-6C27-DC96-B07B-3B7A2FE07A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4AAD18-244F-45AF-A07F-495B4780C708}" type="slidenum">
              <a:rPr lang="pt-BR" smtClean="0"/>
              <a:t>30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751302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7" name="Google Shape;23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 0" type="tx">
  <p:cSld name="TITLE_AND_BODY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 txBox="1">
            <a:spLocks noGrp="1"/>
          </p:cNvSpPr>
          <p:nvPr>
            <p:ph type="sldNum" idx="12"/>
          </p:nvPr>
        </p:nvSpPr>
        <p:spPr>
          <a:xfrm>
            <a:off x="11337974" y="6378575"/>
            <a:ext cx="244426" cy="241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18" descr="image.jpe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18"/>
          <p:cNvSpPr txBox="1">
            <a:spLocks noGrp="1"/>
          </p:cNvSpPr>
          <p:nvPr>
            <p:ph type="sldNum" idx="12"/>
          </p:nvPr>
        </p:nvSpPr>
        <p:spPr>
          <a:xfrm>
            <a:off x="11337974" y="6378575"/>
            <a:ext cx="244426" cy="241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Slide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588498" y="2897944"/>
            <a:ext cx="11380764" cy="1170576"/>
          </a:xfrm>
        </p:spPr>
        <p:txBody>
          <a:bodyPr anchor="b"/>
          <a:lstStyle>
            <a:lvl1pPr algn="ctr">
              <a:defRPr sz="6000">
                <a:solidFill>
                  <a:schemeClr val="accent1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706880" y="4130998"/>
            <a:ext cx="9144000" cy="730810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accent1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2BF85-54FF-46CE-B398-87F998CFD60B}" type="datetimeFigureOut">
              <a:rPr lang="pt-BR" smtClean="0"/>
              <a:t>09/02/2026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85252-FBA3-417A-8652-C405B89605D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573705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>
            <a:spLocks noGrp="1"/>
          </p:cNvSpPr>
          <p:nvPr>
            <p:ph type="title"/>
          </p:nvPr>
        </p:nvSpPr>
        <p:spPr>
          <a:xfrm>
            <a:off x="1826683" y="1371600"/>
            <a:ext cx="9753601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1F497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1F497D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1F497D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1F497D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1F497D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1F497D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1F497D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1F497D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1F497D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16"/>
          <p:cNvSpPr txBox="1">
            <a:spLocks noGrp="1"/>
          </p:cNvSpPr>
          <p:nvPr>
            <p:ph type="body" idx="1"/>
          </p:nvPr>
        </p:nvSpPr>
        <p:spPr>
          <a:xfrm>
            <a:off x="6805083" y="2438400"/>
            <a:ext cx="4775201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6"/>
          <p:cNvSpPr txBox="1">
            <a:spLocks noGrp="1"/>
          </p:cNvSpPr>
          <p:nvPr>
            <p:ph type="sldNum" idx="12"/>
          </p:nvPr>
        </p:nvSpPr>
        <p:spPr>
          <a:xfrm>
            <a:off x="11337974" y="6378575"/>
            <a:ext cx="244426" cy="241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Marlon.cmaynart@sp.senac.br" TargetMode="External"/><Relationship Id="rId7" Type="http://schemas.openxmlformats.org/officeDocument/2006/relationships/image" Target="../media/image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jpeg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hyperlink" Target="mailto:marlon.cmaynart@sp.senac.br" TargetMode="External"/><Relationship Id="rId4" Type="http://schemas.openxmlformats.org/officeDocument/2006/relationships/image" Target="../media/image10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4.png"/><Relationship Id="rId4" Type="http://schemas.openxmlformats.org/officeDocument/2006/relationships/hyperlink" Target="https://www.uclmal.com/multicop-summit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hyperlink" Target="https://www.youtube.com/watch?v=Ezj_dOStZI8" TargetMode="Externa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jpg"/><Relationship Id="rId4" Type="http://schemas.openxmlformats.org/officeDocument/2006/relationships/image" Target="../media/image17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0M9G70OpT6U" TargetMode="External"/><Relationship Id="rId2" Type="http://schemas.openxmlformats.org/officeDocument/2006/relationships/hyperlink" Target="https://www.youtube.com/watch?v=7fcqb2a5_ok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jpg"/><Relationship Id="rId4" Type="http://schemas.openxmlformats.org/officeDocument/2006/relationships/image" Target="../media/image19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gi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mailto:Marlon.cmaynart@sp.senac.br" TargetMode="External"/><Relationship Id="rId7" Type="http://schemas.openxmlformats.org/officeDocument/2006/relationships/image" Target="../media/image7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jpeg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1" descr="capa_EAD capa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1"/>
          <p:cNvSpPr txBox="1">
            <a:spLocks noGrp="1"/>
          </p:cNvSpPr>
          <p:nvPr>
            <p:ph type="title" idx="4294967295"/>
          </p:nvPr>
        </p:nvSpPr>
        <p:spPr>
          <a:xfrm>
            <a:off x="2624368" y="5545137"/>
            <a:ext cx="6943264" cy="1017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541337" lvl="0" indent="-528637" algn="ctr" rtl="0">
              <a:lnSpc>
                <a:spcPct val="91666"/>
              </a:lnSpc>
              <a:spcBef>
                <a:spcPts val="0"/>
              </a:spcBef>
              <a:spcAft>
                <a:spcPts val="0"/>
              </a:spcAft>
              <a:buClr>
                <a:srgbClr val="00498E"/>
              </a:buClr>
              <a:buSzPts val="3600"/>
              <a:buFont typeface="Arial"/>
              <a:buNone/>
            </a:pPr>
            <a:r>
              <a:rPr lang="pt-BR"/>
              <a:t>WEBCONFERÊNCIA</a:t>
            </a:r>
            <a:endParaRPr/>
          </a:p>
          <a:p>
            <a:pPr marL="541337" lvl="0" indent="-528637" algn="ctr" rtl="0">
              <a:lnSpc>
                <a:spcPct val="91666"/>
              </a:lnSpc>
              <a:spcBef>
                <a:spcPts val="800"/>
              </a:spcBef>
              <a:spcAft>
                <a:spcPts val="0"/>
              </a:spcAft>
              <a:buClr>
                <a:srgbClr val="E8913D"/>
              </a:buClr>
              <a:buSzPts val="3600"/>
              <a:buFont typeface="Arial"/>
              <a:buNone/>
            </a:pPr>
            <a:r>
              <a:rPr lang="pt-BR"/>
              <a:t>Projeto Integrador | 1ª entrega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ctrTitle"/>
          </p:nvPr>
        </p:nvSpPr>
        <p:spPr>
          <a:xfrm>
            <a:off x="405618" y="2714739"/>
            <a:ext cx="11380764" cy="1170576"/>
          </a:xfrm>
        </p:spPr>
        <p:txBody>
          <a:bodyPr>
            <a:normAutofit/>
          </a:bodyPr>
          <a:lstStyle/>
          <a:p>
            <a:r>
              <a:rPr lang="pt-BR" dirty="0">
                <a:solidFill>
                  <a:srgbClr val="014A8E"/>
                </a:solidFill>
                <a:latin typeface="Helvetica" panose="020B0604020202020204" pitchFamily="34" charset="0"/>
              </a:rPr>
              <a:t>Projeto Integrador I</a:t>
            </a:r>
            <a:endParaRPr lang="pt-BR" dirty="0"/>
          </a:p>
        </p:txBody>
      </p:sp>
      <p:sp>
        <p:nvSpPr>
          <p:cNvPr id="5" name="Subtítulo 4"/>
          <p:cNvSpPr>
            <a:spLocks noGrp="1"/>
          </p:cNvSpPr>
          <p:nvPr>
            <p:ph type="subTitle" idx="1"/>
          </p:nvPr>
        </p:nvSpPr>
        <p:spPr>
          <a:xfrm>
            <a:off x="1303606" y="4286164"/>
            <a:ext cx="9584788" cy="730810"/>
          </a:xfrm>
        </p:spPr>
        <p:txBody>
          <a:bodyPr>
            <a:noAutofit/>
          </a:bodyPr>
          <a:lstStyle/>
          <a:p>
            <a:r>
              <a:rPr lang="pt-BR" dirty="0"/>
              <a:t>Professor: Marlon Cavalcante Maynart</a:t>
            </a:r>
          </a:p>
          <a:p>
            <a:r>
              <a:rPr lang="pt-BR" sz="2800" dirty="0">
                <a:hlinkClick r:id="rId3"/>
              </a:rPr>
              <a:t>marlon.cmaynart@sp.senac.br</a:t>
            </a:r>
            <a:r>
              <a:rPr lang="pt-BR" sz="2800" dirty="0"/>
              <a:t> </a:t>
            </a:r>
          </a:p>
        </p:txBody>
      </p:sp>
      <p:pic>
        <p:nvPicPr>
          <p:cNvPr id="3" name="Imagem 2" descr="Homem sorrindo pousando para foto&#10;&#10;Descrição gerada automaticamente">
            <a:extLst>
              <a:ext uri="{FF2B5EF4-FFF2-40B4-BE49-F238E27FC236}">
                <a16:creationId xmlns:a16="http://schemas.microsoft.com/office/drawing/2014/main" id="{7FDA61F1-DF6E-4243-9BE0-C143B127DF7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8651" y="4175534"/>
            <a:ext cx="798904" cy="1198256"/>
          </a:xfrm>
          <a:prstGeom prst="rect">
            <a:avLst/>
          </a:prstGeom>
        </p:spPr>
      </p:pic>
      <p:pic>
        <p:nvPicPr>
          <p:cNvPr id="6" name="Picture 35">
            <a:extLst>
              <a:ext uri="{FF2B5EF4-FFF2-40B4-BE49-F238E27FC236}">
                <a16:creationId xmlns:a16="http://schemas.microsoft.com/office/drawing/2014/main" id="{90252BA9-71CD-4116-8067-D92C2CED52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52400" y="283621"/>
            <a:ext cx="1733694" cy="174123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Picture 16" descr="http://bestreviewnews.com/wp-content/uploads/2013/09/Investigation.jpg">
            <a:extLst>
              <a:ext uri="{FF2B5EF4-FFF2-40B4-BE49-F238E27FC236}">
                <a16:creationId xmlns:a16="http://schemas.microsoft.com/office/drawing/2014/main" id="{2E490BB8-E6BF-424B-A111-7DED14333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52"/>
          <a:stretch>
            <a:fillRect/>
          </a:stretch>
        </p:blipFill>
        <p:spPr bwMode="auto">
          <a:xfrm>
            <a:off x="10345757" y="254441"/>
            <a:ext cx="1623505" cy="1577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 descr="http://t1.gstatic.com/images?q=tbn:ANd9GcTSB-D1ROElEePh_5heKm-a3pbiXYAHKtR5T9hzmU9VcUNYCAA&amp;t=1&amp;h=192&amp;w=193&amp;usg=__yWKZMPBzv691jpcFL954W2nKsak=">
            <a:extLst>
              <a:ext uri="{FF2B5EF4-FFF2-40B4-BE49-F238E27FC236}">
                <a16:creationId xmlns:a16="http://schemas.microsoft.com/office/drawing/2014/main" id="{E49625AE-375E-4B97-A0C3-2F03EAA0BA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49" r="8116" b="16940"/>
          <a:stretch>
            <a:fillRect/>
          </a:stretch>
        </p:blipFill>
        <p:spPr bwMode="auto">
          <a:xfrm>
            <a:off x="8692144" y="1324475"/>
            <a:ext cx="1476375" cy="1519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4E03C476-0A88-49BB-B1BC-E2372DD4EC99}"/>
              </a:ext>
            </a:extLst>
          </p:cNvPr>
          <p:cNvSpPr txBox="1"/>
          <p:nvPr/>
        </p:nvSpPr>
        <p:spPr>
          <a:xfrm>
            <a:off x="3839386" y="6211669"/>
            <a:ext cx="60980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600" b="1" dirty="0"/>
              <a:t>Web01 – 09/02/2026</a:t>
            </a:r>
          </a:p>
        </p:txBody>
      </p:sp>
    </p:spTree>
    <p:extLst>
      <p:ext uri="{BB962C8B-B14F-4D97-AF65-F5344CB8AC3E}">
        <p14:creationId xmlns:p14="http://schemas.microsoft.com/office/powerpoint/2010/main" val="25697977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"/>
          <p:cNvSpPr/>
          <p:nvPr/>
        </p:nvSpPr>
        <p:spPr>
          <a:xfrm>
            <a:off x="-75458" y="-164358"/>
            <a:ext cx="12476510" cy="7186164"/>
          </a:xfrm>
          <a:prstGeom prst="rect">
            <a:avLst/>
          </a:prstGeom>
          <a:solidFill>
            <a:srgbClr val="F5F5F5"/>
          </a:solidFill>
          <a:ln w="25400" cap="flat" cmpd="sng">
            <a:solidFill>
              <a:srgbClr val="F5F5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5" name="Google Shape;25;p2"/>
          <p:cNvSpPr/>
          <p:nvPr/>
        </p:nvSpPr>
        <p:spPr>
          <a:xfrm>
            <a:off x="-889000" y="-38100"/>
            <a:ext cx="13708021" cy="510361"/>
          </a:xfrm>
          <a:prstGeom prst="rect">
            <a:avLst/>
          </a:prstGeom>
          <a:solidFill>
            <a:srgbClr val="1B4582"/>
          </a:solidFill>
          <a:ln w="25400" cap="flat" cmpd="sng">
            <a:solidFill>
              <a:srgbClr val="1B45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6" name="Google Shape;26;p2"/>
          <p:cNvSpPr txBox="1"/>
          <p:nvPr/>
        </p:nvSpPr>
        <p:spPr>
          <a:xfrm>
            <a:off x="332026" y="798485"/>
            <a:ext cx="5980611" cy="53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4889"/>
              </a:buClr>
              <a:buSzPts val="3100"/>
              <a:buFont typeface="Arial"/>
              <a:buNone/>
            </a:pPr>
            <a:r>
              <a:rPr lang="pt-BR" sz="3100" b="1" i="0" u="none" strike="noStrike" cap="none">
                <a:solidFill>
                  <a:srgbClr val="1C4889"/>
                </a:solidFill>
                <a:latin typeface="Arial"/>
                <a:ea typeface="Arial"/>
                <a:cs typeface="Arial"/>
                <a:sym typeface="Arial"/>
              </a:rPr>
              <a:t>IMPORTANTE PARA O SEU DIA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2"/>
          <p:cNvSpPr txBox="1"/>
          <p:nvPr/>
        </p:nvSpPr>
        <p:spPr>
          <a:xfrm>
            <a:off x="344319" y="1658778"/>
            <a:ext cx="11654094" cy="4247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6C09"/>
              </a:buClr>
              <a:buSzPts val="1800"/>
              <a:buFont typeface="Arial"/>
              <a:buNone/>
            </a:pPr>
            <a:r>
              <a:rPr lang="pt-BR" sz="1800" b="1" i="0" u="none" strike="noStrike" cap="none">
                <a:solidFill>
                  <a:srgbClr val="E36C09"/>
                </a:solidFill>
                <a:latin typeface="Arial"/>
                <a:ea typeface="Arial"/>
                <a:cs typeface="Arial"/>
                <a:sym typeface="Arial"/>
              </a:rPr>
              <a:t>CANAIS DE COMUNICAÇÃO COM TUTORIA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Arial"/>
              <a:buNone/>
            </a:pPr>
            <a:r>
              <a:rPr lang="pt-BR" sz="1800" b="1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1 – Caso necessite utilize os canais abaixo listados para entrar em contato com a Tutoria do SENAC EAD: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Arial"/>
              <a:buChar char="•"/>
            </a:pPr>
            <a:r>
              <a:rPr lang="pt-BR" sz="1800" b="1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WhatsApp: 5682-0567 (atendimento personalizado nos períodos da manhã, tarde e noite)</a:t>
            </a:r>
            <a:endParaRPr sz="1800" b="1" i="0" u="none" strike="noStrike" cap="none">
              <a:solidFill>
                <a:srgbClr val="E36C0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Arial"/>
              <a:buChar char="•"/>
            </a:pPr>
            <a:r>
              <a:rPr lang="pt-BR" sz="1800" b="1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Fórum das Disciplinas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4889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rgbClr val="00206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6C09"/>
              </a:buClr>
              <a:buSzPts val="1800"/>
              <a:buFont typeface="Arial"/>
              <a:buNone/>
            </a:pPr>
            <a:r>
              <a:rPr lang="pt-BR" sz="1800" b="1" i="0" u="none" strike="noStrike" cap="none">
                <a:solidFill>
                  <a:srgbClr val="E36C09"/>
                </a:solidFill>
                <a:latin typeface="Arial"/>
                <a:ea typeface="Arial"/>
                <a:cs typeface="Arial"/>
                <a:sym typeface="Arial"/>
              </a:rPr>
              <a:t>CANAIS DE COMUNICAÇÃO COM O PROFESSOR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Arial"/>
              <a:buNone/>
            </a:pPr>
            <a:r>
              <a:rPr lang="pt-BR" sz="1800" b="1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2 – Utilize o Fórum da sua Disciplina para se comunicar com o professor;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4889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rgbClr val="00206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6C09"/>
              </a:buClr>
              <a:buSzPts val="1800"/>
              <a:buFont typeface="Arial"/>
              <a:buNone/>
            </a:pPr>
            <a:r>
              <a:rPr lang="pt-BR" sz="1800" b="1" i="0" u="none" strike="noStrike" cap="none">
                <a:solidFill>
                  <a:srgbClr val="E36C09"/>
                </a:solidFill>
                <a:latin typeface="Arial"/>
                <a:ea typeface="Arial"/>
                <a:cs typeface="Arial"/>
                <a:sym typeface="Arial"/>
              </a:rPr>
              <a:t>UTILIZE SEMPRE O SEU E-MAIL INSTITUCIONAL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Arial"/>
              <a:buNone/>
            </a:pPr>
            <a:r>
              <a:rPr lang="pt-BR" sz="1800" b="1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3 - O seu e-mail institucional garante que o seu acesso ao ambiente da EAD seja completo.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4889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rgbClr val="00206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6C09"/>
              </a:buClr>
              <a:buSzPts val="1800"/>
              <a:buFont typeface="Arial"/>
              <a:buNone/>
            </a:pPr>
            <a:r>
              <a:rPr lang="pt-BR" sz="1800" b="1" i="0" u="none" strike="noStrike" cap="none">
                <a:solidFill>
                  <a:srgbClr val="E36C09"/>
                </a:solidFill>
                <a:latin typeface="Arial"/>
                <a:ea typeface="Arial"/>
                <a:cs typeface="Arial"/>
                <a:sym typeface="Arial"/>
              </a:rPr>
              <a:t>PRECISA FALAR SOBRE OUTROS ASSUNTOS?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Arial"/>
              <a:buNone/>
            </a:pPr>
            <a:r>
              <a:rPr lang="pt-BR" sz="1800" b="1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4 – Abra um chamado seguindo estas orientações: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Arial"/>
              <a:buChar char="•"/>
            </a:pPr>
            <a:r>
              <a:rPr lang="pt-BR" sz="1800" b="1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Acessar o Portal do Aluno (página após o login no site do Senac),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Arial"/>
              <a:buChar char="•"/>
            </a:pPr>
            <a:r>
              <a:rPr lang="pt-BR" sz="1800" b="1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Em seguida clicar no item Solicitação de Serviços e descreva sua solicitação.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" name="Google Shape;28;p2" descr="Screenshot 2025-04-01 at 08.51.4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20131" y="5570742"/>
            <a:ext cx="1395498" cy="1476396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2"/>
          <p:cNvSpPr txBox="1"/>
          <p:nvPr/>
        </p:nvSpPr>
        <p:spPr>
          <a:xfrm>
            <a:off x="344319" y="124250"/>
            <a:ext cx="5151859" cy="287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pt-BR" sz="1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SENAC EAD</a:t>
            </a: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-482600" y="475158"/>
            <a:ext cx="13590475" cy="70370"/>
          </a:xfrm>
          <a:prstGeom prst="rect">
            <a:avLst/>
          </a:prstGeom>
          <a:solidFill>
            <a:srgbClr val="E0923C"/>
          </a:solid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"/>
          <p:cNvSpPr/>
          <p:nvPr/>
        </p:nvSpPr>
        <p:spPr>
          <a:xfrm>
            <a:off x="-75458" y="-164358"/>
            <a:ext cx="12476510" cy="7186164"/>
          </a:xfrm>
          <a:prstGeom prst="rect">
            <a:avLst/>
          </a:prstGeom>
          <a:solidFill>
            <a:srgbClr val="F5F5F5"/>
          </a:solidFill>
          <a:ln w="25400" cap="flat" cmpd="sng">
            <a:solidFill>
              <a:srgbClr val="F5F5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6" name="Google Shape;36;p3"/>
          <p:cNvSpPr/>
          <p:nvPr/>
        </p:nvSpPr>
        <p:spPr>
          <a:xfrm>
            <a:off x="-889000" y="-38100"/>
            <a:ext cx="13708021" cy="510361"/>
          </a:xfrm>
          <a:prstGeom prst="rect">
            <a:avLst/>
          </a:prstGeom>
          <a:solidFill>
            <a:srgbClr val="1B4582"/>
          </a:solidFill>
          <a:ln w="25400" cap="flat" cmpd="sng">
            <a:solidFill>
              <a:srgbClr val="1B45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7" name="Google Shape;37;p3"/>
          <p:cNvSpPr txBox="1"/>
          <p:nvPr/>
        </p:nvSpPr>
        <p:spPr>
          <a:xfrm>
            <a:off x="344319" y="3036161"/>
            <a:ext cx="5786195" cy="569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4889"/>
              </a:buClr>
              <a:buSzPts val="3100"/>
              <a:buFont typeface="Arial"/>
              <a:buNone/>
            </a:pPr>
            <a:r>
              <a:rPr lang="pt-BR" sz="3100" b="1" i="0" u="none" strike="noStrike" cap="none">
                <a:solidFill>
                  <a:srgbClr val="1C4889"/>
                </a:solidFill>
                <a:latin typeface="Arial"/>
                <a:ea typeface="Arial"/>
                <a:cs typeface="Arial"/>
                <a:sym typeface="Arial"/>
              </a:rPr>
              <a:t>VOCÊ SABE O QUE É A CPA?</a:t>
            </a:r>
            <a:endParaRPr sz="3100" b="1" i="0" u="none" strike="noStrike" cap="none">
              <a:solidFill>
                <a:srgbClr val="1C488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" name="Google Shape;38;p3" descr="Screenshot 2025-04-01 at 08.51.4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20131" y="5570742"/>
            <a:ext cx="1395498" cy="1476396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3"/>
          <p:cNvSpPr txBox="1"/>
          <p:nvPr/>
        </p:nvSpPr>
        <p:spPr>
          <a:xfrm>
            <a:off x="344319" y="124250"/>
            <a:ext cx="5151859" cy="287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pt-BR" sz="1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SENAC EAD</a:t>
            </a: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0" name="Google Shape;40;p3"/>
          <p:cNvSpPr/>
          <p:nvPr/>
        </p:nvSpPr>
        <p:spPr>
          <a:xfrm>
            <a:off x="-482600" y="475158"/>
            <a:ext cx="13590475" cy="70370"/>
          </a:xfrm>
          <a:prstGeom prst="rect">
            <a:avLst/>
          </a:prstGeom>
          <a:solidFill>
            <a:srgbClr val="E0923C"/>
          </a:solid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41" name="Google Shape;41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97201" y="776432"/>
            <a:ext cx="3257550" cy="2028825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3"/>
          <p:cNvSpPr txBox="1"/>
          <p:nvPr/>
        </p:nvSpPr>
        <p:spPr>
          <a:xfrm>
            <a:off x="433137" y="3705726"/>
            <a:ext cx="11565276" cy="2585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Tahoma"/>
              <a:buNone/>
            </a:pPr>
            <a:r>
              <a:rPr lang="pt-BR" sz="1800" b="0" i="0" u="none" strike="noStrike" cap="none">
                <a:solidFill>
                  <a:srgbClr val="002060"/>
                </a:solidFill>
                <a:latin typeface="Tahoma"/>
                <a:ea typeface="Tahoma"/>
                <a:cs typeface="Tahoma"/>
                <a:sym typeface="Tahoma"/>
              </a:rPr>
              <a:t>A Comissão Própria de Avaliação (CPA) é a </a:t>
            </a:r>
            <a:r>
              <a:rPr lang="pt-BR" sz="1800" b="1" i="0" u="none" strike="noStrike" cap="none">
                <a:solidFill>
                  <a:srgbClr val="002060"/>
                </a:solidFill>
                <a:latin typeface="Tahoma"/>
                <a:ea typeface="Tahoma"/>
                <a:cs typeface="Tahoma"/>
                <a:sym typeface="Tahoma"/>
              </a:rPr>
              <a:t>responsável</a:t>
            </a:r>
            <a:r>
              <a:rPr lang="pt-BR" sz="1800" b="0" i="0" u="none" strike="noStrike" cap="none">
                <a:solidFill>
                  <a:srgbClr val="002060"/>
                </a:solidFill>
                <a:latin typeface="Tahoma"/>
                <a:ea typeface="Tahoma"/>
                <a:cs typeface="Tahoma"/>
                <a:sym typeface="Tahoma"/>
              </a:rPr>
              <a:t> pela </a:t>
            </a:r>
            <a:r>
              <a:rPr lang="pt-BR" sz="1800" b="1" i="0" u="none" strike="noStrike" cap="none">
                <a:solidFill>
                  <a:srgbClr val="002060"/>
                </a:solidFill>
                <a:latin typeface="Tahoma"/>
                <a:ea typeface="Tahoma"/>
                <a:cs typeface="Tahoma"/>
                <a:sym typeface="Tahoma"/>
              </a:rPr>
              <a:t>autoavaliação institucional</a:t>
            </a:r>
            <a:r>
              <a:rPr lang="pt-BR" sz="1800" b="0" i="0" u="none" strike="noStrike" cap="none">
                <a:solidFill>
                  <a:srgbClr val="002060"/>
                </a:solidFill>
                <a:latin typeface="Tahoma"/>
                <a:ea typeface="Tahoma"/>
                <a:cs typeface="Tahoma"/>
                <a:sym typeface="Tahoma"/>
              </a:rPr>
              <a:t> do Centro Universitário Senac, que trabalha para </a:t>
            </a:r>
            <a:r>
              <a:rPr lang="pt-BR" sz="1800" b="1" i="0" u="none" strike="noStrike" cap="none">
                <a:solidFill>
                  <a:srgbClr val="002060"/>
                </a:solidFill>
                <a:latin typeface="Tahoma"/>
                <a:ea typeface="Tahoma"/>
                <a:cs typeface="Tahoma"/>
                <a:sym typeface="Tahoma"/>
              </a:rPr>
              <a:t>identificar</a:t>
            </a:r>
            <a:r>
              <a:rPr lang="pt-BR" sz="1800" b="0" i="0" u="none" strike="noStrike" cap="none">
                <a:solidFill>
                  <a:srgbClr val="002060"/>
                </a:solidFill>
                <a:latin typeface="Tahoma"/>
                <a:ea typeface="Tahoma"/>
                <a:cs typeface="Tahoma"/>
                <a:sym typeface="Tahoma"/>
              </a:rPr>
              <a:t> as qualidades da instituição e fornecer informações para a implementação de </a:t>
            </a:r>
            <a:r>
              <a:rPr lang="pt-BR" sz="1800" b="1" i="0" u="none" strike="noStrike" cap="none">
                <a:solidFill>
                  <a:srgbClr val="002060"/>
                </a:solidFill>
                <a:latin typeface="Tahoma"/>
                <a:ea typeface="Tahoma"/>
                <a:cs typeface="Tahoma"/>
                <a:sym typeface="Tahoma"/>
              </a:rPr>
              <a:t>melhorias</a:t>
            </a:r>
            <a:r>
              <a:rPr lang="pt-BR" sz="1800" b="0" i="0" u="none" strike="noStrike" cap="none">
                <a:solidFill>
                  <a:srgbClr val="002060"/>
                </a:solidFill>
                <a:latin typeface="Tahoma"/>
                <a:ea typeface="Tahoma"/>
                <a:cs typeface="Tahoma"/>
                <a:sym typeface="Tahoma"/>
              </a:rPr>
              <a:t> nas áreas educacional, administrativa e de infraestrutura. Além disso, fornece ao </a:t>
            </a:r>
            <a:r>
              <a:rPr lang="pt-BR" sz="1800" b="1" i="0" u="none" strike="noStrike" cap="none">
                <a:solidFill>
                  <a:srgbClr val="002060"/>
                </a:solidFill>
                <a:latin typeface="Tahoma"/>
                <a:ea typeface="Tahoma"/>
                <a:cs typeface="Tahoma"/>
                <a:sym typeface="Tahoma"/>
              </a:rPr>
              <a:t>Ministério da Educação</a:t>
            </a:r>
            <a:r>
              <a:rPr lang="pt-BR" sz="1800" b="0" i="0" u="none" strike="noStrike" cap="none">
                <a:solidFill>
                  <a:srgbClr val="002060"/>
                </a:solidFill>
                <a:latin typeface="Tahoma"/>
                <a:ea typeface="Tahoma"/>
                <a:cs typeface="Tahoma"/>
                <a:sym typeface="Tahoma"/>
              </a:rPr>
              <a:t> informações determinantes para a avaliação das Instituições do Ensino Superior (IES).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Tahoma"/>
              <a:buNone/>
            </a:pPr>
            <a:r>
              <a:rPr lang="pt-BR" sz="1800" b="0" i="0" u="none" strike="noStrike" cap="none">
                <a:solidFill>
                  <a:srgbClr val="002060"/>
                </a:solidFill>
                <a:latin typeface="Tahoma"/>
                <a:ea typeface="Tahoma"/>
                <a:cs typeface="Tahoma"/>
                <a:sym typeface="Tahoma"/>
              </a:rPr>
              <a:t>A sua participação é muito importante para todos nós!</a:t>
            </a:r>
            <a:endParaRPr sz="1800" b="0" i="0" u="none" strike="noStrike" cap="none">
              <a:solidFill>
                <a:srgbClr val="00206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5"/>
          <p:cNvSpPr/>
          <p:nvPr/>
        </p:nvSpPr>
        <p:spPr>
          <a:xfrm>
            <a:off x="-57166" y="-38100"/>
            <a:ext cx="12476510" cy="7186164"/>
          </a:xfrm>
          <a:prstGeom prst="rect">
            <a:avLst/>
          </a:prstGeom>
          <a:solidFill>
            <a:srgbClr val="F5F5F5"/>
          </a:solidFill>
          <a:ln w="25400" cap="flat" cmpd="sng">
            <a:solidFill>
              <a:srgbClr val="F5F5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48" name="Google Shape;48;p5" descr="Screenshot 2025-04-01 at 08.51.4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20131" y="5570742"/>
            <a:ext cx="1395498" cy="1476396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5"/>
          <p:cNvSpPr/>
          <p:nvPr/>
        </p:nvSpPr>
        <p:spPr>
          <a:xfrm>
            <a:off x="-889000" y="-38100"/>
            <a:ext cx="13708021" cy="510361"/>
          </a:xfrm>
          <a:prstGeom prst="rect">
            <a:avLst/>
          </a:prstGeom>
          <a:solidFill>
            <a:srgbClr val="1B4582"/>
          </a:solidFill>
          <a:ln w="25400" cap="flat" cmpd="sng">
            <a:solidFill>
              <a:srgbClr val="1B45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0" name="Google Shape;50;p5"/>
          <p:cNvSpPr txBox="1"/>
          <p:nvPr/>
        </p:nvSpPr>
        <p:spPr>
          <a:xfrm>
            <a:off x="344319" y="124250"/>
            <a:ext cx="5151859" cy="287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pt-BR" sz="1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SENAC EAD</a:t>
            </a: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-482600" y="475158"/>
            <a:ext cx="13590475" cy="70370"/>
          </a:xfrm>
          <a:prstGeom prst="rect">
            <a:avLst/>
          </a:prstGeom>
          <a:solidFill>
            <a:srgbClr val="E0923C"/>
          </a:solid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2" name="Google Shape;52;p5"/>
          <p:cNvSpPr txBox="1"/>
          <p:nvPr/>
        </p:nvSpPr>
        <p:spPr>
          <a:xfrm>
            <a:off x="344319" y="864880"/>
            <a:ext cx="9114900" cy="23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4982"/>
              </a:buClr>
              <a:buSzPts val="2400"/>
              <a:buFont typeface="Lucida Sans"/>
              <a:buNone/>
            </a:pPr>
            <a:r>
              <a:rPr lang="pt-BR" sz="2400" b="1" i="0" u="none" strike="noStrike" cap="none">
                <a:solidFill>
                  <a:srgbClr val="044982"/>
                </a:solidFill>
                <a:latin typeface="Lucida Sans"/>
                <a:ea typeface="Lucida Sans"/>
                <a:cs typeface="Lucida Sans"/>
                <a:sym typeface="Lucida Sans"/>
              </a:rPr>
              <a:t>PONTOS DA NOSSA WEBCONFERÊNCIA DE HOJE</a:t>
            </a: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285750" marR="0" lvl="0" indent="-171450" algn="just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endParaRPr sz="1800" b="0" i="0" u="none" strike="noStrike" cap="none">
              <a:solidFill>
                <a:srgbClr val="044982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44982"/>
              </a:buClr>
              <a:buSzPts val="1600"/>
              <a:buFont typeface="Noto Sans Symbols"/>
              <a:buChar char="▪"/>
            </a:pPr>
            <a:r>
              <a:rPr lang="pt-BR" sz="1600" b="0" i="0" u="none" strike="noStrike" cap="none">
                <a:solidFill>
                  <a:srgbClr val="044982"/>
                </a:solidFill>
                <a:latin typeface="Lucida Sans"/>
                <a:ea typeface="Lucida Sans"/>
                <a:cs typeface="Lucida Sans"/>
                <a:sym typeface="Lucida Sans"/>
              </a:rPr>
              <a:t>Apresentação docente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44982"/>
              </a:buClr>
              <a:buSzPts val="1600"/>
              <a:buFont typeface="Noto Sans Symbols"/>
              <a:buChar char="▪"/>
            </a:pPr>
            <a:r>
              <a:rPr lang="pt-BR" sz="1600" b="0" i="0" u="none" strike="noStrike" cap="none">
                <a:solidFill>
                  <a:srgbClr val="044982"/>
                </a:solidFill>
                <a:latin typeface="Lucida Sans"/>
                <a:ea typeface="Lucida Sans"/>
                <a:cs typeface="Lucida Sans"/>
                <a:sym typeface="Lucida Sans"/>
              </a:rPr>
              <a:t>Apresentação da proposta do Projeto Integrador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44982"/>
              </a:buClr>
              <a:buSzPts val="1600"/>
              <a:buFont typeface="Noto Sans Symbols"/>
              <a:buChar char="▪"/>
            </a:pPr>
            <a:r>
              <a:rPr lang="pt-BR" sz="1600" b="0" i="0" u="none" strike="noStrike" cap="none">
                <a:solidFill>
                  <a:srgbClr val="044982"/>
                </a:solidFill>
                <a:latin typeface="Lucida Sans"/>
                <a:ea typeface="Lucida Sans"/>
                <a:cs typeface="Lucida Sans"/>
                <a:sym typeface="Lucida Sans"/>
              </a:rPr>
              <a:t>Pontos a serem desenvolvidos para a 1ª entrega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</a:pPr>
            <a:endParaRPr sz="16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3" name="Google Shape;53;p5"/>
          <p:cNvSpPr txBox="1"/>
          <p:nvPr/>
        </p:nvSpPr>
        <p:spPr>
          <a:xfrm>
            <a:off x="3026872" y="46479"/>
            <a:ext cx="9288757" cy="276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r>
              <a:rPr lang="pt-BR" sz="12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PROJETO INTEGRADOR – DIAGNÓSTICO DE SOLUÇÕES DE TECNOLOGIA DA INFORMAÇÃO - </a:t>
            </a:r>
            <a:r>
              <a:rPr lang="pt-BR" sz="12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AÇÕES</a:t>
            </a:r>
            <a:r>
              <a:rPr lang="pt-BR" sz="12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EXTENSIONISTAS</a:t>
            </a:r>
            <a:endParaRPr sz="1800" b="1" i="0" u="none" strike="noStrike" cap="non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4"/>
          <p:cNvSpPr/>
          <p:nvPr/>
        </p:nvSpPr>
        <p:spPr>
          <a:xfrm>
            <a:off x="0" y="-164082"/>
            <a:ext cx="12476510" cy="7186164"/>
          </a:xfrm>
          <a:prstGeom prst="rect">
            <a:avLst/>
          </a:prstGeom>
          <a:solidFill>
            <a:srgbClr val="F5F5F5"/>
          </a:solidFill>
          <a:ln w="25400" cap="flat" cmpd="sng">
            <a:solidFill>
              <a:srgbClr val="F5F5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lvl="0">
              <a:buSzPts val="1800"/>
            </a:pPr>
            <a:r>
              <a:rPr lang="pt-BR" sz="1800" b="1" dirty="0">
                <a:solidFill>
                  <a:srgbClr val="044982"/>
                </a:solidFill>
                <a:latin typeface="Lucida Sans"/>
              </a:rPr>
              <a:t>Formação acadêmica e técnica:</a:t>
            </a:r>
            <a:endParaRPr sz="1800" b="0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48" name="Google Shape;48;p4" descr="Screenshot 2025-04-01 at 08.51.4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20131" y="5570742"/>
            <a:ext cx="1395498" cy="1476396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4"/>
          <p:cNvSpPr/>
          <p:nvPr/>
        </p:nvSpPr>
        <p:spPr>
          <a:xfrm>
            <a:off x="1" y="209966"/>
            <a:ext cx="12476510" cy="510361"/>
          </a:xfrm>
          <a:prstGeom prst="rect">
            <a:avLst/>
          </a:prstGeom>
          <a:solidFill>
            <a:srgbClr val="1B4582"/>
          </a:solidFill>
          <a:ln w="25400" cap="flat" cmpd="sng">
            <a:solidFill>
              <a:srgbClr val="1B45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0" name="Google Shape;50;p4"/>
          <p:cNvSpPr txBox="1"/>
          <p:nvPr/>
        </p:nvSpPr>
        <p:spPr>
          <a:xfrm>
            <a:off x="233511" y="161825"/>
            <a:ext cx="5151859" cy="287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pt-BR" sz="1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SENAC EAD</a:t>
            </a: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-1" y="475158"/>
            <a:ext cx="12476511" cy="45719"/>
          </a:xfrm>
          <a:prstGeom prst="rect">
            <a:avLst/>
          </a:prstGeom>
          <a:solidFill>
            <a:srgbClr val="E0923C"/>
          </a:solid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3" name="Google Shape;53;p4"/>
          <p:cNvSpPr txBox="1"/>
          <p:nvPr/>
        </p:nvSpPr>
        <p:spPr>
          <a:xfrm>
            <a:off x="5496178" y="671557"/>
            <a:ext cx="5787902" cy="5955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4982"/>
              </a:buClr>
              <a:buSzPts val="2400"/>
              <a:buFont typeface="Lucida Sans"/>
              <a:buNone/>
            </a:pPr>
            <a:r>
              <a:rPr lang="pt-BR" sz="2400" b="1" i="0" u="none" strike="noStrike" cap="none" dirty="0">
                <a:solidFill>
                  <a:srgbClr val="044982"/>
                </a:solidFill>
                <a:latin typeface="Lucida Sans"/>
                <a:ea typeface="Lucida Sans"/>
                <a:cs typeface="Lucida Sans"/>
                <a:sym typeface="Lucida Sans"/>
              </a:rPr>
              <a:t>Marlon Maynart</a:t>
            </a:r>
            <a:endParaRPr sz="1800" b="0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lvl="0" algn="just">
              <a:spcBef>
                <a:spcPts val="600"/>
              </a:spcBef>
              <a:buClr>
                <a:srgbClr val="044982"/>
              </a:buClr>
              <a:buSzPts val="1800"/>
            </a:pPr>
            <a:br>
              <a:rPr lang="pt-BR" dirty="0">
                <a:solidFill>
                  <a:srgbClr val="044982"/>
                </a:solidFill>
                <a:latin typeface="Lucida Sans"/>
              </a:rPr>
            </a:br>
            <a:r>
              <a:rPr lang="pt-BR" b="1" dirty="0">
                <a:solidFill>
                  <a:srgbClr val="044982"/>
                </a:solidFill>
                <a:latin typeface="Lucida Sans"/>
              </a:rPr>
              <a:t>Experiência docente: </a:t>
            </a:r>
            <a:r>
              <a:rPr lang="pt-BR" dirty="0">
                <a:solidFill>
                  <a:srgbClr val="044982"/>
                </a:solidFill>
                <a:latin typeface="Lucida Sans"/>
              </a:rPr>
              <a:t>+20 anos no ensino de Ciências da Natureza; +12 anos no Centro Universitário Senac em gestão ambiental, licenciaturas e GTI.</a:t>
            </a:r>
            <a:endParaRPr lang="pt-BR" dirty="0">
              <a:solidFill>
                <a:srgbClr val="044982"/>
              </a:solidFill>
              <a:latin typeface="Lucida Sans"/>
              <a:sym typeface="Lucida Sans"/>
            </a:endParaRPr>
          </a:p>
          <a:p>
            <a:pPr lvl="0" algn="just">
              <a:spcBef>
                <a:spcPts val="600"/>
              </a:spcBef>
              <a:buClr>
                <a:srgbClr val="044982"/>
              </a:buClr>
              <a:buSzPts val="1600"/>
            </a:pPr>
            <a:br>
              <a:rPr lang="pt-BR" b="0" i="0" u="none" strike="noStrike" cap="none" dirty="0">
                <a:solidFill>
                  <a:srgbClr val="044982"/>
                </a:solidFill>
                <a:latin typeface="Lucida Sans"/>
                <a:ea typeface="Lucida Sans"/>
                <a:cs typeface="Lucida Sans"/>
                <a:sym typeface="Lucida Sans"/>
              </a:rPr>
            </a:br>
            <a:r>
              <a:rPr lang="pt-BR" b="1" dirty="0">
                <a:solidFill>
                  <a:srgbClr val="044982"/>
                </a:solidFill>
                <a:latin typeface="Lucida Sans"/>
              </a:rPr>
              <a:t>Foco temático/metodológico: </a:t>
            </a:r>
            <a:r>
              <a:rPr lang="pt-BR" dirty="0">
                <a:solidFill>
                  <a:srgbClr val="044982"/>
                </a:solidFill>
                <a:latin typeface="Lucida Sans"/>
              </a:rPr>
              <a:t>Tecnologias digitais, laboratórios e simuladores virtuais, metodologias ativas e inovadoras aplicadas ao ensino de química e educação ambiental.</a:t>
            </a:r>
          </a:p>
          <a:p>
            <a:pPr lvl="0" algn="just">
              <a:spcBef>
                <a:spcPts val="600"/>
              </a:spcBef>
              <a:buClr>
                <a:srgbClr val="044982"/>
              </a:buClr>
              <a:buSzPts val="1600"/>
            </a:pPr>
            <a:endParaRPr lang="pt-BR" dirty="0">
              <a:solidFill>
                <a:srgbClr val="044982"/>
              </a:solidFill>
              <a:latin typeface="Lucida Sans"/>
              <a:sym typeface="Helvetica Neue"/>
            </a:endParaRPr>
          </a:p>
          <a:p>
            <a:pPr algn="just">
              <a:spcBef>
                <a:spcPts val="600"/>
              </a:spcBef>
              <a:buClr>
                <a:srgbClr val="044982"/>
              </a:buClr>
              <a:buSzPts val="1600"/>
            </a:pPr>
            <a:r>
              <a:rPr lang="pt-BR" b="1" dirty="0">
                <a:solidFill>
                  <a:srgbClr val="044982"/>
                </a:solidFill>
                <a:latin typeface="Lucida Sans"/>
              </a:rPr>
              <a:t>Coordenação e gestão acadêmica: </a:t>
            </a:r>
            <a:r>
              <a:rPr lang="pt-BR" dirty="0">
                <a:solidFill>
                  <a:srgbClr val="044982"/>
                </a:solidFill>
                <a:latin typeface="Lucida Sans"/>
              </a:rPr>
              <a:t>Coordenação  dos cursos de Gestão da Tecnologia da Informação (GTI) e Tecnologia em Banco de Dados no Senac EAD.</a:t>
            </a:r>
          </a:p>
          <a:p>
            <a:pPr algn="just">
              <a:spcBef>
                <a:spcPts val="600"/>
              </a:spcBef>
              <a:buClr>
                <a:srgbClr val="044982"/>
              </a:buClr>
              <a:buSzPts val="1600"/>
            </a:pPr>
            <a:r>
              <a:rPr lang="pt-BR" b="1" dirty="0">
                <a:solidFill>
                  <a:srgbClr val="044982"/>
                </a:solidFill>
                <a:latin typeface="Lucida Sans"/>
              </a:rPr>
              <a:t>Produção autoral e materiais: </a:t>
            </a:r>
            <a:r>
              <a:rPr lang="pt-BR" dirty="0">
                <a:solidFill>
                  <a:srgbClr val="044982"/>
                </a:solidFill>
                <a:latin typeface="Lucida Sans"/>
              </a:rPr>
              <a:t>Autor dos livros </a:t>
            </a:r>
            <a:r>
              <a:rPr lang="pt-BR" b="1" dirty="0">
                <a:solidFill>
                  <a:srgbClr val="044982"/>
                </a:solidFill>
                <a:latin typeface="Lucida Sans"/>
              </a:rPr>
              <a:t>“Inteligência artificial aplicada à gestão ambiental” , “Livro Economia do meio ambiente”, “Tecnologias digitais na educação: </a:t>
            </a:r>
            <a:r>
              <a:rPr lang="pt-BR" dirty="0">
                <a:solidFill>
                  <a:srgbClr val="044982"/>
                </a:solidFill>
                <a:latin typeface="Lucida Sans"/>
              </a:rPr>
              <a:t>ferramentas ,</a:t>
            </a:r>
            <a:r>
              <a:rPr lang="pt-BR" b="1" dirty="0">
                <a:solidFill>
                  <a:srgbClr val="044982"/>
                </a:solidFill>
                <a:latin typeface="Lucida Sans"/>
              </a:rPr>
              <a:t>“Metodologias ativas no ensino de química” </a:t>
            </a:r>
            <a:r>
              <a:rPr lang="pt-BR" dirty="0">
                <a:solidFill>
                  <a:srgbClr val="044982"/>
                </a:solidFill>
                <a:latin typeface="Lucida Sans"/>
              </a:rPr>
              <a:t>e </a:t>
            </a:r>
            <a:r>
              <a:rPr lang="pt-BR" b="1" dirty="0">
                <a:solidFill>
                  <a:srgbClr val="044982"/>
                </a:solidFill>
                <a:latin typeface="Lucida Sans"/>
              </a:rPr>
              <a:t>“Educação mediada por tecnologias: </a:t>
            </a:r>
            <a:r>
              <a:rPr lang="pt-BR" dirty="0">
                <a:solidFill>
                  <a:srgbClr val="044982"/>
                </a:solidFill>
                <a:latin typeface="Lucida Sans"/>
              </a:rPr>
              <a:t>o uso de laboratórios e simuladores virtuais no ensino de química”; desenvolve materiais didáticos e videoaulas para pós-graduação.</a:t>
            </a:r>
          </a:p>
          <a:p>
            <a:pPr algn="just">
              <a:spcBef>
                <a:spcPts val="600"/>
              </a:spcBef>
              <a:buClr>
                <a:srgbClr val="044982"/>
              </a:buClr>
              <a:buSzPts val="1600"/>
            </a:pPr>
            <a:endParaRPr lang="pt-BR" dirty="0">
              <a:solidFill>
                <a:srgbClr val="044982"/>
              </a:solidFill>
              <a:latin typeface="Lucida Sans"/>
              <a:sym typeface="Helvetica Neue"/>
            </a:endParaRPr>
          </a:p>
          <a:p>
            <a:pPr algn="just">
              <a:spcBef>
                <a:spcPts val="600"/>
              </a:spcBef>
              <a:buClr>
                <a:srgbClr val="044982"/>
              </a:buClr>
              <a:buSzPts val="1600"/>
            </a:pPr>
            <a:r>
              <a:rPr lang="pt-BR" b="1" dirty="0">
                <a:solidFill>
                  <a:srgbClr val="044982"/>
                </a:solidFill>
                <a:latin typeface="Lucida Sans"/>
              </a:rPr>
              <a:t>Pesquisa e interesses: </a:t>
            </a:r>
            <a:r>
              <a:rPr lang="pt-BR" dirty="0">
                <a:solidFill>
                  <a:srgbClr val="044982"/>
                </a:solidFill>
                <a:latin typeface="Lucida Sans"/>
              </a:rPr>
              <a:t>IA na educação, questões ambientais (emissões gasosas e recursos hídricos) e TDICs, com ênfase em simuladores virtuais e metodologias ativas.</a:t>
            </a:r>
            <a:endParaRPr dirty="0">
              <a:solidFill>
                <a:srgbClr val="044982"/>
              </a:solidFill>
              <a:latin typeface="Lucida Sans"/>
              <a:sym typeface="Helvetica Neue"/>
            </a:endParaRPr>
          </a:p>
        </p:txBody>
      </p:sp>
      <p:pic>
        <p:nvPicPr>
          <p:cNvPr id="3" name="Imagem 2" descr="Menino sorrindo posando para foto&#10;&#10;O conteúdo gerado por IA pode estar incorreto.">
            <a:extLst>
              <a:ext uri="{FF2B5EF4-FFF2-40B4-BE49-F238E27FC236}">
                <a16:creationId xmlns:a16="http://schemas.microsoft.com/office/drawing/2014/main" id="{AF2CB4FC-AAD9-6EBA-9849-2B58619A07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0025" y="1115416"/>
            <a:ext cx="1668214" cy="1668214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2A24F04D-7081-23A7-F711-2574076BFCBE}"/>
              </a:ext>
            </a:extLst>
          </p:cNvPr>
          <p:cNvSpPr txBox="1"/>
          <p:nvPr/>
        </p:nvSpPr>
        <p:spPr>
          <a:xfrm>
            <a:off x="273477" y="2945085"/>
            <a:ext cx="4191152" cy="1668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b="1" dirty="0">
                <a:solidFill>
                  <a:srgbClr val="044982"/>
                </a:solidFill>
                <a:latin typeface="Lucida Sans"/>
              </a:rPr>
              <a:t>Formação acadêmica e técnica: </a:t>
            </a:r>
            <a:r>
              <a:rPr lang="pt-BR" dirty="0">
                <a:solidFill>
                  <a:srgbClr val="044982"/>
                </a:solidFill>
                <a:latin typeface="Lucida Sans"/>
              </a:rPr>
              <a:t>Doutor e mestre em Ciência e Tecnologia/Química (UFABC); Licenciado em Química; Especialista em Gestão Escolar e formação técnica na área.</a:t>
            </a:r>
            <a:br>
              <a:rPr lang="pt-BR" dirty="0">
                <a:solidFill>
                  <a:srgbClr val="044982"/>
                </a:solidFill>
                <a:latin typeface="Lucida Sans"/>
              </a:rPr>
            </a:br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E52CD46-9DD7-531F-87C2-B5E0BF042440}"/>
              </a:ext>
            </a:extLst>
          </p:cNvPr>
          <p:cNvSpPr txBox="1"/>
          <p:nvPr/>
        </p:nvSpPr>
        <p:spPr>
          <a:xfrm>
            <a:off x="353918" y="4532772"/>
            <a:ext cx="4191152" cy="1667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b="1" dirty="0">
                <a:solidFill>
                  <a:srgbClr val="044982"/>
                </a:solidFill>
                <a:latin typeface="Lucida Sans"/>
              </a:rPr>
              <a:t>E-mail: </a:t>
            </a:r>
            <a:r>
              <a:rPr lang="pt-BR" b="1" dirty="0">
                <a:solidFill>
                  <a:srgbClr val="044982"/>
                </a:solidFill>
                <a:latin typeface="Lucida Sans"/>
                <a:hlinkClick r:id="rId5"/>
              </a:rPr>
              <a:t>marlon.cmaynart@sp.senac.br</a:t>
            </a:r>
            <a:endParaRPr lang="pt-BR" b="1" dirty="0">
              <a:solidFill>
                <a:srgbClr val="044982"/>
              </a:solidFill>
              <a:latin typeface="Lucida Sans"/>
            </a:endParaRPr>
          </a:p>
          <a:p>
            <a:pPr algn="just">
              <a:lnSpc>
                <a:spcPct val="150000"/>
              </a:lnSpc>
            </a:pPr>
            <a:r>
              <a:rPr lang="pt-BR" b="1" dirty="0">
                <a:solidFill>
                  <a:srgbClr val="044982"/>
                </a:solidFill>
                <a:latin typeface="Lucida Sans"/>
              </a:rPr>
              <a:t>Coordenador dos Cursos:</a:t>
            </a:r>
          </a:p>
          <a:p>
            <a:pPr marL="285750" indent="-285750" algn="just">
              <a:lnSpc>
                <a:spcPct val="150000"/>
              </a:lnSpc>
              <a:buFontTx/>
              <a:buChar char="-"/>
            </a:pPr>
            <a:r>
              <a:rPr lang="pt-BR" b="1" dirty="0">
                <a:solidFill>
                  <a:srgbClr val="044982"/>
                </a:solidFill>
                <a:latin typeface="Lucida Sans"/>
              </a:rPr>
              <a:t>Tecnologia em Banco de Dados</a:t>
            </a:r>
          </a:p>
          <a:p>
            <a:pPr marL="285750" indent="-285750" algn="just">
              <a:lnSpc>
                <a:spcPct val="150000"/>
              </a:lnSpc>
              <a:buFontTx/>
              <a:buChar char="-"/>
            </a:pPr>
            <a:r>
              <a:rPr lang="pt-BR" b="1" dirty="0">
                <a:solidFill>
                  <a:srgbClr val="044982"/>
                </a:solidFill>
                <a:latin typeface="Lucida Sans"/>
              </a:rPr>
              <a:t>Tecnologia em Gestão da Tecnologia da Informação</a:t>
            </a:r>
            <a:endParaRPr lang="pt-BR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">
          <a:extLst>
            <a:ext uri="{FF2B5EF4-FFF2-40B4-BE49-F238E27FC236}">
              <a16:creationId xmlns:a16="http://schemas.microsoft.com/office/drawing/2014/main" id="{76AB4249-DF88-C098-B3C4-E6C15C53B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4" descr="Screenshot 2025-04-01 at 08.51.42.png">
            <a:extLst>
              <a:ext uri="{FF2B5EF4-FFF2-40B4-BE49-F238E27FC236}">
                <a16:creationId xmlns:a16="http://schemas.microsoft.com/office/drawing/2014/main" id="{0D839544-D5A5-6324-60C1-7F0400D09E4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20131" y="5570742"/>
            <a:ext cx="1395498" cy="1476396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4">
            <a:extLst>
              <a:ext uri="{FF2B5EF4-FFF2-40B4-BE49-F238E27FC236}">
                <a16:creationId xmlns:a16="http://schemas.microsoft.com/office/drawing/2014/main" id="{24CB1112-6AAB-76A5-8E74-F82969A339C0}"/>
              </a:ext>
            </a:extLst>
          </p:cNvPr>
          <p:cNvSpPr/>
          <p:nvPr/>
        </p:nvSpPr>
        <p:spPr>
          <a:xfrm>
            <a:off x="1" y="209966"/>
            <a:ext cx="12476510" cy="510361"/>
          </a:xfrm>
          <a:prstGeom prst="rect">
            <a:avLst/>
          </a:prstGeom>
          <a:solidFill>
            <a:srgbClr val="1B4582"/>
          </a:solidFill>
          <a:ln w="25400" cap="flat" cmpd="sng">
            <a:solidFill>
              <a:srgbClr val="1B45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0" name="Google Shape;50;p4">
            <a:extLst>
              <a:ext uri="{FF2B5EF4-FFF2-40B4-BE49-F238E27FC236}">
                <a16:creationId xmlns:a16="http://schemas.microsoft.com/office/drawing/2014/main" id="{4C3FFCE7-D893-D629-CDFE-DCE5E0EA022B}"/>
              </a:ext>
            </a:extLst>
          </p:cNvPr>
          <p:cNvSpPr txBox="1"/>
          <p:nvPr/>
        </p:nvSpPr>
        <p:spPr>
          <a:xfrm>
            <a:off x="233511" y="161825"/>
            <a:ext cx="5151859" cy="287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pt-BR" sz="1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SENAC EAD</a:t>
            </a: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1" name="Google Shape;51;p4">
            <a:extLst>
              <a:ext uri="{FF2B5EF4-FFF2-40B4-BE49-F238E27FC236}">
                <a16:creationId xmlns:a16="http://schemas.microsoft.com/office/drawing/2014/main" id="{584072DB-5363-EC57-7378-F5FA93179DAB}"/>
              </a:ext>
            </a:extLst>
          </p:cNvPr>
          <p:cNvSpPr/>
          <p:nvPr/>
        </p:nvSpPr>
        <p:spPr>
          <a:xfrm>
            <a:off x="-1" y="475158"/>
            <a:ext cx="12476511" cy="45719"/>
          </a:xfrm>
          <a:prstGeom prst="rect">
            <a:avLst/>
          </a:prstGeom>
          <a:solidFill>
            <a:srgbClr val="E0923C"/>
          </a:solid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8" name="Imagem 7" descr="Texto&#10;&#10;O conteúdo gerado por IA pode estar incorreto.">
            <a:extLst>
              <a:ext uri="{FF2B5EF4-FFF2-40B4-BE49-F238E27FC236}">
                <a16:creationId xmlns:a16="http://schemas.microsoft.com/office/drawing/2014/main" id="{9E9E4F14-357B-75D0-3E91-A2DD9533C6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511" y="1182041"/>
            <a:ext cx="5623852" cy="3965756"/>
          </a:xfrm>
          <a:prstGeom prst="rect">
            <a:avLst/>
          </a:prstGeom>
        </p:spPr>
      </p:pic>
      <p:pic>
        <p:nvPicPr>
          <p:cNvPr id="10" name="Imagem 9" descr="Texto&#10;&#10;O conteúdo gerado por IA pode estar incorreto.">
            <a:extLst>
              <a:ext uri="{FF2B5EF4-FFF2-40B4-BE49-F238E27FC236}">
                <a16:creationId xmlns:a16="http://schemas.microsoft.com/office/drawing/2014/main" id="{8F387E4E-1D89-2400-4885-F652A207F7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7660" y="1182041"/>
            <a:ext cx="5745430" cy="3926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3533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">
          <a:extLst>
            <a:ext uri="{FF2B5EF4-FFF2-40B4-BE49-F238E27FC236}">
              <a16:creationId xmlns:a16="http://schemas.microsoft.com/office/drawing/2014/main" id="{3390D552-48CB-B278-9F32-8599411DA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">
            <a:extLst>
              <a:ext uri="{FF2B5EF4-FFF2-40B4-BE49-F238E27FC236}">
                <a16:creationId xmlns:a16="http://schemas.microsoft.com/office/drawing/2014/main" id="{9E73EBA2-A483-7B51-543D-7A3C01B8E059}"/>
              </a:ext>
            </a:extLst>
          </p:cNvPr>
          <p:cNvSpPr/>
          <p:nvPr/>
        </p:nvSpPr>
        <p:spPr>
          <a:xfrm>
            <a:off x="1" y="209966"/>
            <a:ext cx="12476510" cy="510361"/>
          </a:xfrm>
          <a:prstGeom prst="rect">
            <a:avLst/>
          </a:prstGeom>
          <a:solidFill>
            <a:srgbClr val="1B4582"/>
          </a:solidFill>
          <a:ln w="25400" cap="flat" cmpd="sng">
            <a:solidFill>
              <a:srgbClr val="1B45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0" name="Google Shape;50;p4">
            <a:extLst>
              <a:ext uri="{FF2B5EF4-FFF2-40B4-BE49-F238E27FC236}">
                <a16:creationId xmlns:a16="http://schemas.microsoft.com/office/drawing/2014/main" id="{E48C14DD-C731-679A-C1B6-44EF59266C95}"/>
              </a:ext>
            </a:extLst>
          </p:cNvPr>
          <p:cNvSpPr txBox="1"/>
          <p:nvPr/>
        </p:nvSpPr>
        <p:spPr>
          <a:xfrm>
            <a:off x="233511" y="161825"/>
            <a:ext cx="5151859" cy="287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pt-BR" sz="1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SENAC EAD</a:t>
            </a: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1" name="Google Shape;51;p4">
            <a:extLst>
              <a:ext uri="{FF2B5EF4-FFF2-40B4-BE49-F238E27FC236}">
                <a16:creationId xmlns:a16="http://schemas.microsoft.com/office/drawing/2014/main" id="{2CDBC6FF-09F1-EA34-D0FB-6820258ECBD6}"/>
              </a:ext>
            </a:extLst>
          </p:cNvPr>
          <p:cNvSpPr/>
          <p:nvPr/>
        </p:nvSpPr>
        <p:spPr>
          <a:xfrm>
            <a:off x="-1" y="475158"/>
            <a:ext cx="12476511" cy="45719"/>
          </a:xfrm>
          <a:prstGeom prst="rect">
            <a:avLst/>
          </a:prstGeom>
          <a:solidFill>
            <a:srgbClr val="E0923C"/>
          </a:solid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" name="Imagem 2" descr="Interface gráfica do usuário, Texto, Aplicativo&#10;&#10;O conteúdo gerado por IA pode estar incorreto.">
            <a:extLst>
              <a:ext uri="{FF2B5EF4-FFF2-40B4-BE49-F238E27FC236}">
                <a16:creationId xmlns:a16="http://schemas.microsoft.com/office/drawing/2014/main" id="{4F587619-1838-95E7-B87C-D122B38D9C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3290219"/>
            <a:ext cx="12192000" cy="2893173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E6A774E4-1B43-C442-7ED3-FD20F6D31A0B}"/>
              </a:ext>
            </a:extLst>
          </p:cNvPr>
          <p:cNvSpPr txBox="1"/>
          <p:nvPr/>
        </p:nvSpPr>
        <p:spPr>
          <a:xfrm>
            <a:off x="4240530" y="6382842"/>
            <a:ext cx="62499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hlinkClick r:id="rId4"/>
              </a:rPr>
              <a:t>https://www.uclmal.com/multicop-summit</a:t>
            </a:r>
            <a:endParaRPr lang="pt-BR" dirty="0"/>
          </a:p>
          <a:p>
            <a:endParaRPr lang="pt-BR" dirty="0"/>
          </a:p>
        </p:txBody>
      </p:sp>
      <p:pic>
        <p:nvPicPr>
          <p:cNvPr id="7" name="Imagem 6" descr="Interface gráfica do usuário, Texto, Aplicativo, Email&#10;&#10;O conteúdo gerado por IA pode estar incorreto.">
            <a:extLst>
              <a:ext uri="{FF2B5EF4-FFF2-40B4-BE49-F238E27FC236}">
                <a16:creationId xmlns:a16="http://schemas.microsoft.com/office/drawing/2014/main" id="{C04260D6-A75E-2A1D-3A2C-5FD96BECC9A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4911" t="53934" r="15548"/>
          <a:stretch>
            <a:fillRect/>
          </a:stretch>
        </p:blipFill>
        <p:spPr>
          <a:xfrm>
            <a:off x="7635240" y="1093077"/>
            <a:ext cx="3721608" cy="1624941"/>
          </a:xfrm>
          <a:prstGeom prst="rect">
            <a:avLst/>
          </a:prstGeom>
        </p:spPr>
      </p:pic>
      <p:pic>
        <p:nvPicPr>
          <p:cNvPr id="9" name="Imagem 8" descr="Interface gráfica do usuário, Texto, Aplicativo, Email&#10;&#10;O conteúdo gerado por IA pode estar incorreto.">
            <a:extLst>
              <a:ext uri="{FF2B5EF4-FFF2-40B4-BE49-F238E27FC236}">
                <a16:creationId xmlns:a16="http://schemas.microsoft.com/office/drawing/2014/main" id="{8B2D593F-870B-3A29-DFE9-0074ABFA0CF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861" r="4043" b="53934"/>
          <a:stretch>
            <a:fillRect/>
          </a:stretch>
        </p:blipFill>
        <p:spPr>
          <a:xfrm>
            <a:off x="84582" y="1140126"/>
            <a:ext cx="4928616" cy="1624941"/>
          </a:xfrm>
          <a:prstGeom prst="rect">
            <a:avLst/>
          </a:prstGeom>
        </p:spPr>
      </p:pic>
      <p:pic>
        <p:nvPicPr>
          <p:cNvPr id="48" name="Google Shape;48;p4" descr="Screenshot 2025-04-01 at 08.51.42.png">
            <a:extLst>
              <a:ext uri="{FF2B5EF4-FFF2-40B4-BE49-F238E27FC236}">
                <a16:creationId xmlns:a16="http://schemas.microsoft.com/office/drawing/2014/main" id="{65B5567B-CE6E-732E-E246-D5CD9AD26397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572659" y="5168056"/>
            <a:ext cx="1395498" cy="14763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46227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">
          <a:extLst>
            <a:ext uri="{FF2B5EF4-FFF2-40B4-BE49-F238E27FC236}">
              <a16:creationId xmlns:a16="http://schemas.microsoft.com/office/drawing/2014/main" id="{6AECFF2A-5E2E-4C66-2ECF-B8C3BE8E0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">
            <a:extLst>
              <a:ext uri="{FF2B5EF4-FFF2-40B4-BE49-F238E27FC236}">
                <a16:creationId xmlns:a16="http://schemas.microsoft.com/office/drawing/2014/main" id="{F6790CF4-A445-B752-CD3D-CB7C6E61CEBF}"/>
              </a:ext>
            </a:extLst>
          </p:cNvPr>
          <p:cNvSpPr/>
          <p:nvPr/>
        </p:nvSpPr>
        <p:spPr>
          <a:xfrm>
            <a:off x="1" y="209966"/>
            <a:ext cx="12476510" cy="510361"/>
          </a:xfrm>
          <a:prstGeom prst="rect">
            <a:avLst/>
          </a:prstGeom>
          <a:solidFill>
            <a:srgbClr val="1B4582"/>
          </a:solidFill>
          <a:ln w="25400" cap="flat" cmpd="sng">
            <a:solidFill>
              <a:srgbClr val="1B45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0" name="Google Shape;50;p4">
            <a:extLst>
              <a:ext uri="{FF2B5EF4-FFF2-40B4-BE49-F238E27FC236}">
                <a16:creationId xmlns:a16="http://schemas.microsoft.com/office/drawing/2014/main" id="{97CD8396-1316-7FC8-166F-5F657E46A55C}"/>
              </a:ext>
            </a:extLst>
          </p:cNvPr>
          <p:cNvSpPr txBox="1"/>
          <p:nvPr/>
        </p:nvSpPr>
        <p:spPr>
          <a:xfrm>
            <a:off x="233511" y="161825"/>
            <a:ext cx="5151859" cy="287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pt-BR" sz="1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SENAC EAD</a:t>
            </a: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1" name="Google Shape;51;p4">
            <a:extLst>
              <a:ext uri="{FF2B5EF4-FFF2-40B4-BE49-F238E27FC236}">
                <a16:creationId xmlns:a16="http://schemas.microsoft.com/office/drawing/2014/main" id="{1896F791-A85C-FFB7-B8B6-950A16877FDE}"/>
              </a:ext>
            </a:extLst>
          </p:cNvPr>
          <p:cNvSpPr/>
          <p:nvPr/>
        </p:nvSpPr>
        <p:spPr>
          <a:xfrm>
            <a:off x="-1" y="475158"/>
            <a:ext cx="12476511" cy="45719"/>
          </a:xfrm>
          <a:prstGeom prst="rect">
            <a:avLst/>
          </a:prstGeom>
          <a:solidFill>
            <a:srgbClr val="E0923C"/>
          </a:solid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48" name="Google Shape;48;p4" descr="Screenshot 2025-04-01 at 08.51.42.png">
            <a:extLst>
              <a:ext uri="{FF2B5EF4-FFF2-40B4-BE49-F238E27FC236}">
                <a16:creationId xmlns:a16="http://schemas.microsoft.com/office/drawing/2014/main" id="{812FF1AA-ECA2-19BD-D7B4-F8DD5C0129F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72659" y="5168056"/>
            <a:ext cx="1395498" cy="1476396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Imagem 3" descr="Tela de computador com imagem de homem&#10;&#10;O conteúdo gerado por IA pode estar incorreto.">
            <a:extLst>
              <a:ext uri="{FF2B5EF4-FFF2-40B4-BE49-F238E27FC236}">
                <a16:creationId xmlns:a16="http://schemas.microsoft.com/office/drawing/2014/main" id="{233D967C-61A2-C714-6776-27C86B9C363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070" t="2334" r="1586" b="11724"/>
          <a:stretch>
            <a:fillRect/>
          </a:stretch>
        </p:blipFill>
        <p:spPr>
          <a:xfrm>
            <a:off x="2103120" y="2287186"/>
            <a:ext cx="7434072" cy="4059936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CE7A635B-96B1-2F7D-946F-62F930FCD51F}"/>
              </a:ext>
            </a:extLst>
          </p:cNvPr>
          <p:cNvSpPr txBox="1"/>
          <p:nvPr/>
        </p:nvSpPr>
        <p:spPr>
          <a:xfrm>
            <a:off x="3996882" y="6546572"/>
            <a:ext cx="408051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hlinkClick r:id="rId5"/>
              </a:rPr>
              <a:t>https://www.youtube.com/watch?v=Ezj_dOStZI8</a:t>
            </a:r>
            <a:endParaRPr lang="pt-BR" dirty="0"/>
          </a:p>
          <a:p>
            <a:endParaRPr lang="pt-BR" dirty="0"/>
          </a:p>
        </p:txBody>
      </p:sp>
      <p:pic>
        <p:nvPicPr>
          <p:cNvPr id="11" name="Imagem 10" descr="Interface gráfica do usuário, Texto, Aplicativo, chat ou mensagem de texto&#10;&#10;O conteúdo gerado por IA pode estar incorreto.">
            <a:extLst>
              <a:ext uri="{FF2B5EF4-FFF2-40B4-BE49-F238E27FC236}">
                <a16:creationId xmlns:a16="http://schemas.microsoft.com/office/drawing/2014/main" id="{042E89BD-E86A-CE3C-1792-D55A3641FEB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71835" r="56669"/>
          <a:stretch>
            <a:fillRect/>
          </a:stretch>
        </p:blipFill>
        <p:spPr>
          <a:xfrm>
            <a:off x="8483106" y="1003920"/>
            <a:ext cx="3577830" cy="833356"/>
          </a:xfrm>
          <a:prstGeom prst="rect">
            <a:avLst/>
          </a:prstGeom>
        </p:spPr>
      </p:pic>
      <p:pic>
        <p:nvPicPr>
          <p:cNvPr id="12" name="Imagem 11" descr="Interface gráfica do usuário, Texto, Aplicativo, chat ou mensagem de texto&#10;&#10;O conteúdo gerado por IA pode estar incorreto.">
            <a:extLst>
              <a:ext uri="{FF2B5EF4-FFF2-40B4-BE49-F238E27FC236}">
                <a16:creationId xmlns:a16="http://schemas.microsoft.com/office/drawing/2014/main" id="{0ED3A9C3-3974-8E2F-3106-142D6524B4E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4813" r="10359" b="57618"/>
          <a:stretch>
            <a:fillRect/>
          </a:stretch>
        </p:blipFill>
        <p:spPr>
          <a:xfrm>
            <a:off x="0" y="807748"/>
            <a:ext cx="7004304" cy="1254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7204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9"/>
          <p:cNvSpPr/>
          <p:nvPr/>
        </p:nvSpPr>
        <p:spPr>
          <a:xfrm>
            <a:off x="-76201" y="-165101"/>
            <a:ext cx="12476510" cy="7186164"/>
          </a:xfrm>
          <a:prstGeom prst="rect">
            <a:avLst/>
          </a:prstGeom>
          <a:solidFill>
            <a:srgbClr val="F5F5F5"/>
          </a:solidFill>
          <a:ln w="25400" cap="flat" cmpd="sng">
            <a:solidFill>
              <a:srgbClr val="F5F5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72" name="Google Shape;72;p19" descr="Screenshot 2025-04-01 at 08.51.4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20131" y="5570742"/>
            <a:ext cx="1395498" cy="14763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9"/>
          <p:cNvSpPr/>
          <p:nvPr/>
        </p:nvSpPr>
        <p:spPr>
          <a:xfrm>
            <a:off x="-889000" y="-38100"/>
            <a:ext cx="13708021" cy="510361"/>
          </a:xfrm>
          <a:prstGeom prst="rect">
            <a:avLst/>
          </a:prstGeom>
          <a:solidFill>
            <a:srgbClr val="1B4582"/>
          </a:solidFill>
          <a:ln w="25400" cap="flat" cmpd="sng">
            <a:solidFill>
              <a:srgbClr val="1B45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4" name="Google Shape;74;p19"/>
          <p:cNvSpPr txBox="1"/>
          <p:nvPr/>
        </p:nvSpPr>
        <p:spPr>
          <a:xfrm>
            <a:off x="344319" y="124250"/>
            <a:ext cx="5151859" cy="287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pt-BR" sz="1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SENAC EAD</a:t>
            </a: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5" name="Google Shape;75;p19"/>
          <p:cNvSpPr/>
          <p:nvPr/>
        </p:nvSpPr>
        <p:spPr>
          <a:xfrm>
            <a:off x="-482600" y="475158"/>
            <a:ext cx="13590475" cy="70370"/>
          </a:xfrm>
          <a:prstGeom prst="rect">
            <a:avLst/>
          </a:prstGeom>
          <a:solidFill>
            <a:srgbClr val="E0923C"/>
          </a:solid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6" name="Google Shape;76;p19"/>
          <p:cNvSpPr txBox="1"/>
          <p:nvPr/>
        </p:nvSpPr>
        <p:spPr>
          <a:xfrm>
            <a:off x="1" y="1274421"/>
            <a:ext cx="12192000" cy="5039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4982"/>
              </a:buClr>
              <a:buSzPts val="2400"/>
              <a:buFont typeface="Lucida Sans"/>
              <a:buNone/>
            </a:pPr>
            <a:r>
              <a:rPr lang="pt-BR" sz="2400" b="1" i="0" u="none" strike="noStrike" cap="none">
                <a:solidFill>
                  <a:srgbClr val="044982"/>
                </a:solidFill>
                <a:latin typeface="Lucida Sans"/>
                <a:ea typeface="Lucida Sans"/>
                <a:cs typeface="Lucida Sans"/>
                <a:sym typeface="Lucida Sans"/>
              </a:rPr>
              <a:t>ROTEIRO DO PROJETO INTEGRADOR</a:t>
            </a: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44982"/>
              </a:buClr>
              <a:buSzPts val="1800"/>
              <a:buFont typeface="Lucida Sans"/>
              <a:buNone/>
            </a:pPr>
            <a:br>
              <a:rPr lang="pt-BR" sz="1800" b="0" i="0" u="none" strike="noStrike" cap="none">
                <a:solidFill>
                  <a:srgbClr val="044982"/>
                </a:solidFill>
                <a:latin typeface="Lucida Sans"/>
                <a:ea typeface="Lucida Sans"/>
                <a:cs typeface="Lucida Sans"/>
                <a:sym typeface="Lucida Sans"/>
              </a:rPr>
            </a:br>
            <a:r>
              <a:rPr lang="pt-BR" sz="1500" b="0" i="0" u="none" strike="noStrike" cap="none">
                <a:solidFill>
                  <a:srgbClr val="366092"/>
                </a:solidFill>
                <a:latin typeface="Lucida Sans"/>
                <a:ea typeface="Lucida Sans"/>
                <a:cs typeface="Lucida Sans"/>
                <a:sym typeface="Lucida Sans"/>
              </a:rPr>
              <a:t>1ª entrega</a:t>
            </a:r>
            <a:endParaRPr sz="1400" b="0" i="0" u="none" strike="noStrike" cap="none">
              <a:solidFill>
                <a:srgbClr val="36609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" marR="0" lvl="0" indent="-9144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D7D7D"/>
              </a:buClr>
              <a:buSzPts val="1500"/>
              <a:buFont typeface="Lucida Sans"/>
              <a:buNone/>
            </a:pPr>
            <a:r>
              <a:rPr lang="pt-BR" sz="1500" b="0" i="0" u="none" strike="noStrike" cap="none">
                <a:solidFill>
                  <a:srgbClr val="366092"/>
                </a:solidFill>
                <a:latin typeface="Lucida Sans"/>
                <a:ea typeface="Lucida Sans"/>
                <a:cs typeface="Lucida Sans"/>
                <a:sym typeface="Lucida Sans"/>
              </a:rPr>
              <a:t>Definição de Tema</a:t>
            </a:r>
            <a:endParaRPr sz="1400" b="0" i="0" u="none" strike="noStrike" cap="none">
              <a:solidFill>
                <a:srgbClr val="36609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" marR="0" lvl="0" indent="-9144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D7D7D"/>
              </a:buClr>
              <a:buSzPts val="1500"/>
              <a:buFont typeface="Lucida Sans"/>
              <a:buNone/>
            </a:pPr>
            <a:r>
              <a:rPr lang="pt-BR" sz="1500" b="0" i="0" u="none" strike="noStrike" cap="none">
                <a:solidFill>
                  <a:srgbClr val="366092"/>
                </a:solidFill>
                <a:latin typeface="Lucida Sans"/>
                <a:ea typeface="Lucida Sans"/>
                <a:cs typeface="Lucida Sans"/>
                <a:sym typeface="Lucida Sans"/>
              </a:rPr>
              <a:t>Proposta de Valor</a:t>
            </a:r>
            <a:endParaRPr sz="1400" b="0" i="0" u="none" strike="noStrike" cap="none">
              <a:solidFill>
                <a:srgbClr val="36609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" marR="0" lvl="0" indent="-9144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D7D7D"/>
              </a:buClr>
              <a:buSzPts val="1500"/>
              <a:buFont typeface="Lucida Sans"/>
              <a:buNone/>
            </a:pPr>
            <a:r>
              <a:rPr lang="pt-BR" sz="1500" b="0" i="0" u="none" strike="noStrike" cap="none">
                <a:solidFill>
                  <a:srgbClr val="366092"/>
                </a:solidFill>
                <a:latin typeface="Lucida Sans"/>
                <a:ea typeface="Lucida Sans"/>
                <a:cs typeface="Lucida Sans"/>
                <a:sym typeface="Lucida Sans"/>
              </a:rPr>
              <a:t>Análise de Viabilidade</a:t>
            </a:r>
            <a:endParaRPr sz="1400" b="0" i="0" u="none" strike="noStrike" cap="none">
              <a:solidFill>
                <a:srgbClr val="36609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44982"/>
              </a:buClr>
              <a:buSzPts val="1500"/>
              <a:buFont typeface="Lucida Sans"/>
              <a:buNone/>
            </a:pPr>
            <a:r>
              <a:rPr lang="pt-BR" sz="1500" b="0" i="0" u="none" strike="noStrike" cap="none">
                <a:solidFill>
                  <a:srgbClr val="7D7D7D"/>
                </a:solidFill>
                <a:latin typeface="Lucida Sans"/>
                <a:ea typeface="Lucida Sans"/>
                <a:cs typeface="Lucida Sans"/>
                <a:sym typeface="Lucida Sans"/>
              </a:rPr>
              <a:t>2ª entrega</a:t>
            </a:r>
            <a:endParaRPr sz="1400" b="0" i="0" u="none" strike="noStrike" cap="none">
              <a:solidFill>
                <a:srgbClr val="7D7D7D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" marR="0" lvl="0" indent="-9144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44982"/>
              </a:buClr>
              <a:buSzPts val="1500"/>
              <a:buFont typeface="Lucida Sans"/>
              <a:buNone/>
            </a:pPr>
            <a:r>
              <a:rPr lang="pt-BR" sz="1500" b="0" i="0" u="none" strike="noStrike" cap="none">
                <a:solidFill>
                  <a:srgbClr val="7D7D7D"/>
                </a:solidFill>
                <a:latin typeface="Lucida Sans"/>
                <a:ea typeface="Lucida Sans"/>
                <a:cs typeface="Lucida Sans"/>
                <a:sym typeface="Lucida Sans"/>
              </a:rPr>
              <a:t>Definição da Identidade Empresarial</a:t>
            </a:r>
            <a:endParaRPr sz="1400" b="0" i="0" u="none" strike="noStrike" cap="none">
              <a:solidFill>
                <a:srgbClr val="7D7D7D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" marR="0" lvl="0" indent="-9144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44982"/>
              </a:buClr>
              <a:buSzPts val="1500"/>
              <a:buFont typeface="Lucida Sans"/>
              <a:buNone/>
            </a:pPr>
            <a:r>
              <a:rPr lang="pt-BR" sz="1500" b="0" i="0" u="none" strike="noStrike" cap="none">
                <a:solidFill>
                  <a:srgbClr val="7D7D7D"/>
                </a:solidFill>
                <a:latin typeface="Lucida Sans"/>
                <a:ea typeface="Lucida Sans"/>
                <a:cs typeface="Lucida Sans"/>
                <a:sym typeface="Lucida Sans"/>
              </a:rPr>
              <a:t>Macro plano do projeto</a:t>
            </a:r>
            <a:endParaRPr sz="1400" b="0" i="0" u="none" strike="noStrike" cap="none">
              <a:solidFill>
                <a:srgbClr val="7D7D7D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" marR="0" lvl="0" indent="-9144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44982"/>
              </a:buClr>
              <a:buSzPts val="1500"/>
              <a:buFont typeface="Lucida Sans"/>
              <a:buNone/>
            </a:pPr>
            <a:r>
              <a:rPr lang="pt-BR" sz="1500" b="0" i="0" u="none" strike="noStrike" cap="none">
                <a:solidFill>
                  <a:srgbClr val="7D7D7D"/>
                </a:solidFill>
                <a:latin typeface="Lucida Sans"/>
                <a:ea typeface="Lucida Sans"/>
                <a:cs typeface="Lucida Sans"/>
                <a:sym typeface="Lucida Sans"/>
              </a:rPr>
              <a:t>Prática da seleção de tecnologias</a:t>
            </a:r>
            <a:endParaRPr sz="1400" b="0" i="0" u="none" strike="noStrike" cap="none">
              <a:solidFill>
                <a:srgbClr val="7D7D7D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979797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44982"/>
              </a:buClr>
              <a:buSzPts val="1800"/>
              <a:buFont typeface="Lucida Sans"/>
              <a:buNone/>
            </a:pPr>
            <a:r>
              <a:rPr lang="pt-BR" sz="1800" b="0" i="0" u="none" strike="noStrike" cap="none">
                <a:solidFill>
                  <a:srgbClr val="044982"/>
                </a:solidFill>
                <a:latin typeface="Lucida Sans"/>
                <a:ea typeface="Lucida Sans"/>
                <a:cs typeface="Lucida Sans"/>
                <a:sym typeface="Lucida Sans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</a:pPr>
            <a:endParaRPr sz="16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7" name="Google Shape;77;p19"/>
          <p:cNvSpPr txBox="1"/>
          <p:nvPr/>
        </p:nvSpPr>
        <p:spPr>
          <a:xfrm>
            <a:off x="3026872" y="46479"/>
            <a:ext cx="9288757" cy="276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r>
              <a:rPr lang="pt-BR" sz="12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PROJETO INTEGRADOR – DIAGNÓSTICO DE SOLUÇÕES DE TECNOLOGIA DA INFORMAÇÃO - </a:t>
            </a:r>
            <a:r>
              <a:rPr lang="pt-BR" sz="12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AÇÕES</a:t>
            </a:r>
            <a:r>
              <a:rPr lang="pt-BR" sz="12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EXTENSIONISTAS</a:t>
            </a:r>
            <a:endParaRPr sz="1800" b="1" i="0" u="none" strike="noStrike" cap="non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6"/>
          <p:cNvSpPr/>
          <p:nvPr/>
        </p:nvSpPr>
        <p:spPr>
          <a:xfrm>
            <a:off x="-57166" y="-38100"/>
            <a:ext cx="12476510" cy="7186164"/>
          </a:xfrm>
          <a:prstGeom prst="rect">
            <a:avLst/>
          </a:prstGeom>
          <a:solidFill>
            <a:srgbClr val="F5F5F5"/>
          </a:solidFill>
          <a:ln w="25400" cap="flat" cmpd="sng">
            <a:solidFill>
              <a:srgbClr val="F5F5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83" name="Google Shape;83;p6" descr="Screenshot 2025-04-01 at 08.51.4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20131" y="5570742"/>
            <a:ext cx="1395498" cy="1476396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6"/>
          <p:cNvSpPr/>
          <p:nvPr/>
        </p:nvSpPr>
        <p:spPr>
          <a:xfrm>
            <a:off x="-889000" y="-38100"/>
            <a:ext cx="13708021" cy="510361"/>
          </a:xfrm>
          <a:prstGeom prst="rect">
            <a:avLst/>
          </a:prstGeom>
          <a:solidFill>
            <a:srgbClr val="1B4582"/>
          </a:solidFill>
          <a:ln w="25400" cap="flat" cmpd="sng">
            <a:solidFill>
              <a:srgbClr val="1B45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5" name="Google Shape;85;p6"/>
          <p:cNvSpPr txBox="1"/>
          <p:nvPr/>
        </p:nvSpPr>
        <p:spPr>
          <a:xfrm>
            <a:off x="344319" y="124250"/>
            <a:ext cx="5151859" cy="287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pt-BR" sz="1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SENAC EAD</a:t>
            </a: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-482600" y="475158"/>
            <a:ext cx="13590475" cy="70370"/>
          </a:xfrm>
          <a:prstGeom prst="rect">
            <a:avLst/>
          </a:prstGeom>
          <a:solidFill>
            <a:srgbClr val="E0923C"/>
          </a:solid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7" name="Google Shape;87;p6"/>
          <p:cNvSpPr txBox="1"/>
          <p:nvPr/>
        </p:nvSpPr>
        <p:spPr>
          <a:xfrm>
            <a:off x="3026872" y="46479"/>
            <a:ext cx="9288757" cy="276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r>
              <a:rPr lang="pt-BR" sz="12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PROJETO INTEGRADOR – DIAGNÓSTICO DE SOLUÇÕES DE TECNOLOGIA DA INFORMAÇÃO - </a:t>
            </a:r>
            <a:r>
              <a:rPr lang="pt-BR" sz="12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AÇÕES</a:t>
            </a:r>
            <a:r>
              <a:rPr lang="pt-BR" sz="12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EXTENSIONISTAS</a:t>
            </a:r>
            <a:endParaRPr sz="1800" b="1" i="0" u="none" strike="noStrike" cap="non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8" name="Google Shape;88;p6"/>
          <p:cNvSpPr txBox="1"/>
          <p:nvPr/>
        </p:nvSpPr>
        <p:spPr>
          <a:xfrm>
            <a:off x="1716593" y="1269195"/>
            <a:ext cx="8928992" cy="4571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200"/>
              <a:buFont typeface="Noto Sans Symbols"/>
              <a:buChar char="▪"/>
            </a:pPr>
            <a:r>
              <a:rPr lang="pt-BR" sz="1400" b="1" i="0" u="none" strike="noStrike" cap="none">
                <a:solidFill>
                  <a:srgbClr val="262626"/>
                </a:solidFill>
                <a:highlight>
                  <a:srgbClr val="FFCC99"/>
                </a:highlight>
                <a:latin typeface="Arial"/>
                <a:ea typeface="Arial"/>
                <a:cs typeface="Arial"/>
                <a:sym typeface="Arial"/>
              </a:rPr>
              <a:t>Definição de Tema</a:t>
            </a:r>
            <a:r>
              <a:rPr lang="pt-BR" sz="1400" b="0" i="0" u="none" strike="noStrike" cap="none">
                <a:solidFill>
                  <a:srgbClr val="262626"/>
                </a:solidFill>
                <a:highlight>
                  <a:srgbClr val="FFCC99"/>
                </a:highlight>
                <a:latin typeface="Arial"/>
                <a:ea typeface="Arial"/>
                <a:cs typeface="Arial"/>
                <a:sym typeface="Arial"/>
              </a:rPr>
              <a:t>: contexto no qual a solução pretende ser desenvolvida, qual o problema que pretende ser resolvido e qual seria a motivação para a resolução.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1200"/>
              <a:buFont typeface="Noto Sans Symbols"/>
              <a:buChar char="▪"/>
            </a:pPr>
            <a:r>
              <a:rPr lang="pt-BR" sz="1400" b="1" i="0" u="none" strike="noStrike" cap="none">
                <a:solidFill>
                  <a:srgbClr val="262626"/>
                </a:solidFill>
                <a:highlight>
                  <a:srgbClr val="FFCC99"/>
                </a:highlight>
                <a:latin typeface="Arial"/>
                <a:ea typeface="Arial"/>
                <a:cs typeface="Arial"/>
                <a:sym typeface="Arial"/>
              </a:rPr>
              <a:t>Proposta de Valor</a:t>
            </a:r>
            <a:r>
              <a:rPr lang="pt-BR" sz="1400" b="0" i="0" u="none" strike="noStrike" cap="none">
                <a:solidFill>
                  <a:srgbClr val="262626"/>
                </a:solidFill>
                <a:highlight>
                  <a:srgbClr val="FFCC99"/>
                </a:highlight>
                <a:latin typeface="Arial"/>
                <a:ea typeface="Arial"/>
                <a:cs typeface="Arial"/>
                <a:sym typeface="Arial"/>
              </a:rPr>
              <a:t>: benefícios que podem ser gerados com a solução idealizada e entender quais seriam as partes interessadas na solução (stakeholders).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1200"/>
              <a:buFont typeface="Noto Sans Symbols"/>
              <a:buChar char="▪"/>
            </a:pPr>
            <a:r>
              <a:rPr lang="pt-BR" sz="1400" b="1" i="0" u="none" strike="noStrike" cap="none">
                <a:solidFill>
                  <a:srgbClr val="262626"/>
                </a:solidFill>
                <a:highlight>
                  <a:srgbClr val="FFCC99"/>
                </a:highlight>
                <a:latin typeface="Arial"/>
                <a:ea typeface="Arial"/>
                <a:cs typeface="Arial"/>
                <a:sym typeface="Arial"/>
              </a:rPr>
              <a:t>Análise de Viabilidade:</a:t>
            </a:r>
            <a:r>
              <a:rPr lang="pt-BR" sz="1400" b="0" i="0" u="none" strike="noStrike" cap="none">
                <a:solidFill>
                  <a:srgbClr val="262626"/>
                </a:solidFill>
                <a:highlight>
                  <a:srgbClr val="FFCC99"/>
                </a:highlight>
                <a:latin typeface="Arial"/>
                <a:ea typeface="Arial"/>
                <a:cs typeface="Arial"/>
                <a:sym typeface="Arial"/>
              </a:rPr>
              <a:t> visão crítica quanto a viabilidade técnica e econômica da solução proposta, estimulando a equipe a exercitar a correção entre custo e esforço.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1200"/>
              <a:buFont typeface="Noto Sans Symbols"/>
              <a:buChar char="▪"/>
            </a:pPr>
            <a:r>
              <a:rPr lang="pt-BR" sz="1400" b="1" i="0" u="none" strike="noStrike" cap="none">
                <a:solidFill>
                  <a:srgbClr val="262626"/>
                </a:solidFill>
                <a:highlight>
                  <a:srgbClr val="00FFFF"/>
                </a:highlight>
                <a:latin typeface="Arial"/>
                <a:ea typeface="Arial"/>
                <a:cs typeface="Arial"/>
                <a:sym typeface="Arial"/>
              </a:rPr>
              <a:t>Definição da Identidade Empresarial:</a:t>
            </a:r>
            <a:r>
              <a:rPr lang="pt-BR" sz="1400" b="0" i="0" u="none" strike="noStrike" cap="none">
                <a:solidFill>
                  <a:srgbClr val="262626"/>
                </a:solidFill>
                <a:highlight>
                  <a:srgbClr val="00FFFF"/>
                </a:highlight>
                <a:latin typeface="Arial"/>
                <a:ea typeface="Arial"/>
                <a:cs typeface="Arial"/>
                <a:sym typeface="Arial"/>
              </a:rPr>
              <a:t> elaboração da missão, visão e valores de uma empresa fictícia com foco na solução proposta anteriormente.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1200"/>
              <a:buFont typeface="Noto Sans Symbols"/>
              <a:buChar char="▪"/>
            </a:pPr>
            <a:r>
              <a:rPr lang="pt-BR" sz="1400" b="1" i="0" u="none" strike="noStrike" cap="none">
                <a:solidFill>
                  <a:srgbClr val="262626"/>
                </a:solidFill>
                <a:highlight>
                  <a:srgbClr val="00FFFF"/>
                </a:highlight>
                <a:latin typeface="Arial"/>
                <a:ea typeface="Arial"/>
                <a:cs typeface="Arial"/>
                <a:sym typeface="Arial"/>
              </a:rPr>
              <a:t>Macro plano do projeto:</a:t>
            </a:r>
            <a:r>
              <a:rPr lang="pt-BR" sz="1400" b="0" i="0" u="none" strike="noStrike" cap="none">
                <a:solidFill>
                  <a:srgbClr val="262626"/>
                </a:solidFill>
                <a:highlight>
                  <a:srgbClr val="00FFFF"/>
                </a:highlight>
                <a:latin typeface="Arial"/>
                <a:ea typeface="Arial"/>
                <a:cs typeface="Arial"/>
                <a:sym typeface="Arial"/>
              </a:rPr>
              <a:t> reconhecer como projetos são planejados, as diferentes técnicas existentes e exercitar o desenvolvimento de atividades e entregáveis da solução proposta.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1200"/>
              <a:buFont typeface="Noto Sans Symbols"/>
              <a:buChar char="▪"/>
            </a:pPr>
            <a:r>
              <a:rPr lang="pt-BR" sz="1400" b="1" i="0" u="none" strike="noStrike" cap="none">
                <a:solidFill>
                  <a:srgbClr val="262626"/>
                </a:solidFill>
                <a:highlight>
                  <a:srgbClr val="00FFFF"/>
                </a:highlight>
                <a:latin typeface="Arial"/>
                <a:ea typeface="Arial"/>
                <a:cs typeface="Arial"/>
                <a:sym typeface="Arial"/>
              </a:rPr>
              <a:t>Prática da seleção de tecnologias</a:t>
            </a:r>
            <a:r>
              <a:rPr lang="pt-BR" sz="1400" b="0" i="0" u="none" strike="noStrike" cap="none">
                <a:solidFill>
                  <a:srgbClr val="262626"/>
                </a:solidFill>
                <a:highlight>
                  <a:srgbClr val="00FFFF"/>
                </a:highlight>
                <a:latin typeface="Arial"/>
                <a:ea typeface="Arial"/>
                <a:cs typeface="Arial"/>
                <a:sym typeface="Arial"/>
              </a:rPr>
              <a:t>: exercitar a prática da seleção de tecnologias para o desenvolvimento da solução e as devidas justificativas.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7"/>
          <p:cNvSpPr/>
          <p:nvPr/>
        </p:nvSpPr>
        <p:spPr>
          <a:xfrm>
            <a:off x="-57166" y="-38100"/>
            <a:ext cx="12476510" cy="7186164"/>
          </a:xfrm>
          <a:prstGeom prst="rect">
            <a:avLst/>
          </a:prstGeom>
          <a:solidFill>
            <a:srgbClr val="F5F5F5"/>
          </a:solidFill>
          <a:ln w="25400" cap="flat" cmpd="sng">
            <a:solidFill>
              <a:srgbClr val="F5F5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94" name="Google Shape;94;p7" descr="Screenshot 2025-04-01 at 08.51.4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20131" y="5570742"/>
            <a:ext cx="1395498" cy="1476396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7"/>
          <p:cNvSpPr/>
          <p:nvPr/>
        </p:nvSpPr>
        <p:spPr>
          <a:xfrm>
            <a:off x="-889000" y="-38100"/>
            <a:ext cx="13708021" cy="510361"/>
          </a:xfrm>
          <a:prstGeom prst="rect">
            <a:avLst/>
          </a:prstGeom>
          <a:solidFill>
            <a:srgbClr val="1B4582"/>
          </a:solidFill>
          <a:ln w="25400" cap="flat" cmpd="sng">
            <a:solidFill>
              <a:srgbClr val="1B45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6" name="Google Shape;96;p7"/>
          <p:cNvSpPr txBox="1"/>
          <p:nvPr/>
        </p:nvSpPr>
        <p:spPr>
          <a:xfrm>
            <a:off x="344319" y="124250"/>
            <a:ext cx="5151859" cy="287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pt-BR" sz="1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SENAC EAD</a:t>
            </a: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7" name="Google Shape;97;p7"/>
          <p:cNvSpPr/>
          <p:nvPr/>
        </p:nvSpPr>
        <p:spPr>
          <a:xfrm>
            <a:off x="-482600" y="475158"/>
            <a:ext cx="13590475" cy="70370"/>
          </a:xfrm>
          <a:prstGeom prst="rect">
            <a:avLst/>
          </a:prstGeom>
          <a:solidFill>
            <a:srgbClr val="E0923C"/>
          </a:solid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8" name="Google Shape;98;p7"/>
          <p:cNvSpPr txBox="1"/>
          <p:nvPr/>
        </p:nvSpPr>
        <p:spPr>
          <a:xfrm>
            <a:off x="3026872" y="46479"/>
            <a:ext cx="9288757" cy="276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r>
              <a:rPr lang="pt-BR" sz="12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PROJETO INTEGRADOR – DIAGNÓSTICO DE SOLUÇÕES DE TECNOLOGIA DA INFORMAÇÃO - </a:t>
            </a:r>
            <a:r>
              <a:rPr lang="pt-BR" sz="12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AÇÕES</a:t>
            </a:r>
            <a:r>
              <a:rPr lang="pt-BR" sz="12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EXTENSIONISTAS</a:t>
            </a:r>
            <a:endParaRPr sz="1800" b="1" i="0" u="none" strike="noStrike" cap="non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9" name="Google Shape;99;p7"/>
          <p:cNvSpPr txBox="1"/>
          <p:nvPr/>
        </p:nvSpPr>
        <p:spPr>
          <a:xfrm>
            <a:off x="1994446" y="1717060"/>
            <a:ext cx="8712900" cy="28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1" i="0" u="none" strike="noStrike" cap="non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A primeira entrega é composta por: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AutoNum type="arabicParenR"/>
            </a:pPr>
            <a:r>
              <a:rPr lang="pt-BR" sz="1600" b="1" i="0" u="none" strike="noStrike" cap="non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Entregável (template) – em grupo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Noto Sans Symbols"/>
              <a:buChar char="▪"/>
            </a:pPr>
            <a:r>
              <a:rPr lang="pt-BR" sz="1600" b="1" i="0" u="none" strike="noStrike" cap="non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Processo de ideação da solução: </a:t>
            </a:r>
            <a:r>
              <a:rPr lang="pt-BR" sz="1600" b="0" i="0" u="none" strike="noStrike" cap="non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Definição do Tema, Proposta de Valor, Análise de Viabilidade.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1" i="0" u="none" strike="noStrike" cap="non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2) Questionário avaliativo (individual)</a:t>
            </a:r>
            <a:endParaRPr sz="1600" b="1" i="0" u="none" strike="noStrike" cap="none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8"/>
          <p:cNvSpPr/>
          <p:nvPr/>
        </p:nvSpPr>
        <p:spPr>
          <a:xfrm>
            <a:off x="-57166" y="-38100"/>
            <a:ext cx="12476510" cy="7186164"/>
          </a:xfrm>
          <a:prstGeom prst="rect">
            <a:avLst/>
          </a:prstGeom>
          <a:solidFill>
            <a:srgbClr val="F5F5F5"/>
          </a:solidFill>
          <a:ln w="25400" cap="flat" cmpd="sng">
            <a:solidFill>
              <a:srgbClr val="F5F5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05" name="Google Shape;105;p8" descr="Screenshot 2025-04-01 at 08.51.4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20131" y="5570742"/>
            <a:ext cx="1395498" cy="1476396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8"/>
          <p:cNvSpPr/>
          <p:nvPr/>
        </p:nvSpPr>
        <p:spPr>
          <a:xfrm>
            <a:off x="-889000" y="-38100"/>
            <a:ext cx="13708021" cy="510361"/>
          </a:xfrm>
          <a:prstGeom prst="rect">
            <a:avLst/>
          </a:prstGeom>
          <a:solidFill>
            <a:srgbClr val="1B4582"/>
          </a:solidFill>
          <a:ln w="25400" cap="flat" cmpd="sng">
            <a:solidFill>
              <a:srgbClr val="1B45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7" name="Google Shape;107;p8"/>
          <p:cNvSpPr txBox="1"/>
          <p:nvPr/>
        </p:nvSpPr>
        <p:spPr>
          <a:xfrm>
            <a:off x="344319" y="124250"/>
            <a:ext cx="5151859" cy="287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pt-BR" sz="1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SENAC EAD</a:t>
            </a: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8" name="Google Shape;108;p8"/>
          <p:cNvSpPr/>
          <p:nvPr/>
        </p:nvSpPr>
        <p:spPr>
          <a:xfrm>
            <a:off x="-482600" y="475158"/>
            <a:ext cx="13590475" cy="70370"/>
          </a:xfrm>
          <a:prstGeom prst="rect">
            <a:avLst/>
          </a:prstGeom>
          <a:solidFill>
            <a:srgbClr val="E0923C"/>
          </a:solid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9" name="Google Shape;109;p8"/>
          <p:cNvSpPr txBox="1"/>
          <p:nvPr/>
        </p:nvSpPr>
        <p:spPr>
          <a:xfrm>
            <a:off x="3026872" y="46479"/>
            <a:ext cx="9288757" cy="276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r>
              <a:rPr lang="pt-BR" sz="12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PROJETO INTEGRADOR – DIAGNÓSTICO DE SOLUÇÕES DE TECNOLOGIA DA INFORMAÇÃO - </a:t>
            </a:r>
            <a:r>
              <a:rPr lang="pt-BR" sz="12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AÇÕES</a:t>
            </a:r>
            <a:r>
              <a:rPr lang="pt-BR" sz="12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EXTENSIONISTAS</a:t>
            </a:r>
            <a:endParaRPr sz="1800" b="1" i="0" u="none" strike="noStrike" cap="non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0" name="Google Shape;110;p8"/>
          <p:cNvSpPr txBox="1"/>
          <p:nvPr/>
        </p:nvSpPr>
        <p:spPr>
          <a:xfrm>
            <a:off x="4188401" y="2916856"/>
            <a:ext cx="4248472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pt-BR" sz="4000" b="1" i="0" u="none" strike="noStrike" cap="none">
                <a:solidFill>
                  <a:srgbClr val="ED7D31"/>
                </a:solidFill>
                <a:latin typeface="Arial"/>
                <a:ea typeface="Arial"/>
                <a:cs typeface="Arial"/>
                <a:sym typeface="Arial"/>
              </a:rPr>
              <a:t>Processo criativo</a:t>
            </a:r>
            <a:endParaRPr sz="4000" b="1" i="0" u="none" strike="noStrike" cap="none">
              <a:solidFill>
                <a:srgbClr val="ED7D3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9"/>
          <p:cNvSpPr/>
          <p:nvPr/>
        </p:nvSpPr>
        <p:spPr>
          <a:xfrm>
            <a:off x="-57166" y="-38100"/>
            <a:ext cx="12476510" cy="7186164"/>
          </a:xfrm>
          <a:prstGeom prst="rect">
            <a:avLst/>
          </a:prstGeom>
          <a:solidFill>
            <a:srgbClr val="F5F5F5"/>
          </a:solidFill>
          <a:ln w="25400" cap="flat" cmpd="sng">
            <a:solidFill>
              <a:srgbClr val="F5F5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lvl="0">
              <a:buSzPts val="1800"/>
            </a:pPr>
            <a:r>
              <a:rPr lang="pt-BR" sz="1800">
                <a:latin typeface="Helvetica Neue"/>
                <a:ea typeface="Helvetica Neue"/>
                <a:cs typeface="Helvetica Neue"/>
                <a:sym typeface="Helvetica Neue"/>
              </a:rPr>
              <a:t>https://www.youtube.com/watch?v=0M9G70OpT6U</a:t>
            </a: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16" name="Google Shape;116;p9" descr="Screenshot 2025-04-01 at 08.51.4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20131" y="5570742"/>
            <a:ext cx="1395498" cy="1476396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9"/>
          <p:cNvSpPr/>
          <p:nvPr/>
        </p:nvSpPr>
        <p:spPr>
          <a:xfrm>
            <a:off x="-889000" y="-38100"/>
            <a:ext cx="13708021" cy="510361"/>
          </a:xfrm>
          <a:prstGeom prst="rect">
            <a:avLst/>
          </a:prstGeom>
          <a:solidFill>
            <a:srgbClr val="1B4582"/>
          </a:solidFill>
          <a:ln w="25400" cap="flat" cmpd="sng">
            <a:solidFill>
              <a:srgbClr val="1B45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8" name="Google Shape;118;p9"/>
          <p:cNvSpPr txBox="1"/>
          <p:nvPr/>
        </p:nvSpPr>
        <p:spPr>
          <a:xfrm>
            <a:off x="344319" y="124250"/>
            <a:ext cx="5151859" cy="287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pt-BR" sz="1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SENAC EAD</a:t>
            </a: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9" name="Google Shape;119;p9"/>
          <p:cNvSpPr/>
          <p:nvPr/>
        </p:nvSpPr>
        <p:spPr>
          <a:xfrm>
            <a:off x="-482600" y="475158"/>
            <a:ext cx="13590475" cy="70370"/>
          </a:xfrm>
          <a:prstGeom prst="rect">
            <a:avLst/>
          </a:prstGeom>
          <a:solidFill>
            <a:srgbClr val="E0923C"/>
          </a:solid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0" name="Google Shape;120;p9"/>
          <p:cNvSpPr txBox="1"/>
          <p:nvPr/>
        </p:nvSpPr>
        <p:spPr>
          <a:xfrm>
            <a:off x="3026872" y="46479"/>
            <a:ext cx="9288757" cy="276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r>
              <a:rPr lang="pt-BR" sz="12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PROJETO INTEGRADOR – DIAGNÓSTICO DE SOLUÇÕES DE TECNOLOGIA DA INFORMAÇÃO - </a:t>
            </a:r>
            <a:r>
              <a:rPr lang="pt-BR" sz="12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AÇÕES</a:t>
            </a:r>
            <a:r>
              <a:rPr lang="pt-BR" sz="12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EXTENSIONISTAS</a:t>
            </a:r>
            <a:endParaRPr sz="1800" b="1" i="0" u="none" strike="noStrike" cap="non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21" name="Google Shape;121;p9" descr="https://s3files.core77.com/blog/images/tim_brown-b-lr.jpg"/>
          <p:cNvPicPr preferRelativeResize="0"/>
          <p:nvPr/>
        </p:nvPicPr>
        <p:blipFill rotWithShape="1">
          <a:blip r:embed="rId4">
            <a:alphaModFix/>
          </a:blip>
          <a:srcRect r="11609"/>
          <a:stretch/>
        </p:blipFill>
        <p:spPr>
          <a:xfrm>
            <a:off x="-324883" y="1197005"/>
            <a:ext cx="3100541" cy="44639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9" descr="https://d188rgcu4zozwl.cloudfront.net/content/B07H4RNQRG/resources/754723786"/>
          <p:cNvPicPr preferRelativeResize="0"/>
          <p:nvPr/>
        </p:nvPicPr>
        <p:blipFill rotWithShape="1">
          <a:blip r:embed="rId5">
            <a:alphaModFix/>
          </a:blip>
          <a:srcRect l="1298"/>
          <a:stretch/>
        </p:blipFill>
        <p:spPr>
          <a:xfrm>
            <a:off x="3359797" y="1197006"/>
            <a:ext cx="3100540" cy="4463988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71205F67-3EFF-EC68-97A2-1AA97C841F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4826520"/>
              </p:ext>
            </p:extLst>
          </p:nvPr>
        </p:nvGraphicFramePr>
        <p:xfrm>
          <a:off x="7230872" y="1265141"/>
          <a:ext cx="4775200" cy="1354455"/>
        </p:xfrm>
        <a:graphic>
          <a:graphicData uri="http://schemas.openxmlformats.org/drawingml/2006/table">
            <a:tbl>
              <a:tblPr/>
              <a:tblGrid>
                <a:gridCol w="4775200">
                  <a:extLst>
                    <a:ext uri="{9D8B030D-6E8A-4147-A177-3AD203B41FA5}">
                      <a16:colId xmlns:a16="http://schemas.microsoft.com/office/drawing/2014/main" val="179126348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pt-BR" b="0" i="0">
                          <a:effectLst/>
                          <a:latin typeface="Segoe UI" panose="020B0502040204020203" pitchFamily="34" charset="0"/>
                        </a:rPr>
                        <a:t>Para Tim Brown, </a:t>
                      </a:r>
                      <a:r>
                        <a:rPr lang="pt-BR" b="1" i="0">
                          <a:effectLst/>
                          <a:latin typeface="Segoe UI" panose="020B0502040204020203" pitchFamily="34" charset="0"/>
                        </a:rPr>
                        <a:t>Design Thinking é uma abordagem colaborativa, centrada no ser humano, criativa e experimental, capaz de enfrentar grandes desafios sociais por meio de empatia, participação e prototipagem rápida</a:t>
                      </a:r>
                      <a:r>
                        <a:rPr lang="pt-BR" b="0" i="0">
                          <a:effectLst/>
                          <a:latin typeface="Segoe UI" panose="020B0502040204020203" pitchFamily="34" charset="0"/>
                        </a:rPr>
                        <a:t>.</a:t>
                      </a:r>
                    </a:p>
                  </a:txBody>
                  <a:tcPr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2129438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364520169"/>
                  </a:ext>
                </a:extLst>
              </a:tr>
            </a:tbl>
          </a:graphicData>
        </a:graphic>
      </p:graphicFrame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A5458888-908C-26FF-5C3A-354B26165A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474936"/>
              </p:ext>
            </p:extLst>
          </p:nvPr>
        </p:nvGraphicFramePr>
        <p:xfrm>
          <a:off x="-324883" y="5761938"/>
          <a:ext cx="4775200" cy="1163955"/>
        </p:xfrm>
        <a:graphic>
          <a:graphicData uri="http://schemas.openxmlformats.org/drawingml/2006/table">
            <a:tbl>
              <a:tblPr/>
              <a:tblGrid>
                <a:gridCol w="4775200">
                  <a:extLst>
                    <a:ext uri="{9D8B030D-6E8A-4147-A177-3AD203B41FA5}">
                      <a16:colId xmlns:a16="http://schemas.microsoft.com/office/drawing/2014/main" val="308633727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 fontAlgn="t">
                        <a:lnSpc>
                          <a:spcPts val="1500"/>
                        </a:lnSpc>
                        <a:buNone/>
                      </a:pPr>
                      <a:r>
                        <a:rPr lang="pt-BR" b="0" i="0" dirty="0">
                          <a:effectLst/>
                          <a:latin typeface="Segoe UI" panose="020B0502040204020203" pitchFamily="34" charset="0"/>
                        </a:rPr>
                        <a:t>CEO e presidente da IDEO, consultoria que difundiu o Design Thinking no mundo Defensor de um design </a:t>
                      </a:r>
                      <a:r>
                        <a:rPr lang="pt-BR" b="1" i="0" dirty="0">
                          <a:effectLst/>
                          <a:latin typeface="Segoe UI" panose="020B0502040204020203" pitchFamily="34" charset="0"/>
                        </a:rPr>
                        <a:t>centrado nas pessoas</a:t>
                      </a:r>
                      <a:r>
                        <a:rPr lang="pt-BR" b="0" i="0" dirty="0">
                          <a:effectLst/>
                          <a:latin typeface="Segoe UI" panose="020B0502040204020203" pitchFamily="34" charset="0"/>
                        </a:rPr>
                        <a:t> e voltado a </a:t>
                      </a:r>
                      <a:r>
                        <a:rPr lang="pt-BR" b="1" i="0" dirty="0">
                          <a:effectLst/>
                          <a:latin typeface="Segoe UI" panose="020B0502040204020203" pitchFamily="34" charset="0"/>
                        </a:rPr>
                        <a:t>grandes desafios sociais</a:t>
                      </a:r>
                      <a:r>
                        <a:rPr lang="pt-BR" b="0" i="0" dirty="0">
                          <a:effectLst/>
                          <a:latin typeface="Segoe UI" panose="020B0502040204020203" pitchFamily="34" charset="0"/>
                        </a:rPr>
                        <a:t> Palestrante do TED Talk </a:t>
                      </a:r>
                      <a:r>
                        <a:rPr lang="pt-BR" b="1" i="0" dirty="0">
                          <a:effectLst/>
                          <a:latin typeface="Segoe UI" panose="020B0502040204020203" pitchFamily="34" charset="0"/>
                        </a:rPr>
                        <a:t>“Designers — </a:t>
                      </a:r>
                      <a:r>
                        <a:rPr lang="pt-BR" b="1" i="0" dirty="0" err="1">
                          <a:effectLst/>
                          <a:latin typeface="Segoe UI" panose="020B0502040204020203" pitchFamily="34" charset="0"/>
                        </a:rPr>
                        <a:t>Think</a:t>
                      </a:r>
                      <a:r>
                        <a:rPr lang="pt-BR" b="1" i="0" dirty="0">
                          <a:effectLst/>
                          <a:latin typeface="Segoe UI" panose="020B0502040204020203" pitchFamily="34" charset="0"/>
                        </a:rPr>
                        <a:t> Big!</a:t>
                      </a:r>
                      <a:endParaRPr lang="pt-BR" b="0" i="0" dirty="0">
                        <a:effectLst/>
                        <a:latin typeface="Segoe UI" panose="020B0502040204020203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0639816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39842934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2C8CA19A-BBBF-4E11-D300-C4C7FFD6DE80}"/>
              </a:ext>
            </a:extLst>
          </p:cNvPr>
          <p:cNvSpPr txBox="1"/>
          <p:nvPr/>
        </p:nvSpPr>
        <p:spPr>
          <a:xfrm>
            <a:off x="7694538" y="3835836"/>
            <a:ext cx="41336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buSzPts val="1800"/>
            </a:pPr>
            <a:r>
              <a:rPr lang="pt-BR" sz="1400" dirty="0">
                <a:latin typeface="Helvetica Neue"/>
                <a:ea typeface="Helvetica Neue"/>
                <a:cs typeface="Helvetica Neue"/>
                <a:sym typeface="Helvetica Neue"/>
                <a:hlinkClick r:id="rId2"/>
              </a:rPr>
              <a:t>https://www.youtube.com/watch?v=7fcqb2a5_ok</a:t>
            </a:r>
            <a:endParaRPr lang="pt-BR" sz="1400" dirty="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B1EA421-99F3-1BCF-4111-D0330746090C}"/>
              </a:ext>
            </a:extLst>
          </p:cNvPr>
          <p:cNvSpPr txBox="1"/>
          <p:nvPr/>
        </p:nvSpPr>
        <p:spPr>
          <a:xfrm>
            <a:off x="221742" y="3997488"/>
            <a:ext cx="60327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hlinkClick r:id="rId3"/>
              </a:rPr>
              <a:t>https://www.youtube.com/watch?v=0M9G70OpT6U</a:t>
            </a:r>
            <a:endParaRPr lang="pt-BR" dirty="0"/>
          </a:p>
          <a:p>
            <a:endParaRPr lang="pt-BR" dirty="0"/>
          </a:p>
        </p:txBody>
      </p:sp>
      <p:pic>
        <p:nvPicPr>
          <p:cNvPr id="6" name="Imagem 5" descr="Gráfico&#10;&#10;O conteúdo gerado por IA pode estar incorreto.">
            <a:extLst>
              <a:ext uri="{FF2B5EF4-FFF2-40B4-BE49-F238E27FC236}">
                <a16:creationId xmlns:a16="http://schemas.microsoft.com/office/drawing/2014/main" id="{EEFD6261-276C-F635-D366-B829B8D144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0850" y="1109922"/>
            <a:ext cx="3634551" cy="2725914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E15D17ED-8DF2-74E9-0B5B-43C0D5E48A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1742" y="1109922"/>
            <a:ext cx="4089409" cy="2725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87500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0" descr="Screenshot 2025-04-01 at 08.51.4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20131" y="5570742"/>
            <a:ext cx="1395498" cy="1476396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0"/>
          <p:cNvSpPr/>
          <p:nvPr/>
        </p:nvSpPr>
        <p:spPr>
          <a:xfrm>
            <a:off x="-889000" y="-38100"/>
            <a:ext cx="13708021" cy="510361"/>
          </a:xfrm>
          <a:prstGeom prst="rect">
            <a:avLst/>
          </a:prstGeom>
          <a:solidFill>
            <a:srgbClr val="1B4582"/>
          </a:solidFill>
          <a:ln w="25400" cap="flat" cmpd="sng">
            <a:solidFill>
              <a:srgbClr val="1B45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0" name="Google Shape;130;p10"/>
          <p:cNvSpPr txBox="1"/>
          <p:nvPr/>
        </p:nvSpPr>
        <p:spPr>
          <a:xfrm>
            <a:off x="344319" y="124250"/>
            <a:ext cx="5151859" cy="287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pt-BR" sz="1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SENAC EAD</a:t>
            </a: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1" name="Google Shape;131;p10"/>
          <p:cNvSpPr/>
          <p:nvPr/>
        </p:nvSpPr>
        <p:spPr>
          <a:xfrm>
            <a:off x="-482600" y="475158"/>
            <a:ext cx="13590475" cy="70370"/>
          </a:xfrm>
          <a:prstGeom prst="rect">
            <a:avLst/>
          </a:prstGeom>
          <a:solidFill>
            <a:srgbClr val="E0923C"/>
          </a:solid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2" name="Google Shape;132;p10"/>
          <p:cNvSpPr txBox="1"/>
          <p:nvPr/>
        </p:nvSpPr>
        <p:spPr>
          <a:xfrm>
            <a:off x="416496" y="235775"/>
            <a:ext cx="84201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4982"/>
              </a:buClr>
              <a:buSzPts val="1400"/>
              <a:buFont typeface="Lucida Sans"/>
              <a:buNone/>
            </a:pPr>
            <a:r>
              <a:rPr lang="pt-BR" sz="2400" b="1" i="0" u="none" strike="noStrike" cap="none" dirty="0">
                <a:solidFill>
                  <a:srgbClr val="044982"/>
                </a:solidFill>
                <a:latin typeface="Lucida Sans"/>
                <a:ea typeface="Lucida Sans"/>
                <a:cs typeface="Lucida Sans"/>
                <a:sym typeface="Lucida Sans"/>
              </a:rPr>
              <a:t>Desenvolvendo: Design Thinking!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0"/>
          <p:cNvSpPr txBox="1"/>
          <p:nvPr/>
        </p:nvSpPr>
        <p:spPr>
          <a:xfrm>
            <a:off x="3026872" y="46479"/>
            <a:ext cx="9288757" cy="276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r>
              <a:rPr lang="pt-BR" sz="12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PROJETO INTEGRADOR – DIAGNÓSTICO DE SOLUÇÕES DE TECNOLOGIA DA INFORMAÇÃO - </a:t>
            </a:r>
            <a:r>
              <a:rPr lang="pt-BR" sz="12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AÇÕES</a:t>
            </a:r>
            <a:r>
              <a:rPr lang="pt-BR" sz="12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EXTENSIONISTAS</a:t>
            </a:r>
            <a:endParaRPr sz="1800" b="1" i="0" u="none" strike="noStrike" cap="non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34" name="Google Shape;134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5376" y="2227904"/>
            <a:ext cx="6629400" cy="383465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EE00CB99-200F-5DB4-BA50-B365D41ED7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3996698"/>
              </p:ext>
            </p:extLst>
          </p:nvPr>
        </p:nvGraphicFramePr>
        <p:xfrm>
          <a:off x="7416800" y="897508"/>
          <a:ext cx="4775200" cy="1544955"/>
        </p:xfrm>
        <a:graphic>
          <a:graphicData uri="http://schemas.openxmlformats.org/drawingml/2006/table">
            <a:tbl>
              <a:tblPr/>
              <a:tblGrid>
                <a:gridCol w="4775200">
                  <a:extLst>
                    <a:ext uri="{9D8B030D-6E8A-4147-A177-3AD203B41FA5}">
                      <a16:colId xmlns:a16="http://schemas.microsoft.com/office/drawing/2014/main" val="334057684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 fontAlgn="t">
                        <a:lnSpc>
                          <a:spcPts val="1500"/>
                        </a:lnSpc>
                        <a:buNone/>
                      </a:pPr>
                      <a:r>
                        <a:rPr lang="pt-BR" b="1" i="0" dirty="0">
                          <a:effectLst/>
                          <a:latin typeface="Segoe UI" panose="020B0502040204020203" pitchFamily="34" charset="0"/>
                        </a:rPr>
                        <a:t>Design Thinking</a:t>
                      </a:r>
                      <a:r>
                        <a:rPr lang="pt-BR" b="0" i="0" dirty="0">
                          <a:effectLst/>
                          <a:latin typeface="Segoe UI" panose="020B0502040204020203" pitchFamily="34" charset="0"/>
                        </a:rPr>
                        <a:t> é uma abordagem usada para </a:t>
                      </a:r>
                      <a:r>
                        <a:rPr lang="pt-BR" b="1" i="0" dirty="0">
                          <a:effectLst/>
                          <a:latin typeface="Segoe UI" panose="020B0502040204020203" pitchFamily="34" charset="0"/>
                        </a:rPr>
                        <a:t>resolver problemas de forma criativa</a:t>
                      </a:r>
                      <a:r>
                        <a:rPr lang="pt-BR" b="0" i="0" dirty="0">
                          <a:effectLst/>
                          <a:latin typeface="Segoe UI" panose="020B0502040204020203" pitchFamily="34" charset="0"/>
                        </a:rPr>
                        <a:t>, colocando as </a:t>
                      </a:r>
                      <a:r>
                        <a:rPr lang="pt-BR" b="1" i="0" dirty="0">
                          <a:effectLst/>
                          <a:latin typeface="Segoe UI" panose="020B0502040204020203" pitchFamily="34" charset="0"/>
                        </a:rPr>
                        <a:t>pessoas no centro do processo</a:t>
                      </a:r>
                      <a:r>
                        <a:rPr lang="pt-BR" b="0" i="0" dirty="0">
                          <a:effectLst/>
                          <a:latin typeface="Segoe UI" panose="020B0502040204020203" pitchFamily="34" charset="0"/>
                        </a:rPr>
                        <a:t>. É muito utilizada em empresas inovadoras (como Google, Apple e IDEO) e também na educação, porque ajuda na criação de soluções práticas, colaborativas e inovadoras.</a:t>
                      </a:r>
                    </a:p>
                  </a:txBody>
                  <a:tcPr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4620743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68396054"/>
                  </a:ext>
                </a:extLst>
              </a:tr>
            </a:tbl>
          </a:graphicData>
        </a:graphic>
      </p:graphicFrame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91DE6A8B-568F-3B05-8512-5E7F394A10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4696682"/>
              </p:ext>
            </p:extLst>
          </p:nvPr>
        </p:nvGraphicFramePr>
        <p:xfrm>
          <a:off x="7540429" y="4373017"/>
          <a:ext cx="4775200" cy="1544955"/>
        </p:xfrm>
        <a:graphic>
          <a:graphicData uri="http://schemas.openxmlformats.org/drawingml/2006/table">
            <a:tbl>
              <a:tblPr/>
              <a:tblGrid>
                <a:gridCol w="4775200">
                  <a:extLst>
                    <a:ext uri="{9D8B030D-6E8A-4147-A177-3AD203B41FA5}">
                      <a16:colId xmlns:a16="http://schemas.microsoft.com/office/drawing/2014/main" val="29020417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pt-BR" b="0" i="0">
                          <a:effectLst/>
                          <a:latin typeface="Segoe UI" panose="020B0502040204020203" pitchFamily="34" charset="0"/>
                        </a:rPr>
                        <a:t>Porque ele ajuda a turma a: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pt-BR" b="0" i="0">
                          <a:effectLst/>
                          <a:latin typeface="Segoe UI" panose="020B0502040204020203" pitchFamily="34" charset="0"/>
                        </a:rPr>
                        <a:t>Trabalhar em </a:t>
                      </a:r>
                      <a:r>
                        <a:rPr lang="pt-BR" b="1" i="0">
                          <a:effectLst/>
                          <a:latin typeface="Segoe UI" panose="020B0502040204020203" pitchFamily="34" charset="0"/>
                        </a:rPr>
                        <a:t>colaboração</a:t>
                      </a:r>
                      <a:r>
                        <a:rPr lang="pt-BR" b="0" i="0">
                          <a:effectLst/>
                          <a:latin typeface="Segoe UI" panose="020B0502040204020203" pitchFamily="34" charset="0"/>
                        </a:rPr>
                        <a:t>;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pt-BR" b="0" i="0">
                          <a:effectLst/>
                          <a:latin typeface="Segoe UI" panose="020B0502040204020203" pitchFamily="34" charset="0"/>
                        </a:rPr>
                        <a:t>Pensar de forma </a:t>
                      </a:r>
                      <a:r>
                        <a:rPr lang="pt-BR" b="1" i="0">
                          <a:effectLst/>
                          <a:latin typeface="Segoe UI" panose="020B0502040204020203" pitchFamily="34" charset="0"/>
                        </a:rPr>
                        <a:t>criativa</a:t>
                      </a:r>
                      <a:r>
                        <a:rPr lang="pt-BR" b="0" i="0">
                          <a:effectLst/>
                          <a:latin typeface="Segoe UI" panose="020B0502040204020203" pitchFamily="34" charset="0"/>
                        </a:rPr>
                        <a:t> e </a:t>
                      </a:r>
                      <a:r>
                        <a:rPr lang="pt-BR" b="1" i="0">
                          <a:effectLst/>
                          <a:latin typeface="Segoe UI" panose="020B0502040204020203" pitchFamily="34" charset="0"/>
                        </a:rPr>
                        <a:t>crítica</a:t>
                      </a:r>
                      <a:r>
                        <a:rPr lang="pt-BR" b="0" i="0">
                          <a:effectLst/>
                          <a:latin typeface="Segoe UI" panose="020B0502040204020203" pitchFamily="34" charset="0"/>
                        </a:rPr>
                        <a:t>;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pt-BR" b="0" i="0">
                          <a:effectLst/>
                          <a:latin typeface="Segoe UI" panose="020B0502040204020203" pitchFamily="34" charset="0"/>
                        </a:rPr>
                        <a:t>Desenvolver soluções </a:t>
                      </a:r>
                      <a:r>
                        <a:rPr lang="pt-BR" b="1" i="0">
                          <a:effectLst/>
                          <a:latin typeface="Segoe UI" panose="020B0502040204020203" pitchFamily="34" charset="0"/>
                        </a:rPr>
                        <a:t>reais</a:t>
                      </a:r>
                      <a:r>
                        <a:rPr lang="pt-BR" b="0" i="0">
                          <a:effectLst/>
                          <a:latin typeface="Segoe UI" panose="020B0502040204020203" pitchFamily="34" charset="0"/>
                        </a:rPr>
                        <a:t> para necessidades </a:t>
                      </a:r>
                      <a:r>
                        <a:rPr lang="pt-BR" b="1" i="0">
                          <a:effectLst/>
                          <a:latin typeface="Segoe UI" panose="020B0502040204020203" pitchFamily="34" charset="0"/>
                        </a:rPr>
                        <a:t>reais</a:t>
                      </a:r>
                      <a:r>
                        <a:rPr lang="pt-BR" b="0" i="0">
                          <a:effectLst/>
                          <a:latin typeface="Segoe UI" panose="020B0502040204020203" pitchFamily="34" charset="0"/>
                        </a:rPr>
                        <a:t>;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pt-BR" b="0" i="0">
                          <a:effectLst/>
                          <a:latin typeface="Segoe UI" panose="020B0502040204020203" pitchFamily="34" charset="0"/>
                        </a:rPr>
                        <a:t>Testar ideias rapidamente e </a:t>
                      </a:r>
                      <a:r>
                        <a:rPr lang="pt-BR" b="1" i="0">
                          <a:effectLst/>
                          <a:latin typeface="Segoe UI" panose="020B0502040204020203" pitchFamily="34" charset="0"/>
                        </a:rPr>
                        <a:t>aprender com erros</a:t>
                      </a:r>
                      <a:r>
                        <a:rPr lang="pt-BR" b="0" i="0">
                          <a:effectLst/>
                          <a:latin typeface="Segoe UI" panose="020B0502040204020203" pitchFamily="34" charset="0"/>
                        </a:rPr>
                        <a:t>;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pt-BR" b="0" i="0">
                          <a:effectLst/>
                          <a:latin typeface="Segoe UI" panose="020B0502040204020203" pitchFamily="34" charset="0"/>
                        </a:rPr>
                        <a:t>Conectar tecnologia, ciência, sociedade e inovação.</a:t>
                      </a:r>
                    </a:p>
                  </a:txBody>
                  <a:tcPr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788324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852703981"/>
                  </a:ext>
                </a:extLst>
              </a:tr>
            </a:tbl>
          </a:graphicData>
        </a:graphic>
      </p:graphicFrame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5018FF99-B90D-1D1F-5A86-B3AA6F0FD8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635394"/>
              </p:ext>
            </p:extLst>
          </p:nvPr>
        </p:nvGraphicFramePr>
        <p:xfrm>
          <a:off x="7540429" y="3243851"/>
          <a:ext cx="4775200" cy="592455"/>
        </p:xfrm>
        <a:graphic>
          <a:graphicData uri="http://schemas.openxmlformats.org/drawingml/2006/table">
            <a:tbl>
              <a:tblPr/>
              <a:tblGrid>
                <a:gridCol w="4775200">
                  <a:extLst>
                    <a:ext uri="{9D8B030D-6E8A-4147-A177-3AD203B41FA5}">
                      <a16:colId xmlns:a16="http://schemas.microsoft.com/office/drawing/2014/main" val="17870863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pt-BR" b="1" i="0" dirty="0">
                          <a:effectLst/>
                          <a:latin typeface="Segoe UI" panose="020B0502040204020203" pitchFamily="34" charset="0"/>
                        </a:rPr>
                        <a:t>Por que Design Thinking é importante?</a:t>
                      </a:r>
                    </a:p>
                  </a:txBody>
                  <a:tcPr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8658293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3888355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1"/>
          <p:cNvSpPr/>
          <p:nvPr/>
        </p:nvSpPr>
        <p:spPr>
          <a:xfrm>
            <a:off x="-57166" y="-38100"/>
            <a:ext cx="12476510" cy="7186164"/>
          </a:xfrm>
          <a:prstGeom prst="rect">
            <a:avLst/>
          </a:prstGeom>
          <a:solidFill>
            <a:srgbClr val="F5F5F5"/>
          </a:solidFill>
          <a:ln w="25400" cap="flat" cmpd="sng">
            <a:solidFill>
              <a:srgbClr val="F5F5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40" name="Google Shape;140;p11" descr="Screenshot 2025-04-01 at 08.51.4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20131" y="5570742"/>
            <a:ext cx="1395498" cy="1476396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1"/>
          <p:cNvSpPr/>
          <p:nvPr/>
        </p:nvSpPr>
        <p:spPr>
          <a:xfrm>
            <a:off x="-889000" y="-38100"/>
            <a:ext cx="13708021" cy="510361"/>
          </a:xfrm>
          <a:prstGeom prst="rect">
            <a:avLst/>
          </a:prstGeom>
          <a:solidFill>
            <a:srgbClr val="1B4582"/>
          </a:solidFill>
          <a:ln w="25400" cap="flat" cmpd="sng">
            <a:solidFill>
              <a:srgbClr val="1B45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2" name="Google Shape;142;p11"/>
          <p:cNvSpPr txBox="1"/>
          <p:nvPr/>
        </p:nvSpPr>
        <p:spPr>
          <a:xfrm>
            <a:off x="344319" y="124250"/>
            <a:ext cx="5151859" cy="287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pt-BR" sz="1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SENAC EAD</a:t>
            </a: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3" name="Google Shape;143;p11"/>
          <p:cNvSpPr/>
          <p:nvPr/>
        </p:nvSpPr>
        <p:spPr>
          <a:xfrm>
            <a:off x="-482600" y="475158"/>
            <a:ext cx="13590475" cy="70370"/>
          </a:xfrm>
          <a:prstGeom prst="rect">
            <a:avLst/>
          </a:prstGeom>
          <a:solidFill>
            <a:srgbClr val="E0923C"/>
          </a:solid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4" name="Google Shape;144;p11"/>
          <p:cNvSpPr txBox="1"/>
          <p:nvPr/>
        </p:nvSpPr>
        <p:spPr>
          <a:xfrm>
            <a:off x="416496" y="235775"/>
            <a:ext cx="84201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4982"/>
              </a:buClr>
              <a:buSzPts val="1400"/>
              <a:buFont typeface="Lucida Sans"/>
              <a:buNone/>
            </a:pPr>
            <a:r>
              <a:rPr lang="pt-BR" sz="2400" b="1" i="0" u="none" strike="noStrike" cap="none">
                <a:solidFill>
                  <a:srgbClr val="044982"/>
                </a:solidFill>
                <a:latin typeface="Lucida Sans"/>
                <a:ea typeface="Lucida Sans"/>
                <a:cs typeface="Lucida Sans"/>
                <a:sym typeface="Lucida Sans"/>
              </a:rPr>
              <a:t>Perguntas de milhões!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1"/>
          <p:cNvSpPr txBox="1"/>
          <p:nvPr/>
        </p:nvSpPr>
        <p:spPr>
          <a:xfrm>
            <a:off x="3026872" y="46479"/>
            <a:ext cx="9288757" cy="276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r>
              <a:rPr lang="pt-BR" sz="12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PROJETO INTEGRADOR – DIAGNÓSTICO DE SOLUÇÕES DE TECNOLOGIA DA INFORMAÇÃO - </a:t>
            </a:r>
            <a:r>
              <a:rPr lang="pt-BR" sz="12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AÇÕES</a:t>
            </a:r>
            <a:r>
              <a:rPr lang="pt-BR" sz="12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EXTENSIONISTAS</a:t>
            </a:r>
            <a:endParaRPr sz="1800" b="1" i="0" u="none" strike="noStrike" cap="non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6" name="Google Shape;146;p11"/>
          <p:cNvSpPr/>
          <p:nvPr/>
        </p:nvSpPr>
        <p:spPr>
          <a:xfrm>
            <a:off x="2167526" y="1895071"/>
            <a:ext cx="582344" cy="586069"/>
          </a:xfrm>
          <a:prstGeom prst="rect">
            <a:avLst/>
          </a:prstGeom>
          <a:solidFill>
            <a:srgbClr val="FFCC9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11"/>
          <p:cNvSpPr/>
          <p:nvPr/>
        </p:nvSpPr>
        <p:spPr>
          <a:xfrm>
            <a:off x="2167526" y="2825375"/>
            <a:ext cx="582344" cy="586069"/>
          </a:xfrm>
          <a:prstGeom prst="rect">
            <a:avLst/>
          </a:prstGeom>
          <a:solidFill>
            <a:srgbClr val="FFCC9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1"/>
          <p:cNvSpPr/>
          <p:nvPr/>
        </p:nvSpPr>
        <p:spPr>
          <a:xfrm>
            <a:off x="2167526" y="3746449"/>
            <a:ext cx="582344" cy="586069"/>
          </a:xfrm>
          <a:prstGeom prst="rect">
            <a:avLst/>
          </a:prstGeom>
          <a:solidFill>
            <a:srgbClr val="FFCC9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11"/>
          <p:cNvSpPr/>
          <p:nvPr/>
        </p:nvSpPr>
        <p:spPr>
          <a:xfrm>
            <a:off x="2167526" y="4674468"/>
            <a:ext cx="582344" cy="586069"/>
          </a:xfrm>
          <a:prstGeom prst="rect">
            <a:avLst/>
          </a:prstGeom>
          <a:solidFill>
            <a:srgbClr val="FFCC9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11"/>
          <p:cNvSpPr/>
          <p:nvPr/>
        </p:nvSpPr>
        <p:spPr>
          <a:xfrm>
            <a:off x="2167526" y="5600031"/>
            <a:ext cx="582344" cy="586069"/>
          </a:xfrm>
          <a:prstGeom prst="rect">
            <a:avLst/>
          </a:prstGeom>
          <a:solidFill>
            <a:srgbClr val="FFCC9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1"/>
          <p:cNvSpPr/>
          <p:nvPr/>
        </p:nvSpPr>
        <p:spPr>
          <a:xfrm>
            <a:off x="2839601" y="2003439"/>
            <a:ext cx="7680853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você (e seu time) sabem sobre o problema?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1"/>
          <p:cNvSpPr/>
          <p:nvPr/>
        </p:nvSpPr>
        <p:spPr>
          <a:xfrm>
            <a:off x="2839601" y="2933743"/>
            <a:ext cx="7680853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vocês levaram em consideração que ninguém pensou?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1"/>
          <p:cNvSpPr/>
          <p:nvPr/>
        </p:nvSpPr>
        <p:spPr>
          <a:xfrm>
            <a:off x="2839599" y="3749019"/>
            <a:ext cx="7680853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Não pense somente na sua experiência, mas foque na sua visão específica sobre como lidar com as pessoas.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1"/>
          <p:cNvSpPr/>
          <p:nvPr/>
        </p:nvSpPr>
        <p:spPr>
          <a:xfrm>
            <a:off x="2839601" y="4782836"/>
            <a:ext cx="7680853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você deseja fazer a diferença na vida de quem utilizar sua solução?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1"/>
          <p:cNvSpPr/>
          <p:nvPr/>
        </p:nvSpPr>
        <p:spPr>
          <a:xfrm>
            <a:off x="2839601" y="5708399"/>
            <a:ext cx="7680853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Qual será o valor que guiará sua busca pela solução do problema?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2"/>
          <p:cNvSpPr/>
          <p:nvPr/>
        </p:nvSpPr>
        <p:spPr>
          <a:xfrm>
            <a:off x="-57166" y="-38100"/>
            <a:ext cx="12476510" cy="7186164"/>
          </a:xfrm>
          <a:prstGeom prst="rect">
            <a:avLst/>
          </a:prstGeom>
          <a:solidFill>
            <a:srgbClr val="F5F5F5"/>
          </a:solidFill>
          <a:ln w="25400" cap="flat" cmpd="sng">
            <a:solidFill>
              <a:srgbClr val="F5F5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61" name="Google Shape;161;p12" descr="Screenshot 2025-04-01 at 08.51.4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20131" y="5570742"/>
            <a:ext cx="1395498" cy="1476396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2"/>
          <p:cNvSpPr/>
          <p:nvPr/>
        </p:nvSpPr>
        <p:spPr>
          <a:xfrm>
            <a:off x="-889000" y="-38100"/>
            <a:ext cx="13708021" cy="510361"/>
          </a:xfrm>
          <a:prstGeom prst="rect">
            <a:avLst/>
          </a:prstGeom>
          <a:solidFill>
            <a:srgbClr val="1B4582"/>
          </a:solidFill>
          <a:ln w="25400" cap="flat" cmpd="sng">
            <a:solidFill>
              <a:srgbClr val="1B45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3" name="Google Shape;163;p12"/>
          <p:cNvSpPr txBox="1"/>
          <p:nvPr/>
        </p:nvSpPr>
        <p:spPr>
          <a:xfrm>
            <a:off x="344319" y="124250"/>
            <a:ext cx="5151859" cy="287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pt-BR" sz="1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SENAC EAD</a:t>
            </a: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4" name="Google Shape;164;p12"/>
          <p:cNvSpPr/>
          <p:nvPr/>
        </p:nvSpPr>
        <p:spPr>
          <a:xfrm>
            <a:off x="-482600" y="475158"/>
            <a:ext cx="13590475" cy="70370"/>
          </a:xfrm>
          <a:prstGeom prst="rect">
            <a:avLst/>
          </a:prstGeom>
          <a:solidFill>
            <a:srgbClr val="E0923C"/>
          </a:solid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5" name="Google Shape;165;p12"/>
          <p:cNvSpPr txBox="1"/>
          <p:nvPr/>
        </p:nvSpPr>
        <p:spPr>
          <a:xfrm>
            <a:off x="416496" y="235775"/>
            <a:ext cx="84201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4982"/>
              </a:buClr>
              <a:buSzPts val="1400"/>
              <a:buFont typeface="Lucida Sans"/>
              <a:buNone/>
            </a:pPr>
            <a:r>
              <a:rPr lang="pt-BR" sz="2400" b="1" i="0" u="none" strike="noStrike" cap="none">
                <a:solidFill>
                  <a:srgbClr val="044982"/>
                </a:solidFill>
                <a:latin typeface="Lucida Sans"/>
                <a:ea typeface="Lucida Sans"/>
                <a:cs typeface="Lucida Sans"/>
                <a:sym typeface="Lucida Sans"/>
              </a:rPr>
              <a:t>Percepção de valor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2"/>
          <p:cNvSpPr txBox="1"/>
          <p:nvPr/>
        </p:nvSpPr>
        <p:spPr>
          <a:xfrm>
            <a:off x="3026872" y="46479"/>
            <a:ext cx="9288757" cy="276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r>
              <a:rPr lang="pt-BR" sz="12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PROJETO INTEGRADOR – DIAGNÓSTICO DE SOLUÇÕES DE TECNOLOGIA DA INFORMAÇÃO - </a:t>
            </a:r>
            <a:r>
              <a:rPr lang="pt-BR" sz="12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AÇÕES</a:t>
            </a:r>
            <a:r>
              <a:rPr lang="pt-BR" sz="12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EXTENSIONISTAS</a:t>
            </a:r>
            <a:endParaRPr sz="1800" b="1" i="0" u="none" strike="noStrike" cap="non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67" name="Google Shape;167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16105" y="4193733"/>
            <a:ext cx="5821326" cy="1141755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2"/>
          <p:cNvSpPr txBox="1"/>
          <p:nvPr/>
        </p:nvSpPr>
        <p:spPr>
          <a:xfrm>
            <a:off x="2890821" y="2175107"/>
            <a:ext cx="7272910" cy="1113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6800" rIns="91425" bIns="4570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 quando eu tenho essas necessidades atendidas?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Então... eu gero </a:t>
            </a:r>
            <a:r>
              <a:rPr lang="pt-BR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VALOR</a:t>
            </a:r>
            <a:r>
              <a:rPr lang="pt-BR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!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9" name="Google Shape;169;p12"/>
          <p:cNvGrpSpPr/>
          <p:nvPr/>
        </p:nvGrpSpPr>
        <p:grpSpPr>
          <a:xfrm>
            <a:off x="2890821" y="4236265"/>
            <a:ext cx="7272910" cy="1049411"/>
            <a:chOff x="936053" y="2900640"/>
            <a:chExt cx="7272910" cy="1049411"/>
          </a:xfrm>
        </p:grpSpPr>
        <p:sp>
          <p:nvSpPr>
            <p:cNvPr id="170" name="Google Shape;170;p12"/>
            <p:cNvSpPr txBox="1"/>
            <p:nvPr/>
          </p:nvSpPr>
          <p:spPr>
            <a:xfrm>
              <a:off x="936053" y="2900640"/>
              <a:ext cx="7272910" cy="8536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68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pt-BR"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VALOR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50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pt-BR"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 </a:t>
              </a:r>
              <a:r>
                <a:rPr lang="pt-BR" sz="1400" b="1" i="0" u="sng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percepção</a:t>
              </a:r>
              <a:r>
                <a:rPr lang="pt-BR"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de benefícios, da </a:t>
              </a:r>
              <a:r>
                <a:rPr lang="pt-BR" sz="1400" b="1" i="0" u="sng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utilidade e da importância </a:t>
              </a:r>
              <a:r>
                <a:rPr lang="pt-BR"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de algo.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12"/>
            <p:cNvSpPr txBox="1"/>
            <p:nvPr/>
          </p:nvSpPr>
          <p:spPr>
            <a:xfrm>
              <a:off x="6669424" y="3654328"/>
              <a:ext cx="621814" cy="2957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68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pt-BR" sz="1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(ITIL)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2" name="Google Shape;172;p12"/>
          <p:cNvSpPr txBox="1"/>
          <p:nvPr/>
        </p:nvSpPr>
        <p:spPr>
          <a:xfrm>
            <a:off x="3616106" y="3583247"/>
            <a:ext cx="1975066" cy="376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6800" rIns="91425" bIns="4570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SUBJETIVIDADE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12"/>
          <p:cNvSpPr txBox="1"/>
          <p:nvPr/>
        </p:nvSpPr>
        <p:spPr>
          <a:xfrm>
            <a:off x="5428954" y="5561848"/>
            <a:ext cx="3806456" cy="69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6800" rIns="91425" bIns="4570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AVALIAÇÃO SOB O OLHAR DO CONSUMIDOR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4" name="Google Shape;174;p12"/>
          <p:cNvCxnSpPr/>
          <p:nvPr/>
        </p:nvCxnSpPr>
        <p:spPr>
          <a:xfrm rot="10800000">
            <a:off x="4574769" y="3925824"/>
            <a:ext cx="0" cy="777267"/>
          </a:xfrm>
          <a:prstGeom prst="straightConnector1">
            <a:avLst/>
          </a:prstGeom>
          <a:noFill/>
          <a:ln w="12700" cap="flat" cmpd="sng">
            <a:solidFill>
              <a:srgbClr val="00B0F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5" name="Google Shape;175;p12"/>
          <p:cNvCxnSpPr/>
          <p:nvPr/>
        </p:nvCxnSpPr>
        <p:spPr>
          <a:xfrm>
            <a:off x="7323281" y="5034722"/>
            <a:ext cx="0" cy="501909"/>
          </a:xfrm>
          <a:prstGeom prst="straightConnector1">
            <a:avLst/>
          </a:prstGeom>
          <a:noFill/>
          <a:ln w="12700" cap="flat" cmpd="sng">
            <a:solidFill>
              <a:srgbClr val="00B0F0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5243bc8f80_0_0"/>
          <p:cNvSpPr/>
          <p:nvPr/>
        </p:nvSpPr>
        <p:spPr>
          <a:xfrm>
            <a:off x="-57166" y="-38100"/>
            <a:ext cx="12476400" cy="7186200"/>
          </a:xfrm>
          <a:prstGeom prst="rect">
            <a:avLst/>
          </a:prstGeom>
          <a:solidFill>
            <a:srgbClr val="F5F5F5"/>
          </a:solidFill>
          <a:ln w="25400" cap="flat" cmpd="sng">
            <a:solidFill>
              <a:srgbClr val="F5F5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81" name="Google Shape;181;g35243bc8f80_0_0" descr="Screenshot 2025-04-01 at 08.51.4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20131" y="5570742"/>
            <a:ext cx="1395498" cy="1476396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g35243bc8f80_0_0"/>
          <p:cNvSpPr/>
          <p:nvPr/>
        </p:nvSpPr>
        <p:spPr>
          <a:xfrm>
            <a:off x="-889000" y="-38100"/>
            <a:ext cx="13707900" cy="510300"/>
          </a:xfrm>
          <a:prstGeom prst="rect">
            <a:avLst/>
          </a:prstGeom>
          <a:solidFill>
            <a:srgbClr val="1B4582"/>
          </a:solidFill>
          <a:ln w="25400" cap="flat" cmpd="sng">
            <a:solidFill>
              <a:srgbClr val="1B45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3" name="Google Shape;183;g35243bc8f80_0_0"/>
          <p:cNvSpPr txBox="1"/>
          <p:nvPr/>
        </p:nvSpPr>
        <p:spPr>
          <a:xfrm>
            <a:off x="344319" y="124250"/>
            <a:ext cx="5151900" cy="2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pt-BR" sz="1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SENAC EAD</a:t>
            </a: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4" name="Google Shape;184;g35243bc8f80_0_0"/>
          <p:cNvSpPr/>
          <p:nvPr/>
        </p:nvSpPr>
        <p:spPr>
          <a:xfrm>
            <a:off x="-482600" y="475158"/>
            <a:ext cx="13590600" cy="70500"/>
          </a:xfrm>
          <a:prstGeom prst="rect">
            <a:avLst/>
          </a:prstGeom>
          <a:solidFill>
            <a:srgbClr val="E0923C"/>
          </a:solid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5" name="Google Shape;185;g35243bc8f80_0_0"/>
          <p:cNvSpPr txBox="1"/>
          <p:nvPr/>
        </p:nvSpPr>
        <p:spPr>
          <a:xfrm>
            <a:off x="3026872" y="46479"/>
            <a:ext cx="9288757" cy="276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r>
              <a:rPr lang="pt-BR" sz="12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PROJETO INTEGRADOR – DIAGNÓSTICO DE SOLUÇÕES DE TECNOLOGIA DA INFORMAÇÃO - </a:t>
            </a:r>
            <a:r>
              <a:rPr lang="pt-BR" sz="12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AÇÕES</a:t>
            </a:r>
            <a:r>
              <a:rPr lang="pt-BR" sz="12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EXTENSIONISTAS</a:t>
            </a:r>
            <a:endParaRPr sz="1800" b="1" i="0" u="none" strike="noStrike" cap="non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86" name="Google Shape;186;g35243bc8f80_0_0" descr="Persona versus público-alvo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73717" y="1230760"/>
            <a:ext cx="5277966" cy="47878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3"/>
          <p:cNvSpPr/>
          <p:nvPr/>
        </p:nvSpPr>
        <p:spPr>
          <a:xfrm>
            <a:off x="-57166" y="-38100"/>
            <a:ext cx="12476510" cy="7186164"/>
          </a:xfrm>
          <a:prstGeom prst="rect">
            <a:avLst/>
          </a:prstGeom>
          <a:solidFill>
            <a:srgbClr val="F5F5F5"/>
          </a:solidFill>
          <a:ln w="25400" cap="flat" cmpd="sng">
            <a:solidFill>
              <a:srgbClr val="F5F5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92" name="Google Shape;192;p13" descr="Screenshot 2025-04-01 at 08.51.4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20131" y="5570742"/>
            <a:ext cx="1395498" cy="1476396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3"/>
          <p:cNvSpPr/>
          <p:nvPr/>
        </p:nvSpPr>
        <p:spPr>
          <a:xfrm>
            <a:off x="-889000" y="-38100"/>
            <a:ext cx="13708021" cy="510361"/>
          </a:xfrm>
          <a:prstGeom prst="rect">
            <a:avLst/>
          </a:prstGeom>
          <a:solidFill>
            <a:srgbClr val="1B4582"/>
          </a:solidFill>
          <a:ln w="25400" cap="flat" cmpd="sng">
            <a:solidFill>
              <a:srgbClr val="1B45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4" name="Google Shape;194;p13"/>
          <p:cNvSpPr txBox="1"/>
          <p:nvPr/>
        </p:nvSpPr>
        <p:spPr>
          <a:xfrm>
            <a:off x="344319" y="124250"/>
            <a:ext cx="5151859" cy="287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pt-BR" sz="1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SENAC EAD</a:t>
            </a: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5" name="Google Shape;195;p13"/>
          <p:cNvSpPr/>
          <p:nvPr/>
        </p:nvSpPr>
        <p:spPr>
          <a:xfrm>
            <a:off x="-482600" y="475158"/>
            <a:ext cx="13590475" cy="70370"/>
          </a:xfrm>
          <a:prstGeom prst="rect">
            <a:avLst/>
          </a:prstGeom>
          <a:solidFill>
            <a:srgbClr val="E0923C"/>
          </a:solid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6" name="Google Shape;196;p13"/>
          <p:cNvSpPr txBox="1"/>
          <p:nvPr/>
        </p:nvSpPr>
        <p:spPr>
          <a:xfrm>
            <a:off x="3026872" y="46479"/>
            <a:ext cx="9288757" cy="276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r>
              <a:rPr lang="pt-BR" sz="12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PROJETO INTEGRADOR – DIAGNÓSTICO DE SOLUÇÕES DE TECNOLOGIA DA INFORMAÇÃO - </a:t>
            </a:r>
            <a:r>
              <a:rPr lang="pt-BR" sz="12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AÇÕES</a:t>
            </a:r>
            <a:r>
              <a:rPr lang="pt-BR" sz="12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EXTENSIONISTAS</a:t>
            </a:r>
            <a:endParaRPr sz="1800" b="1" i="0" u="none" strike="noStrike" cap="non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7" name="Google Shape;197;p13"/>
          <p:cNvSpPr txBox="1"/>
          <p:nvPr/>
        </p:nvSpPr>
        <p:spPr>
          <a:xfrm>
            <a:off x="1392557" y="1676971"/>
            <a:ext cx="9577063" cy="433965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pt-BR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</a:t>
            </a:r>
            <a:r>
              <a:rPr lang="pt-BR" sz="1800" b="0" i="0" u="none" strike="noStrike" cap="none">
                <a:solidFill>
                  <a:srgbClr val="000000"/>
                </a:solidFill>
                <a:highlight>
                  <a:srgbClr val="FFCC99"/>
                </a:highlight>
                <a:latin typeface="Arial"/>
                <a:ea typeface="Arial"/>
                <a:cs typeface="Arial"/>
                <a:sym typeface="Arial"/>
              </a:rPr>
              <a:t>stakeholder</a:t>
            </a:r>
            <a:r>
              <a:rPr lang="pt-BR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ou </a:t>
            </a:r>
            <a:r>
              <a:rPr lang="pt-BR" sz="1800" b="0" i="0" u="none" strike="noStrike" cap="none">
                <a:solidFill>
                  <a:srgbClr val="000000"/>
                </a:solidFill>
                <a:highlight>
                  <a:srgbClr val="FFCC99"/>
                </a:highlight>
                <a:latin typeface="Arial"/>
                <a:ea typeface="Arial"/>
                <a:cs typeface="Arial"/>
                <a:sym typeface="Arial"/>
              </a:rPr>
              <a:t>parte interessada clássica</a:t>
            </a:r>
            <a:r>
              <a:rPr lang="pt-BR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é o cliente do projeto, mas existem muito mais stakeholders em um projeto que podem influenciar no sucesso ou fracasso do projeto caso não sejam identificados previamente. </a:t>
            </a:r>
            <a:endParaRPr sz="1800" b="0" i="0" u="none" strike="noStrike" cap="non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pt-BR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Os stakeholders podem ser </a:t>
            </a:r>
            <a:r>
              <a:rPr lang="pt-BR" sz="1800" b="0" i="0" u="none" strike="noStrike" cap="none">
                <a:solidFill>
                  <a:srgbClr val="000000"/>
                </a:solidFill>
                <a:highlight>
                  <a:srgbClr val="FFCC99"/>
                </a:highlight>
                <a:latin typeface="Arial"/>
                <a:ea typeface="Arial"/>
                <a:cs typeface="Arial"/>
                <a:sym typeface="Arial"/>
              </a:rPr>
              <a:t>pessoas</a:t>
            </a:r>
            <a:r>
              <a:rPr lang="pt-BR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pt-BR" sz="1800" b="0" i="0" u="none" strike="noStrike" cap="none">
                <a:solidFill>
                  <a:srgbClr val="000000"/>
                </a:solidFill>
                <a:highlight>
                  <a:srgbClr val="FFCC99"/>
                </a:highlight>
                <a:latin typeface="Arial"/>
                <a:ea typeface="Arial"/>
                <a:cs typeface="Arial"/>
                <a:sym typeface="Arial"/>
              </a:rPr>
              <a:t>grupos</a:t>
            </a:r>
            <a:r>
              <a:rPr lang="pt-BR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1800" b="0" i="0" u="none" strike="noStrike" cap="none">
                <a:solidFill>
                  <a:srgbClr val="000000"/>
                </a:solidFill>
                <a:highlight>
                  <a:srgbClr val="FFCC99"/>
                </a:highlight>
                <a:latin typeface="Arial"/>
                <a:ea typeface="Arial"/>
                <a:cs typeface="Arial"/>
                <a:sym typeface="Arial"/>
              </a:rPr>
              <a:t>de</a:t>
            </a:r>
            <a:r>
              <a:rPr lang="pt-BR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1800" b="0" i="0" u="none" strike="noStrike" cap="none">
                <a:solidFill>
                  <a:srgbClr val="000000"/>
                </a:solidFill>
                <a:highlight>
                  <a:srgbClr val="FFCC99"/>
                </a:highlight>
                <a:latin typeface="Arial"/>
                <a:ea typeface="Arial"/>
                <a:cs typeface="Arial"/>
                <a:sym typeface="Arial"/>
              </a:rPr>
              <a:t>pessoas</a:t>
            </a:r>
            <a:r>
              <a:rPr lang="pt-BR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lang="pt-BR" sz="1800" b="0" i="0" u="none" strike="noStrike" cap="none">
                <a:solidFill>
                  <a:srgbClr val="000000"/>
                </a:solidFill>
                <a:highlight>
                  <a:srgbClr val="FFCC99"/>
                </a:highlight>
                <a:latin typeface="Arial"/>
                <a:ea typeface="Arial"/>
                <a:cs typeface="Arial"/>
                <a:sym typeface="Arial"/>
              </a:rPr>
              <a:t>organizações</a:t>
            </a:r>
            <a:r>
              <a:rPr lang="pt-BR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que estão ativamente envolvidas no projeto ou, então, cujos interesses possam ser afetados de maneira positiva ou negativa como resultado da execução ou conclusão do projeto.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pt-BR" sz="1800" b="1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GUIA PMBOK DEFINE COMO: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1" u="none" strike="noStrike" cap="non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pt-BR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“Um indivíduo, grupo ou organização que possa afetar, ser afetado ou sentir-se afetado por uma decisão, atividade ou resultado de um projeto.”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(PROJECT MANAGEMENT INSTITUTE)</a:t>
            </a:r>
            <a:endParaRPr sz="1400" b="0" i="0" u="none" strike="noStrike" cap="none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8" name="Google Shape;198;p13"/>
          <p:cNvSpPr txBox="1"/>
          <p:nvPr/>
        </p:nvSpPr>
        <p:spPr>
          <a:xfrm>
            <a:off x="416496" y="235775"/>
            <a:ext cx="84201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4982"/>
              </a:buClr>
              <a:buSzPts val="1400"/>
              <a:buFont typeface="Lucida Sans"/>
              <a:buNone/>
            </a:pPr>
            <a:r>
              <a:rPr lang="pt-BR" sz="2400" b="1" i="0" u="none" strike="noStrike" cap="none">
                <a:solidFill>
                  <a:srgbClr val="044982"/>
                </a:solidFill>
                <a:latin typeface="Lucida Sans"/>
                <a:ea typeface="Lucida Sans"/>
                <a:cs typeface="Lucida Sans"/>
                <a:sym typeface="Lucida Sans"/>
              </a:rPr>
              <a:t>Partes interessadas (stakeholders)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0"/>
          <p:cNvSpPr/>
          <p:nvPr/>
        </p:nvSpPr>
        <p:spPr>
          <a:xfrm>
            <a:off x="-57166" y="-38100"/>
            <a:ext cx="12476510" cy="7186164"/>
          </a:xfrm>
          <a:prstGeom prst="rect">
            <a:avLst/>
          </a:prstGeom>
          <a:solidFill>
            <a:srgbClr val="F5F5F5"/>
          </a:solidFill>
          <a:ln w="25400" cap="flat" cmpd="sng">
            <a:solidFill>
              <a:srgbClr val="F5F5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04" name="Google Shape;204;p20" descr="Screenshot 2025-04-01 at 08.51.4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20131" y="5570742"/>
            <a:ext cx="1395498" cy="1476396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0"/>
          <p:cNvSpPr/>
          <p:nvPr/>
        </p:nvSpPr>
        <p:spPr>
          <a:xfrm>
            <a:off x="-889000" y="-38100"/>
            <a:ext cx="13708021" cy="510361"/>
          </a:xfrm>
          <a:prstGeom prst="rect">
            <a:avLst/>
          </a:prstGeom>
          <a:solidFill>
            <a:srgbClr val="1B4582"/>
          </a:solidFill>
          <a:ln w="25400" cap="flat" cmpd="sng">
            <a:solidFill>
              <a:srgbClr val="1B45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6" name="Google Shape;206;p20"/>
          <p:cNvSpPr txBox="1"/>
          <p:nvPr/>
        </p:nvSpPr>
        <p:spPr>
          <a:xfrm>
            <a:off x="344319" y="124250"/>
            <a:ext cx="5151859" cy="287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pt-BR" sz="1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SENAC EAD</a:t>
            </a: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7" name="Google Shape;207;p20"/>
          <p:cNvSpPr/>
          <p:nvPr/>
        </p:nvSpPr>
        <p:spPr>
          <a:xfrm>
            <a:off x="-482600" y="475158"/>
            <a:ext cx="13590475" cy="70370"/>
          </a:xfrm>
          <a:prstGeom prst="rect">
            <a:avLst/>
          </a:prstGeom>
          <a:solidFill>
            <a:srgbClr val="E0923C"/>
          </a:solid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8" name="Google Shape;208;p20"/>
          <p:cNvSpPr txBox="1"/>
          <p:nvPr/>
        </p:nvSpPr>
        <p:spPr>
          <a:xfrm>
            <a:off x="3026872" y="46479"/>
            <a:ext cx="9288757" cy="276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r>
              <a:rPr lang="pt-BR" sz="12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PROJETO INTEGRADOR – DIAGNÓSTICO DE SOLUÇÕES DE TECNOLOGIA DA INFORMAÇÃO - </a:t>
            </a:r>
            <a:r>
              <a:rPr lang="pt-BR" sz="12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AÇÕES</a:t>
            </a:r>
            <a:r>
              <a:rPr lang="pt-BR" sz="12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EXTENSIONISTAS</a:t>
            </a:r>
            <a:endParaRPr sz="1800" b="1" i="0" u="none" strike="noStrike" cap="non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9" name="Google Shape;209;p20"/>
          <p:cNvSpPr txBox="1"/>
          <p:nvPr/>
        </p:nvSpPr>
        <p:spPr>
          <a:xfrm>
            <a:off x="416496" y="235775"/>
            <a:ext cx="84201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4982"/>
              </a:buClr>
              <a:buSzPts val="1400"/>
              <a:buFont typeface="Lucida Sans"/>
              <a:buNone/>
            </a:pPr>
            <a:r>
              <a:rPr lang="pt-BR" sz="2400" b="1" i="0" u="none" strike="noStrike" cap="none">
                <a:solidFill>
                  <a:srgbClr val="044982"/>
                </a:solidFill>
                <a:latin typeface="Lucida Sans"/>
                <a:ea typeface="Lucida Sans"/>
                <a:cs typeface="Lucida Sans"/>
                <a:sym typeface="Lucida Sans"/>
              </a:rPr>
              <a:t>Partes interessadas (stakeholders)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0"/>
          <p:cNvSpPr txBox="1"/>
          <p:nvPr/>
        </p:nvSpPr>
        <p:spPr>
          <a:xfrm>
            <a:off x="1847377" y="1600027"/>
            <a:ext cx="9001000" cy="4493538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pt-BR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Principais partes interessadas (stakeholders) de um projeto:</a:t>
            </a:r>
            <a:endParaRPr sz="1800" b="0" i="0" u="none" strike="noStrike" cap="none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▪"/>
            </a:pPr>
            <a:r>
              <a:rPr lang="pt-BR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Usuários: quem utilizará o produto do projeto.</a:t>
            </a:r>
            <a:endParaRPr sz="1800" b="0" i="0" u="none" strike="noStrike" cap="non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▪"/>
            </a:pPr>
            <a:r>
              <a:rPr lang="pt-BR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Consultores especializados: podem ou não fazer parte da equipe do projeto.</a:t>
            </a:r>
            <a:endParaRPr sz="1800" b="0" i="0" u="none" strike="noStrike" cap="non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▪"/>
            </a:pPr>
            <a:r>
              <a:rPr lang="pt-BR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Influenciadores: auditorias, legislação, sociedade e/ou órgãos reguladores.</a:t>
            </a:r>
            <a:endParaRPr sz="1800" b="0" i="0" u="none" strike="noStrike" cap="non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▪"/>
            </a:pPr>
            <a:r>
              <a:rPr lang="pt-BR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Clientes: apesar de não terem responsabilidade sobre a execução do projeto, têm grande interesse no produto final gerado por ele.</a:t>
            </a:r>
            <a:endParaRPr sz="1800" b="0" i="0" u="none" strike="noStrike" cap="non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▪"/>
            </a:pPr>
            <a:r>
              <a:rPr lang="pt-BR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Gerente do projeto: responsável pela condução, orquestração do projeto, pelo dia a dia do planejamento e sua execução e controle.</a:t>
            </a:r>
            <a:endParaRPr sz="1800" b="0" i="0" u="none" strike="noStrike" cap="non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▪"/>
            </a:pPr>
            <a:r>
              <a:rPr lang="pt-BR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Financiadores: responsáveis pelos recursos financeiros, pela provisão do capital necessário. Têm forte poder de influência. </a:t>
            </a:r>
            <a:endParaRPr sz="1800" b="0" i="0" u="none" strike="noStrike" cap="non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▪"/>
            </a:pPr>
            <a:r>
              <a:rPr lang="pt-BR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Patrocinador: indivíduos, grupos ou organizações que sustentam financeiramente e fornecem apoio político ao projeto; muito requisitado nas fases iniciais.</a:t>
            </a:r>
            <a:endParaRPr sz="1800" b="0" i="0" u="none" strike="noStrike" cap="non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1"/>
          <p:cNvSpPr/>
          <p:nvPr/>
        </p:nvSpPr>
        <p:spPr>
          <a:xfrm>
            <a:off x="-57166" y="-38100"/>
            <a:ext cx="12476510" cy="7186164"/>
          </a:xfrm>
          <a:prstGeom prst="rect">
            <a:avLst/>
          </a:prstGeom>
          <a:solidFill>
            <a:srgbClr val="F5F5F5"/>
          </a:solidFill>
          <a:ln w="25400" cap="flat" cmpd="sng">
            <a:solidFill>
              <a:srgbClr val="F5F5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16" name="Google Shape;216;p21" descr="Screenshot 2025-04-01 at 08.51.4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20131" y="5570742"/>
            <a:ext cx="1395498" cy="1476396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1"/>
          <p:cNvSpPr/>
          <p:nvPr/>
        </p:nvSpPr>
        <p:spPr>
          <a:xfrm>
            <a:off x="-889000" y="-38100"/>
            <a:ext cx="13708021" cy="510361"/>
          </a:xfrm>
          <a:prstGeom prst="rect">
            <a:avLst/>
          </a:prstGeom>
          <a:solidFill>
            <a:srgbClr val="1B4582"/>
          </a:solidFill>
          <a:ln w="25400" cap="flat" cmpd="sng">
            <a:solidFill>
              <a:srgbClr val="1B45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8" name="Google Shape;218;p21"/>
          <p:cNvSpPr txBox="1"/>
          <p:nvPr/>
        </p:nvSpPr>
        <p:spPr>
          <a:xfrm>
            <a:off x="344319" y="124250"/>
            <a:ext cx="5151859" cy="287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pt-BR" sz="1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SENAC EAD</a:t>
            </a: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9" name="Google Shape;219;p21"/>
          <p:cNvSpPr/>
          <p:nvPr/>
        </p:nvSpPr>
        <p:spPr>
          <a:xfrm>
            <a:off x="-482600" y="475158"/>
            <a:ext cx="13590475" cy="70370"/>
          </a:xfrm>
          <a:prstGeom prst="rect">
            <a:avLst/>
          </a:prstGeom>
          <a:solidFill>
            <a:srgbClr val="E0923C"/>
          </a:solid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0" name="Google Shape;220;p21"/>
          <p:cNvSpPr txBox="1"/>
          <p:nvPr/>
        </p:nvSpPr>
        <p:spPr>
          <a:xfrm>
            <a:off x="3026872" y="46479"/>
            <a:ext cx="9288757" cy="276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r>
              <a:rPr lang="pt-BR" sz="12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PROJETO INTEGRADOR – DIAGNÓSTICO DE SOLUÇÕES DE TECNOLOGIA DA INFORMAÇÃO - </a:t>
            </a:r>
            <a:r>
              <a:rPr lang="pt-BR" sz="12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AÇÕES</a:t>
            </a:r>
            <a:r>
              <a:rPr lang="pt-BR" sz="12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EXTENSIONISTAS</a:t>
            </a:r>
            <a:endParaRPr sz="1800" b="1" i="0" u="none" strike="noStrike" cap="non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1" name="Google Shape;221;p21"/>
          <p:cNvSpPr txBox="1"/>
          <p:nvPr/>
        </p:nvSpPr>
        <p:spPr>
          <a:xfrm>
            <a:off x="1411070" y="1442730"/>
            <a:ext cx="9216900" cy="45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0" i="0" u="none" strike="noStrike" cap="none">
                <a:solidFill>
                  <a:schemeClr val="dk1"/>
                </a:solidFill>
                <a:highlight>
                  <a:srgbClr val="FFCC99"/>
                </a:highlight>
                <a:latin typeface="Arial"/>
                <a:ea typeface="Arial"/>
                <a:cs typeface="Arial"/>
                <a:sym typeface="Arial"/>
              </a:rPr>
              <a:t>#DICAS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just" rtl="0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1200"/>
              <a:buFont typeface="Noto Sans Symbols"/>
              <a:buChar char="▪"/>
            </a:pPr>
            <a:r>
              <a:rPr lang="pt-BR" sz="1800" b="0" i="0" u="none" strike="noStrike" cap="none">
                <a:solidFill>
                  <a:schemeClr val="dk1"/>
                </a:solidFill>
                <a:highlight>
                  <a:srgbClr val="FFCC99"/>
                </a:highlight>
                <a:latin typeface="Arial"/>
                <a:ea typeface="Arial"/>
                <a:cs typeface="Arial"/>
                <a:sym typeface="Arial"/>
              </a:rPr>
              <a:t>Imagens</a:t>
            </a:r>
            <a:r>
              <a:rPr lang="pt-BR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sempre são bem vindas!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just" rtl="0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1200"/>
              <a:buFont typeface="Noto Sans Symbols"/>
              <a:buChar char="▪"/>
            </a:pPr>
            <a:r>
              <a:rPr lang="pt-BR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Cuidado com as </a:t>
            </a:r>
            <a:r>
              <a:rPr lang="pt-BR" sz="1800" b="0" i="0" u="none" strike="noStrike" cap="none">
                <a:solidFill>
                  <a:schemeClr val="dk1"/>
                </a:solidFill>
                <a:highlight>
                  <a:srgbClr val="FFCC99"/>
                </a:highlight>
                <a:latin typeface="Arial"/>
                <a:ea typeface="Arial"/>
                <a:cs typeface="Arial"/>
                <a:sym typeface="Arial"/>
              </a:rPr>
              <a:t>referências</a:t>
            </a:r>
            <a:r>
              <a:rPr lang="pt-BR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de onde estão vindo as informações?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just" rtl="0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1200"/>
              <a:buFont typeface="Noto Sans Symbols"/>
              <a:buChar char="▪"/>
            </a:pPr>
            <a:r>
              <a:rPr lang="pt-BR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Pesquise, levante, pergunte: a solução tem que ser centrada em </a:t>
            </a:r>
            <a:r>
              <a:rPr lang="pt-BR" sz="1800" b="0" i="0" u="none" strike="noStrike" cap="none">
                <a:solidFill>
                  <a:schemeClr val="dk1"/>
                </a:solidFill>
                <a:highlight>
                  <a:srgbClr val="FFCC99"/>
                </a:highlight>
                <a:latin typeface="Arial"/>
                <a:ea typeface="Arial"/>
                <a:cs typeface="Arial"/>
                <a:sym typeface="Arial"/>
              </a:rPr>
              <a:t>pessoas</a:t>
            </a:r>
            <a:r>
              <a:rPr lang="pt-BR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Por isso, é necessário </a:t>
            </a:r>
            <a:r>
              <a:rPr lang="pt-BR" sz="1800" b="0" i="0" u="none" strike="noStrike" cap="none">
                <a:solidFill>
                  <a:schemeClr val="dk1"/>
                </a:solidFill>
                <a:highlight>
                  <a:srgbClr val="FFCC99"/>
                </a:highlight>
                <a:latin typeface="Arial"/>
                <a:ea typeface="Arial"/>
                <a:cs typeface="Arial"/>
                <a:sym typeface="Arial"/>
              </a:rPr>
              <a:t>dialogar</a:t>
            </a:r>
            <a:r>
              <a:rPr lang="pt-BR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entender as dores/problemas e potencialidades.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04800" algn="just" rtl="0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1200"/>
              <a:buFont typeface="Noto Sans Symbols"/>
              <a:buChar char="▪"/>
            </a:pPr>
            <a:r>
              <a:rPr lang="pt-BR" sz="1800" b="0" i="0" u="none" strike="noStrike" cap="none">
                <a:solidFill>
                  <a:schemeClr val="dk1"/>
                </a:solidFill>
                <a:highlight>
                  <a:srgbClr val="00FFFF"/>
                </a:highlight>
                <a:latin typeface="Arial"/>
                <a:ea typeface="Arial"/>
                <a:cs typeface="Arial"/>
                <a:sym typeface="Arial"/>
              </a:rPr>
              <a:t>Questionário avaliativo:</a:t>
            </a:r>
            <a:r>
              <a:rPr lang="pt-BR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na primeira etapa do projeto também será disponibilizado o questionário avaliativo. A participação é muito importante e a nota é individual.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2" name="Google Shape;222;p21" descr="icone-dicas-extras | Projeto Sakura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043918" y="1154698"/>
            <a:ext cx="1184920" cy="1184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4"/>
          <p:cNvSpPr/>
          <p:nvPr/>
        </p:nvSpPr>
        <p:spPr>
          <a:xfrm>
            <a:off x="-76201" y="-165101"/>
            <a:ext cx="12476510" cy="7186164"/>
          </a:xfrm>
          <a:prstGeom prst="rect">
            <a:avLst/>
          </a:prstGeom>
          <a:solidFill>
            <a:srgbClr val="F5F5F5"/>
          </a:solidFill>
          <a:ln w="25400" cap="flat" cmpd="sng">
            <a:solidFill>
              <a:srgbClr val="F5F5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28" name="Google Shape;228;p14" descr="Screenshot 2025-04-01 at 08.51.4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20131" y="5570742"/>
            <a:ext cx="1395498" cy="1476396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14"/>
          <p:cNvSpPr/>
          <p:nvPr/>
        </p:nvSpPr>
        <p:spPr>
          <a:xfrm>
            <a:off x="-889000" y="-38100"/>
            <a:ext cx="13708021" cy="510361"/>
          </a:xfrm>
          <a:prstGeom prst="rect">
            <a:avLst/>
          </a:prstGeom>
          <a:solidFill>
            <a:srgbClr val="1B4582"/>
          </a:solidFill>
          <a:ln w="25400" cap="flat" cmpd="sng">
            <a:solidFill>
              <a:srgbClr val="1B45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0" name="Google Shape;230;p14"/>
          <p:cNvSpPr txBox="1"/>
          <p:nvPr/>
        </p:nvSpPr>
        <p:spPr>
          <a:xfrm>
            <a:off x="344319" y="124250"/>
            <a:ext cx="5151859" cy="287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pt-BR" sz="1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SENAC EAD</a:t>
            </a: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1" name="Google Shape;231;p14"/>
          <p:cNvSpPr/>
          <p:nvPr/>
        </p:nvSpPr>
        <p:spPr>
          <a:xfrm>
            <a:off x="-482600" y="475158"/>
            <a:ext cx="13590475" cy="70370"/>
          </a:xfrm>
          <a:prstGeom prst="rect">
            <a:avLst/>
          </a:prstGeom>
          <a:solidFill>
            <a:srgbClr val="E0923C"/>
          </a:solid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2" name="Google Shape;232;p14"/>
          <p:cNvSpPr txBox="1"/>
          <p:nvPr/>
        </p:nvSpPr>
        <p:spPr>
          <a:xfrm>
            <a:off x="3026872" y="46479"/>
            <a:ext cx="9288757" cy="276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r>
              <a:rPr lang="pt-BR" sz="12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PROJETO INTEGRADOR – DIAGNÓSTICO DE SOLUÇÕES DE TECNOLOGIA DA INFORMAÇÃO - </a:t>
            </a:r>
            <a:r>
              <a:rPr lang="pt-BR" sz="12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AÇÕES</a:t>
            </a:r>
            <a:r>
              <a:rPr lang="pt-BR" sz="12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EXTENSIONISTAS</a:t>
            </a:r>
            <a:endParaRPr sz="1800" b="1" i="0" u="none" strike="noStrike" cap="non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3" name="Google Shape;233;p14"/>
          <p:cNvSpPr txBox="1"/>
          <p:nvPr/>
        </p:nvSpPr>
        <p:spPr>
          <a:xfrm>
            <a:off x="1704125" y="3418443"/>
            <a:ext cx="707223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0" i="0" u="none" strike="noStrike" cap="none">
                <a:solidFill>
                  <a:schemeClr val="dk1"/>
                </a:solidFill>
                <a:highlight>
                  <a:srgbClr val="FFCC99"/>
                </a:highlight>
                <a:latin typeface="Arial"/>
                <a:ea typeface="Arial"/>
                <a:cs typeface="Arial"/>
                <a:sym typeface="Arial"/>
              </a:rPr>
              <a:t>Explorando o </a:t>
            </a:r>
            <a:r>
              <a:rPr lang="pt-BR" sz="2400" b="0" i="1" u="none" strike="noStrike" cap="none">
                <a:solidFill>
                  <a:schemeClr val="dk1"/>
                </a:solidFill>
                <a:highlight>
                  <a:srgbClr val="FFCC99"/>
                </a:highlight>
                <a:latin typeface="Arial"/>
                <a:ea typeface="Arial"/>
                <a:cs typeface="Arial"/>
                <a:sym typeface="Arial"/>
              </a:rPr>
              <a:t>template</a:t>
            </a:r>
            <a:r>
              <a:rPr lang="pt-BR" sz="2400" b="0" i="0" u="none" strike="noStrike" cap="none">
                <a:solidFill>
                  <a:schemeClr val="dk1"/>
                </a:solidFill>
                <a:highlight>
                  <a:srgbClr val="FFCC99"/>
                </a:highlight>
                <a:latin typeface="Arial"/>
                <a:ea typeface="Arial"/>
                <a:cs typeface="Arial"/>
                <a:sym typeface="Arial"/>
              </a:rPr>
              <a:t> de entrega</a:t>
            </a:r>
            <a:endParaRPr sz="2400" b="0" i="0" u="none" strike="noStrike" cap="none">
              <a:solidFill>
                <a:schemeClr val="dk1"/>
              </a:solidFill>
              <a:highlight>
                <a:srgbClr val="FFCC99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4" name="Google Shape;234;p14" descr="ícone De Linha De Lupa Vetor PNG , Procurar, Achar, Vidro Imagem PNG e Vetor  Para Download Gratuito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83248" y="2842374"/>
            <a:ext cx="2075468" cy="20754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03;p20">
            <a:extLst>
              <a:ext uri="{FF2B5EF4-FFF2-40B4-BE49-F238E27FC236}">
                <a16:creationId xmlns:a16="http://schemas.microsoft.com/office/drawing/2014/main" id="{5F29A118-9994-1EB7-4D24-BA6B0ECAD93F}"/>
              </a:ext>
            </a:extLst>
          </p:cNvPr>
          <p:cNvSpPr/>
          <p:nvPr/>
        </p:nvSpPr>
        <p:spPr>
          <a:xfrm>
            <a:off x="-284510" y="0"/>
            <a:ext cx="12476510" cy="7186164"/>
          </a:xfrm>
          <a:prstGeom prst="rect">
            <a:avLst/>
          </a:prstGeom>
          <a:solidFill>
            <a:srgbClr val="F5F5F5"/>
          </a:solidFill>
          <a:ln w="25400" cap="flat" cmpd="sng">
            <a:solidFill>
              <a:srgbClr val="F5F5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9" name="Google Shape;204;p20" descr="Screenshot 2025-04-01 at 08.51.42.png">
            <a:extLst>
              <a:ext uri="{FF2B5EF4-FFF2-40B4-BE49-F238E27FC236}">
                <a16:creationId xmlns:a16="http://schemas.microsoft.com/office/drawing/2014/main" id="{D81DEDD3-1A2D-C9E8-B4AB-8EEA5D78812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692787" y="5608842"/>
            <a:ext cx="1395498" cy="1476396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C2BDA23A-1AC2-CE85-0F3D-61840FBC2DD0}"/>
              </a:ext>
            </a:extLst>
          </p:cNvPr>
          <p:cNvSpPr txBox="1"/>
          <p:nvPr/>
        </p:nvSpPr>
        <p:spPr>
          <a:xfrm>
            <a:off x="0" y="440160"/>
            <a:ext cx="1187516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>
                <a:effectLst/>
              </a:rPr>
              <a:t>Como usar o Plano de Ensino no projeto</a:t>
            </a:r>
          </a:p>
          <a:p>
            <a:pPr>
              <a:buNone/>
            </a:pPr>
            <a:endParaRPr lang="pt-BR" b="1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BR" dirty="0">
                <a:effectLst/>
              </a:rPr>
              <a:t> Objetivo do PI: diagnosticar processos/demandas reais de uma organização e propor/avaliar soluções de TI com interação extensionista (comunidade/mercado).</a:t>
            </a:r>
          </a:p>
          <a:p>
            <a:pPr>
              <a:buFont typeface="Arial" panose="020B0604020202020204" pitchFamily="34" charset="0"/>
              <a:buChar char="•"/>
            </a:pPr>
            <a:endParaRPr lang="pt-BR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BR" dirty="0">
                <a:effectLst/>
              </a:rPr>
              <a:t> Entregas previstas no plano: Versão preliminar do projeto → Versão final do projeto (avaliação conforme Manual do PI).</a:t>
            </a:r>
          </a:p>
          <a:p>
            <a:pPr>
              <a:buFont typeface="Arial" panose="020B0604020202020204" pitchFamily="34" charset="0"/>
              <a:buChar char="•"/>
            </a:pPr>
            <a:endParaRPr lang="pt-BR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BR" dirty="0">
                <a:effectLst/>
              </a:rPr>
              <a:t> O que seu grupo precisa produzir: 1) Relatório diagnóstico estruturado, 2) Apresentação-síntese (</a:t>
            </a:r>
            <a:r>
              <a:rPr lang="pt-BR" dirty="0" err="1">
                <a:effectLst/>
              </a:rPr>
              <a:t>pitch</a:t>
            </a:r>
            <a:r>
              <a:rPr lang="pt-BR" dirty="0">
                <a:effectLst/>
              </a:rPr>
              <a:t> 5–7 slides), 3) Evidências de campo (entrevista/visita, dados, prints/demos/autorização quando aplicável).</a:t>
            </a:r>
          </a:p>
        </p:txBody>
      </p:sp>
    </p:spTree>
    <p:extLst>
      <p:ext uri="{BB962C8B-B14F-4D97-AF65-F5344CB8AC3E}">
        <p14:creationId xmlns:p14="http://schemas.microsoft.com/office/powerpoint/2010/main" val="7890251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A7F11-8ABC-29E8-9E1D-270F9DC40D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203;p20">
            <a:extLst>
              <a:ext uri="{FF2B5EF4-FFF2-40B4-BE49-F238E27FC236}">
                <a16:creationId xmlns:a16="http://schemas.microsoft.com/office/drawing/2014/main" id="{1B27ADCB-2703-8854-887A-8A7E9F08C995}"/>
              </a:ext>
            </a:extLst>
          </p:cNvPr>
          <p:cNvSpPr/>
          <p:nvPr/>
        </p:nvSpPr>
        <p:spPr>
          <a:xfrm>
            <a:off x="-132110" y="152400"/>
            <a:ext cx="12476510" cy="7186164"/>
          </a:xfrm>
          <a:prstGeom prst="rect">
            <a:avLst/>
          </a:prstGeom>
          <a:solidFill>
            <a:srgbClr val="F5F5F5"/>
          </a:solidFill>
          <a:ln w="25400" cap="flat" cmpd="sng">
            <a:solidFill>
              <a:srgbClr val="F5F5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5" name="Google Shape;204;p20" descr="Screenshot 2025-04-01 at 08.51.42.png">
            <a:extLst>
              <a:ext uri="{FF2B5EF4-FFF2-40B4-BE49-F238E27FC236}">
                <a16:creationId xmlns:a16="http://schemas.microsoft.com/office/drawing/2014/main" id="{64E58FC8-20CF-5AEA-EB79-C450D453065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45187" y="5761242"/>
            <a:ext cx="1395498" cy="1476396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203;p20">
            <a:extLst>
              <a:ext uri="{FF2B5EF4-FFF2-40B4-BE49-F238E27FC236}">
                <a16:creationId xmlns:a16="http://schemas.microsoft.com/office/drawing/2014/main" id="{2FDF74ED-1929-02B7-5971-44BF9C30AFC4}"/>
              </a:ext>
            </a:extLst>
          </p:cNvPr>
          <p:cNvSpPr/>
          <p:nvPr/>
        </p:nvSpPr>
        <p:spPr>
          <a:xfrm>
            <a:off x="-284510" y="0"/>
            <a:ext cx="12476510" cy="7186164"/>
          </a:xfrm>
          <a:prstGeom prst="rect">
            <a:avLst/>
          </a:prstGeom>
          <a:solidFill>
            <a:srgbClr val="F5F5F5"/>
          </a:solidFill>
          <a:ln w="25400" cap="flat" cmpd="sng">
            <a:solidFill>
              <a:srgbClr val="F5F5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3" name="Google Shape;204;p20" descr="Screenshot 2025-04-01 at 08.51.42.png">
            <a:extLst>
              <a:ext uri="{FF2B5EF4-FFF2-40B4-BE49-F238E27FC236}">
                <a16:creationId xmlns:a16="http://schemas.microsoft.com/office/drawing/2014/main" id="{6DF48695-5730-FDF7-287C-606D1DC09E3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692787" y="5608842"/>
            <a:ext cx="1395498" cy="1476396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6C2738E7-9C63-B3AF-1729-1636DE4574E1}"/>
              </a:ext>
            </a:extLst>
          </p:cNvPr>
          <p:cNvSpPr txBox="1"/>
          <p:nvPr/>
        </p:nvSpPr>
        <p:spPr>
          <a:xfrm>
            <a:off x="171450" y="327375"/>
            <a:ext cx="609399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b="1" dirty="0"/>
              <a:t>Roteiro de entrega do estudante 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67C789A6-24B6-C120-6A2D-4CC5D79492CE}"/>
              </a:ext>
            </a:extLst>
          </p:cNvPr>
          <p:cNvSpPr txBox="1"/>
          <p:nvPr/>
        </p:nvSpPr>
        <p:spPr>
          <a:xfrm>
            <a:off x="171450" y="1247961"/>
            <a:ext cx="12020550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+mj-lt"/>
              <a:buAutoNum type="arabicPeriod"/>
            </a:pPr>
            <a:r>
              <a:rPr lang="pt-BR" sz="2000" dirty="0">
                <a:effectLst/>
              </a:rPr>
              <a:t>Identificação da organização</a:t>
            </a:r>
          </a:p>
          <a:p>
            <a:pPr>
              <a:buFont typeface="+mj-lt"/>
              <a:buAutoNum type="arabicPeriod"/>
            </a:pPr>
            <a:endParaRPr lang="pt-BR" sz="2000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BR" sz="2000" dirty="0">
                <a:effectLst/>
              </a:rPr>
              <a:t>Nome, ano de fundação, sede, porte, atuação.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000" dirty="0">
                <a:effectLst/>
              </a:rPr>
              <a:t>Exemplo (ERP): “Sigma ERP, 2008, SP, 450 colaboradores, </a:t>
            </a:r>
            <a:r>
              <a:rPr lang="pt-BR" sz="2000" dirty="0" err="1">
                <a:effectLst/>
              </a:rPr>
              <a:t>LatAm</a:t>
            </a:r>
            <a:r>
              <a:rPr lang="pt-BR" sz="2000" dirty="0">
                <a:effectLst/>
              </a:rPr>
              <a:t>.”</a:t>
            </a:r>
          </a:p>
          <a:p>
            <a:pPr>
              <a:buFont typeface="Arial" panose="020B0604020202020204" pitchFamily="34" charset="0"/>
              <a:buChar char="•"/>
            </a:pPr>
            <a:endParaRPr lang="pt-BR" sz="2000" dirty="0">
              <a:effectLst/>
            </a:endParaRPr>
          </a:p>
          <a:p>
            <a:pPr>
              <a:buFont typeface="+mj-lt"/>
              <a:buAutoNum type="arabicPeriod" startAt="2"/>
            </a:pPr>
            <a:r>
              <a:rPr lang="pt-BR" sz="2000" dirty="0">
                <a:effectLst/>
              </a:rPr>
              <a:t>Contexto e dor do cliente (diagnóstico)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000" dirty="0">
                <a:effectLst/>
              </a:rPr>
              <a:t>Processo/área afetada, sintomas (retrabalho, SLA, custo, segurança), impacto no negócio.</a:t>
            </a:r>
          </a:p>
          <a:p>
            <a:pPr>
              <a:buFont typeface="Arial" panose="020B0604020202020204" pitchFamily="34" charset="0"/>
              <a:buChar char="•"/>
            </a:pPr>
            <a:endParaRPr lang="pt-BR" sz="2000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BR" sz="2000" dirty="0">
                <a:effectLst/>
              </a:rPr>
              <a:t>Exemplo (</a:t>
            </a:r>
            <a:r>
              <a:rPr lang="pt-BR" sz="2000" dirty="0" err="1">
                <a:effectLst/>
              </a:rPr>
              <a:t>Ciber</a:t>
            </a:r>
            <a:r>
              <a:rPr lang="pt-BR" sz="2000" dirty="0">
                <a:effectLst/>
              </a:rPr>
              <a:t>): “Incidentes de </a:t>
            </a:r>
            <a:r>
              <a:rPr lang="pt-BR" sz="2000" dirty="0" err="1">
                <a:effectLst/>
              </a:rPr>
              <a:t>phishing</a:t>
            </a:r>
            <a:r>
              <a:rPr lang="pt-BR" sz="2000" dirty="0">
                <a:effectLst/>
              </a:rPr>
              <a:t> recorrentes (</a:t>
            </a:r>
            <a:r>
              <a:rPr lang="pt-BR" sz="2000" dirty="0"/>
              <a:t>tentativas maliciosas de criminosos cibernéticos para enganar pessoas) ; MTTR alto; risco de parada.”</a:t>
            </a:r>
          </a:p>
          <a:p>
            <a:pPr>
              <a:buFont typeface="Arial" panose="020B0604020202020204" pitchFamily="34" charset="0"/>
              <a:buChar char="•"/>
            </a:pPr>
            <a:endParaRPr lang="pt-BR" sz="2000" dirty="0">
              <a:effectLst/>
            </a:endParaRPr>
          </a:p>
          <a:p>
            <a:pPr>
              <a:buFont typeface="+mj-lt"/>
              <a:buAutoNum type="arabicPeriod" startAt="3"/>
            </a:pPr>
            <a:r>
              <a:rPr lang="pt-BR" sz="2000" dirty="0">
                <a:effectLst/>
              </a:rPr>
              <a:t>Proposta de valor da empresa de TI</a:t>
            </a:r>
          </a:p>
          <a:p>
            <a:pPr>
              <a:buFont typeface="+mj-lt"/>
              <a:buAutoNum type="arabicPeriod" startAt="3"/>
            </a:pPr>
            <a:endParaRPr lang="pt-BR" sz="2000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BR" sz="2000" dirty="0">
                <a:effectLst/>
              </a:rPr>
              <a:t>Frase clara: problema-alvo + benefício mensurável + como entrega.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000" dirty="0">
                <a:effectLst/>
              </a:rPr>
              <a:t>Exemplo (</a:t>
            </a:r>
            <a:r>
              <a:rPr lang="pt-BR" sz="2000" dirty="0" err="1">
                <a:effectLst/>
              </a:rPr>
              <a:t>HealthTech</a:t>
            </a:r>
            <a:r>
              <a:rPr lang="pt-BR" sz="2000" dirty="0">
                <a:effectLst/>
              </a:rPr>
              <a:t>): “Reduz no-show em clínicas em até 20% via lembretes e teleconsulta.”</a:t>
            </a:r>
          </a:p>
        </p:txBody>
      </p:sp>
    </p:spTree>
    <p:extLst>
      <p:ext uri="{BB962C8B-B14F-4D97-AF65-F5344CB8AC3E}">
        <p14:creationId xmlns:p14="http://schemas.microsoft.com/office/powerpoint/2010/main" val="17121206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EE701-1DED-8CD3-DB94-76ED9A4B7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203;p20">
            <a:extLst>
              <a:ext uri="{FF2B5EF4-FFF2-40B4-BE49-F238E27FC236}">
                <a16:creationId xmlns:a16="http://schemas.microsoft.com/office/drawing/2014/main" id="{CF9B238C-464A-1C7B-A0E0-03EAF17FFEC0}"/>
              </a:ext>
            </a:extLst>
          </p:cNvPr>
          <p:cNvSpPr/>
          <p:nvPr/>
        </p:nvSpPr>
        <p:spPr>
          <a:xfrm>
            <a:off x="-132110" y="152400"/>
            <a:ext cx="12476510" cy="7186164"/>
          </a:xfrm>
          <a:prstGeom prst="rect">
            <a:avLst/>
          </a:prstGeom>
          <a:solidFill>
            <a:srgbClr val="F5F5F5"/>
          </a:solidFill>
          <a:ln w="25400" cap="flat" cmpd="sng">
            <a:solidFill>
              <a:srgbClr val="F5F5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" name="Google Shape;203;p20">
            <a:extLst>
              <a:ext uri="{FF2B5EF4-FFF2-40B4-BE49-F238E27FC236}">
                <a16:creationId xmlns:a16="http://schemas.microsoft.com/office/drawing/2014/main" id="{196AA395-7064-A072-AAED-6D8D12778071}"/>
              </a:ext>
            </a:extLst>
          </p:cNvPr>
          <p:cNvSpPr/>
          <p:nvPr/>
        </p:nvSpPr>
        <p:spPr>
          <a:xfrm>
            <a:off x="-284510" y="0"/>
            <a:ext cx="12476510" cy="7186164"/>
          </a:xfrm>
          <a:prstGeom prst="rect">
            <a:avLst/>
          </a:prstGeom>
          <a:solidFill>
            <a:srgbClr val="F5F5F5"/>
          </a:solidFill>
          <a:ln w="25400" cap="flat" cmpd="sng">
            <a:solidFill>
              <a:srgbClr val="F5F5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9" name="Google Shape;204;p20" descr="Screenshot 2025-04-01 at 08.51.42.png">
            <a:extLst>
              <a:ext uri="{FF2B5EF4-FFF2-40B4-BE49-F238E27FC236}">
                <a16:creationId xmlns:a16="http://schemas.microsoft.com/office/drawing/2014/main" id="{5A1B62EF-2F1C-1038-A1E6-4F1DEAE6EB9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692787" y="5608842"/>
            <a:ext cx="1395498" cy="1476396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7DDC7A78-CE2C-4417-0C65-5006F5EA566A}"/>
              </a:ext>
            </a:extLst>
          </p:cNvPr>
          <p:cNvSpPr txBox="1"/>
          <p:nvPr/>
        </p:nvSpPr>
        <p:spPr>
          <a:xfrm>
            <a:off x="2005" y="253278"/>
            <a:ext cx="12029573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Font typeface="+mj-lt"/>
              <a:buAutoNum type="arabicPeriod" startAt="4"/>
            </a:pPr>
            <a:r>
              <a:rPr lang="pt-BR" sz="2000" dirty="0">
                <a:effectLst/>
              </a:rPr>
              <a:t>Portfólio de soluções</a:t>
            </a:r>
          </a:p>
          <a:p>
            <a:pPr algn="just">
              <a:buFont typeface="+mj-lt"/>
              <a:buAutoNum type="arabicPeriod" startAt="4"/>
            </a:pPr>
            <a:endParaRPr lang="pt-BR" sz="2000" dirty="0">
              <a:effectLst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pt-BR" sz="2000" dirty="0">
                <a:effectLst/>
              </a:rPr>
              <a:t>Produtos/serviços, planos, integrações críticas, </a:t>
            </a:r>
            <a:r>
              <a:rPr lang="pt-BR" sz="2000" dirty="0" err="1">
                <a:effectLst/>
              </a:rPr>
              <a:t>SLAs</a:t>
            </a:r>
            <a:r>
              <a:rPr lang="pt-BR" sz="2000" dirty="0">
                <a:effectLst/>
              </a:rPr>
              <a:t>, implantação/suporte.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pt-BR" sz="2000" dirty="0">
                <a:effectLst/>
              </a:rPr>
              <a:t>Exemplo (ERP): “Módulos Financeiro/Fiscal/Vendas + app mobile; </a:t>
            </a:r>
            <a:r>
              <a:rPr lang="pt-BR" sz="2000" dirty="0" err="1">
                <a:effectLst/>
              </a:rPr>
              <a:t>onboarding</a:t>
            </a:r>
            <a:r>
              <a:rPr lang="pt-BR" sz="2000" dirty="0">
                <a:effectLst/>
              </a:rPr>
              <a:t> em ondas.”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pt-BR" sz="2000" dirty="0">
              <a:effectLst/>
            </a:endParaRPr>
          </a:p>
          <a:p>
            <a:pPr algn="just">
              <a:buFont typeface="+mj-lt"/>
              <a:buAutoNum type="arabicPeriod" startAt="5"/>
            </a:pPr>
            <a:r>
              <a:rPr lang="pt-BR" sz="2000" dirty="0">
                <a:effectLst/>
              </a:rPr>
              <a:t>Modelo de negócio e precificação</a:t>
            </a:r>
          </a:p>
          <a:p>
            <a:pPr algn="just">
              <a:buFont typeface="+mj-lt"/>
              <a:buAutoNum type="arabicPeriod" startAt="5"/>
            </a:pPr>
            <a:endParaRPr lang="pt-BR" sz="2000" dirty="0">
              <a:effectLst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pt-BR" sz="2000" dirty="0">
                <a:effectLst/>
              </a:rPr>
              <a:t>Assinatura/licença/serviços; ticket médio; ciclo de vendas típico.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pt-BR" sz="2000" dirty="0">
                <a:effectLst/>
              </a:rPr>
              <a:t>Exemplo (MSP/Cloud): “Mensal por usuário/</a:t>
            </a:r>
            <a:r>
              <a:rPr lang="pt-BR" sz="2000" dirty="0" err="1">
                <a:effectLst/>
              </a:rPr>
              <a:t>endpoint</a:t>
            </a:r>
            <a:r>
              <a:rPr lang="pt-BR" sz="2000" dirty="0">
                <a:effectLst/>
              </a:rPr>
              <a:t>; add-ons de backup e MDM.”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pt-BR" sz="2000" dirty="0">
              <a:effectLst/>
            </a:endParaRPr>
          </a:p>
          <a:p>
            <a:pPr algn="just">
              <a:buFont typeface="+mj-lt"/>
              <a:buAutoNum type="arabicPeriod" startAt="6"/>
            </a:pPr>
            <a:r>
              <a:rPr lang="pt-BR" sz="2000" dirty="0">
                <a:effectLst/>
              </a:rPr>
              <a:t>Público-alvo e personas </a:t>
            </a:r>
            <a:r>
              <a:rPr lang="pt-BR" sz="2000" dirty="0" err="1">
                <a:effectLst/>
              </a:rPr>
              <a:t>decisoras</a:t>
            </a:r>
            <a:endParaRPr lang="pt-BR" sz="2000" dirty="0">
              <a:effectLst/>
            </a:endParaRPr>
          </a:p>
          <a:p>
            <a:pPr algn="just">
              <a:buFont typeface="+mj-lt"/>
              <a:buAutoNum type="arabicPeriod" startAt="6"/>
            </a:pPr>
            <a:endParaRPr lang="pt-BR" sz="2000" dirty="0">
              <a:effectLst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pt-BR" sz="2000" dirty="0">
                <a:effectLst/>
              </a:rPr>
              <a:t>Setor, porte, função </a:t>
            </a:r>
            <a:r>
              <a:rPr lang="pt-BR" sz="2000" dirty="0" err="1">
                <a:effectLst/>
              </a:rPr>
              <a:t>decisora</a:t>
            </a:r>
            <a:r>
              <a:rPr lang="pt-BR" sz="2000" dirty="0">
                <a:effectLst/>
              </a:rPr>
              <a:t> (CIO, CFO, Diretor Clínico), critérios de compra.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pt-BR" sz="2000" dirty="0">
                <a:effectLst/>
              </a:rPr>
              <a:t>Exemplo (</a:t>
            </a:r>
            <a:r>
              <a:rPr lang="pt-BR" sz="2000" dirty="0" err="1">
                <a:effectLst/>
              </a:rPr>
              <a:t>Ciber</a:t>
            </a:r>
            <a:r>
              <a:rPr lang="pt-BR" sz="2000" dirty="0">
                <a:effectLst/>
              </a:rPr>
              <a:t>): “</a:t>
            </a:r>
            <a:r>
              <a:rPr lang="pt-BR" sz="2000" dirty="0" err="1">
                <a:effectLst/>
              </a:rPr>
              <a:t>PMEs</a:t>
            </a:r>
            <a:r>
              <a:rPr lang="pt-BR" sz="2000" dirty="0">
                <a:effectLst/>
              </a:rPr>
              <a:t> reguladas; decisor CIO/CSO; exigência LGPD/ISO.”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pt-BR" sz="2000" dirty="0">
              <a:effectLst/>
            </a:endParaRPr>
          </a:p>
          <a:p>
            <a:pPr algn="just">
              <a:buFont typeface="+mj-lt"/>
              <a:buAutoNum type="arabicPeriod" startAt="7"/>
            </a:pPr>
            <a:r>
              <a:rPr lang="pt-BR" sz="2000" dirty="0">
                <a:effectLst/>
              </a:rPr>
              <a:t>Stack tecnológica e integrações</a:t>
            </a:r>
          </a:p>
          <a:p>
            <a:pPr algn="just">
              <a:buFont typeface="+mj-lt"/>
              <a:buAutoNum type="arabicPeriod" startAt="7"/>
            </a:pPr>
            <a:endParaRPr lang="pt-BR" sz="2000" dirty="0">
              <a:effectLst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pt-BR" sz="2000" dirty="0">
                <a:effectLst/>
              </a:rPr>
              <a:t>Linguagens, nuvem, banco, APIs, padrões (OAuth2, FHIR/HL7), </a:t>
            </a:r>
            <a:r>
              <a:rPr lang="pt-BR" sz="2000" dirty="0" err="1">
                <a:effectLst/>
              </a:rPr>
              <a:t>observabilidade</a:t>
            </a:r>
            <a:r>
              <a:rPr lang="pt-BR" sz="2000" dirty="0">
                <a:effectLst/>
              </a:rPr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pt-BR" sz="2000" dirty="0">
                <a:effectLst/>
              </a:rPr>
              <a:t>Exemplo (</a:t>
            </a:r>
            <a:r>
              <a:rPr lang="pt-BR" sz="2000" dirty="0" err="1">
                <a:effectLst/>
              </a:rPr>
              <a:t>HealthTech</a:t>
            </a:r>
            <a:r>
              <a:rPr lang="pt-BR" sz="2000" dirty="0">
                <a:effectLst/>
              </a:rPr>
              <a:t>): “Node/</a:t>
            </a:r>
            <a:r>
              <a:rPr lang="pt-BR" sz="2000" dirty="0" err="1">
                <a:effectLst/>
              </a:rPr>
              <a:t>React</a:t>
            </a:r>
            <a:r>
              <a:rPr lang="pt-BR" sz="2000" dirty="0">
                <a:effectLst/>
              </a:rPr>
              <a:t>, PostgreSQL, GCP, FHIR/HL7, criptografia E2E.”</a:t>
            </a:r>
          </a:p>
        </p:txBody>
      </p:sp>
      <p:pic>
        <p:nvPicPr>
          <p:cNvPr id="11" name="Google Shape;204;p20" descr="Screenshot 2025-04-01 at 08.51.42.png">
            <a:extLst>
              <a:ext uri="{FF2B5EF4-FFF2-40B4-BE49-F238E27FC236}">
                <a16:creationId xmlns:a16="http://schemas.microsoft.com/office/drawing/2014/main" id="{977F2DDE-6EDA-E6F2-CE37-452736B0F29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45187" y="5761242"/>
            <a:ext cx="1395498" cy="14763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706394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4B7506-0C75-90BC-EE64-D4F7723B6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03;p20">
            <a:extLst>
              <a:ext uri="{FF2B5EF4-FFF2-40B4-BE49-F238E27FC236}">
                <a16:creationId xmlns:a16="http://schemas.microsoft.com/office/drawing/2014/main" id="{33B43DCB-18DB-823C-A3F3-513FB2DE44F0}"/>
              </a:ext>
            </a:extLst>
          </p:cNvPr>
          <p:cNvSpPr/>
          <p:nvPr/>
        </p:nvSpPr>
        <p:spPr>
          <a:xfrm>
            <a:off x="-284510" y="0"/>
            <a:ext cx="12476510" cy="7186164"/>
          </a:xfrm>
          <a:prstGeom prst="rect">
            <a:avLst/>
          </a:prstGeom>
          <a:solidFill>
            <a:srgbClr val="F5F5F5"/>
          </a:solidFill>
          <a:ln w="25400" cap="flat" cmpd="sng">
            <a:solidFill>
              <a:srgbClr val="F5F5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5" name="Google Shape;204;p20" descr="Screenshot 2025-04-01 at 08.51.42.png">
            <a:extLst>
              <a:ext uri="{FF2B5EF4-FFF2-40B4-BE49-F238E27FC236}">
                <a16:creationId xmlns:a16="http://schemas.microsoft.com/office/drawing/2014/main" id="{64A768A7-489F-1F23-EBA5-91263CC8CCE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692787" y="5608842"/>
            <a:ext cx="1395498" cy="14763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728AD4A9-D6F0-5D1C-9986-F422D9E90064}"/>
              </a:ext>
            </a:extLst>
          </p:cNvPr>
          <p:cNvSpPr txBox="1"/>
          <p:nvPr/>
        </p:nvSpPr>
        <p:spPr>
          <a:xfrm>
            <a:off x="192504" y="1874729"/>
            <a:ext cx="11999495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+mj-lt"/>
              <a:buAutoNum type="arabicPeriod" startAt="8"/>
            </a:pPr>
            <a:r>
              <a:rPr lang="pt-BR" sz="2000" dirty="0">
                <a:effectLst/>
              </a:rPr>
              <a:t>Conformidade, segurança e continuidade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000" dirty="0">
                <a:effectLst/>
              </a:rPr>
              <a:t>LGPD, ISO/SOC2, backups, BCP/DR, gestão de acesso, trilhas de auditoria.</a:t>
            </a:r>
          </a:p>
          <a:p>
            <a:pPr>
              <a:buFont typeface="Arial" panose="020B0604020202020204" pitchFamily="34" charset="0"/>
              <a:buChar char="•"/>
            </a:pPr>
            <a:endParaRPr lang="pt-BR" sz="2000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BR" sz="2000" dirty="0">
                <a:effectLst/>
              </a:rPr>
              <a:t>Exemplo (ERP): “Backups diários + testes de restauração trimestrais.”</a:t>
            </a:r>
          </a:p>
          <a:p>
            <a:pPr>
              <a:buFont typeface="Arial" panose="020B0604020202020204" pitchFamily="34" charset="0"/>
              <a:buChar char="•"/>
            </a:pPr>
            <a:endParaRPr lang="pt-BR" sz="2000" dirty="0">
              <a:effectLst/>
            </a:endParaRPr>
          </a:p>
          <a:p>
            <a:pPr>
              <a:buFont typeface="+mj-lt"/>
              <a:buAutoNum type="arabicPeriod" startAt="9"/>
            </a:pPr>
            <a:r>
              <a:rPr lang="pt-BR" sz="2000" dirty="0">
                <a:effectLst/>
              </a:rPr>
              <a:t>Indicadores de sucesso (se disponíveis)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000" dirty="0">
                <a:effectLst/>
              </a:rPr>
              <a:t>Nº clientes, NPS, </a:t>
            </a:r>
            <a:r>
              <a:rPr lang="pt-BR" sz="2000" dirty="0" err="1">
                <a:effectLst/>
              </a:rPr>
              <a:t>churn</a:t>
            </a:r>
            <a:r>
              <a:rPr lang="pt-BR" sz="2000" dirty="0">
                <a:effectLst/>
              </a:rPr>
              <a:t>, MTTR/MTTD, MRR/ARR, antes/depois (impacto).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000" dirty="0">
                <a:effectLst/>
              </a:rPr>
              <a:t>Exemplo (</a:t>
            </a:r>
            <a:r>
              <a:rPr lang="pt-BR" sz="2000" dirty="0" err="1">
                <a:effectLst/>
              </a:rPr>
              <a:t>Ciber</a:t>
            </a:r>
            <a:r>
              <a:rPr lang="pt-BR" sz="2000" dirty="0">
                <a:effectLst/>
              </a:rPr>
              <a:t>): “MTTR 2h; 98% detecção últimos 12m (amostra cliente).”</a:t>
            </a:r>
          </a:p>
          <a:p>
            <a:pPr>
              <a:buFont typeface="Arial" panose="020B0604020202020204" pitchFamily="34" charset="0"/>
              <a:buChar char="•"/>
            </a:pPr>
            <a:endParaRPr lang="pt-BR" sz="2000" dirty="0">
              <a:effectLst/>
            </a:endParaRPr>
          </a:p>
          <a:p>
            <a:pPr>
              <a:buFont typeface="+mj-lt"/>
              <a:buAutoNum type="arabicPeriod" startAt="10"/>
            </a:pPr>
            <a:r>
              <a:rPr lang="pt-BR" sz="2000" dirty="0">
                <a:effectLst/>
              </a:rPr>
              <a:t>Mercado e concorrência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000" dirty="0">
                <a:effectLst/>
              </a:rPr>
              <a:t>Nicho, players diretos/indiretos, diferenciais claros (tecnologia/serviço/nicho).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000" dirty="0">
                <a:effectLst/>
              </a:rPr>
              <a:t>Exemplo (ERP): “Foco em médias </a:t>
            </a:r>
            <a:r>
              <a:rPr lang="pt-BR" sz="2000" dirty="0" err="1">
                <a:effectLst/>
              </a:rPr>
              <a:t>omnichannel</a:t>
            </a:r>
            <a:r>
              <a:rPr lang="pt-BR" sz="2000" dirty="0">
                <a:effectLst/>
              </a:rPr>
              <a:t>; integração nativa c/ marketplaces.”</a:t>
            </a:r>
          </a:p>
        </p:txBody>
      </p:sp>
    </p:spTree>
    <p:extLst>
      <p:ext uri="{BB962C8B-B14F-4D97-AF65-F5344CB8AC3E}">
        <p14:creationId xmlns:p14="http://schemas.microsoft.com/office/powerpoint/2010/main" val="29150575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93A2E-EFB1-BADD-ED3C-6B74066E6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03;p20">
            <a:extLst>
              <a:ext uri="{FF2B5EF4-FFF2-40B4-BE49-F238E27FC236}">
                <a16:creationId xmlns:a16="http://schemas.microsoft.com/office/drawing/2014/main" id="{1E90BBD4-E5C8-2E46-A515-7EDBC7CDECF0}"/>
              </a:ext>
            </a:extLst>
          </p:cNvPr>
          <p:cNvSpPr/>
          <p:nvPr/>
        </p:nvSpPr>
        <p:spPr>
          <a:xfrm>
            <a:off x="-284510" y="0"/>
            <a:ext cx="12476510" cy="7186164"/>
          </a:xfrm>
          <a:prstGeom prst="rect">
            <a:avLst/>
          </a:prstGeom>
          <a:solidFill>
            <a:srgbClr val="F5F5F5"/>
          </a:solidFill>
          <a:ln w="25400" cap="flat" cmpd="sng">
            <a:solidFill>
              <a:srgbClr val="F5F5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" name="Google Shape;204;p20" descr="Screenshot 2025-04-01 at 08.51.42.png">
            <a:extLst>
              <a:ext uri="{FF2B5EF4-FFF2-40B4-BE49-F238E27FC236}">
                <a16:creationId xmlns:a16="http://schemas.microsoft.com/office/drawing/2014/main" id="{39F3E670-E24E-3EB9-DDEE-EAF3C0B7056B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692787" y="5608842"/>
            <a:ext cx="1395498" cy="1476396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203;p20">
            <a:extLst>
              <a:ext uri="{FF2B5EF4-FFF2-40B4-BE49-F238E27FC236}">
                <a16:creationId xmlns:a16="http://schemas.microsoft.com/office/drawing/2014/main" id="{3260245B-139A-491F-CE05-D25F560857F9}"/>
              </a:ext>
            </a:extLst>
          </p:cNvPr>
          <p:cNvSpPr/>
          <p:nvPr/>
        </p:nvSpPr>
        <p:spPr>
          <a:xfrm>
            <a:off x="-132110" y="152400"/>
            <a:ext cx="12476510" cy="7186164"/>
          </a:xfrm>
          <a:prstGeom prst="rect">
            <a:avLst/>
          </a:prstGeom>
          <a:solidFill>
            <a:srgbClr val="F5F5F5"/>
          </a:solidFill>
          <a:ln w="25400" cap="flat" cmpd="sng">
            <a:solidFill>
              <a:srgbClr val="F5F5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>
              <a:buFont typeface="+mj-lt"/>
              <a:buAutoNum type="arabicPeriod" startAt="11"/>
            </a:pPr>
            <a:r>
              <a:rPr lang="pt-BR" sz="2400" dirty="0">
                <a:effectLst/>
              </a:rPr>
              <a:t>ESG e impacto extensionista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400" dirty="0">
                <a:effectLst/>
              </a:rPr>
              <a:t>Práticas ambientais/sociais/governança; ação de extensão (ex.: capacitação local).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400" dirty="0">
                <a:effectLst/>
              </a:rPr>
              <a:t>Exemplo: “Workshop gratuito de segurança digital para </a:t>
            </a:r>
            <a:r>
              <a:rPr lang="pt-BR" sz="2400" dirty="0" err="1">
                <a:effectLst/>
              </a:rPr>
              <a:t>MEIs</a:t>
            </a:r>
            <a:r>
              <a:rPr lang="pt-BR" sz="2400" dirty="0">
                <a:effectLst/>
              </a:rPr>
              <a:t> do entorno.”</a:t>
            </a:r>
          </a:p>
          <a:p>
            <a:pPr>
              <a:buFont typeface="Arial" panose="020B0604020202020204" pitchFamily="34" charset="0"/>
              <a:buChar char="•"/>
            </a:pPr>
            <a:endParaRPr lang="pt-BR" sz="2400" dirty="0">
              <a:effectLst/>
            </a:endParaRPr>
          </a:p>
          <a:p>
            <a:pPr>
              <a:buFont typeface="+mj-lt"/>
              <a:buAutoNum type="arabicPeriod" startAt="12"/>
            </a:pPr>
            <a:r>
              <a:rPr lang="pt-BR" sz="2400" dirty="0">
                <a:effectLst/>
              </a:rPr>
              <a:t>Riscos e próximos passos (</a:t>
            </a:r>
            <a:r>
              <a:rPr lang="pt-BR" sz="2400" dirty="0" err="1">
                <a:effectLst/>
              </a:rPr>
              <a:t>roadmap</a:t>
            </a:r>
            <a:r>
              <a:rPr lang="pt-BR" sz="2400" dirty="0">
                <a:effectLst/>
              </a:rPr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400" dirty="0">
                <a:effectLst/>
              </a:rPr>
              <a:t>Dependências, riscos regulatórios/técnicos; próximos lançamentos/IA/automação.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400" dirty="0">
                <a:effectLst/>
              </a:rPr>
              <a:t>Exemplo (MSP/Cloud): “</a:t>
            </a:r>
            <a:r>
              <a:rPr lang="pt-BR" sz="2400" dirty="0" err="1">
                <a:effectLst/>
              </a:rPr>
              <a:t>Roadmap</a:t>
            </a:r>
            <a:r>
              <a:rPr lang="pt-BR" sz="2400" dirty="0">
                <a:effectLst/>
              </a:rPr>
              <a:t>: SSO unificado e automação de </a:t>
            </a:r>
            <a:r>
              <a:rPr lang="pt-BR" sz="2400" dirty="0" err="1">
                <a:effectLst/>
              </a:rPr>
              <a:t>onboarding</a:t>
            </a:r>
            <a:r>
              <a:rPr lang="pt-BR" sz="2400" dirty="0">
                <a:effectLst/>
              </a:rPr>
              <a:t>.”</a:t>
            </a:r>
          </a:p>
          <a:p>
            <a:pPr>
              <a:buFont typeface="Arial" panose="020B0604020202020204" pitchFamily="34" charset="0"/>
              <a:buChar char="•"/>
            </a:pPr>
            <a:endParaRPr lang="pt-BR" sz="2400" dirty="0">
              <a:effectLst/>
            </a:endParaRPr>
          </a:p>
          <a:p>
            <a:pPr>
              <a:buFont typeface="+mj-lt"/>
              <a:buAutoNum type="arabicPeriod" startAt="13"/>
            </a:pPr>
            <a:r>
              <a:rPr lang="pt-BR" sz="2400" dirty="0">
                <a:effectLst/>
              </a:rPr>
              <a:t>Evidências de campo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400" dirty="0">
                <a:effectLst/>
              </a:rPr>
              <a:t>Quem foi entrevistado, data, método, fotos autorizadas/prints, documentos.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400" dirty="0">
                <a:effectLst/>
              </a:rPr>
              <a:t>Observação ética/LGPD: usar dados não sensíveis e/ou autorização.</a:t>
            </a:r>
          </a:p>
        </p:txBody>
      </p:sp>
      <p:pic>
        <p:nvPicPr>
          <p:cNvPr id="5" name="Google Shape;204;p20" descr="Screenshot 2025-04-01 at 08.51.42.png">
            <a:extLst>
              <a:ext uri="{FF2B5EF4-FFF2-40B4-BE49-F238E27FC236}">
                <a16:creationId xmlns:a16="http://schemas.microsoft.com/office/drawing/2014/main" id="{55ECB2C5-8442-3CF3-C0B3-7C0B8AC1236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45187" y="5761242"/>
            <a:ext cx="1395498" cy="14763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11740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6"/>
          <p:cNvSpPr/>
          <p:nvPr/>
        </p:nvSpPr>
        <p:spPr>
          <a:xfrm>
            <a:off x="-57166" y="-38100"/>
            <a:ext cx="12476510" cy="7186164"/>
          </a:xfrm>
          <a:prstGeom prst="rect">
            <a:avLst/>
          </a:prstGeom>
          <a:solidFill>
            <a:srgbClr val="F5F5F5"/>
          </a:solidFill>
          <a:ln w="25400" cap="flat" cmpd="sng">
            <a:solidFill>
              <a:srgbClr val="F5F5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70" name="Google Shape;70;p6" descr="Screenshot 2025-04-01 at 08.51.4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20131" y="5570742"/>
            <a:ext cx="1395498" cy="1476396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6"/>
          <p:cNvSpPr/>
          <p:nvPr/>
        </p:nvSpPr>
        <p:spPr>
          <a:xfrm>
            <a:off x="-889000" y="-38100"/>
            <a:ext cx="13708021" cy="510361"/>
          </a:xfrm>
          <a:prstGeom prst="rect">
            <a:avLst/>
          </a:prstGeom>
          <a:solidFill>
            <a:srgbClr val="1B4582"/>
          </a:solidFill>
          <a:ln w="25400" cap="flat" cmpd="sng">
            <a:solidFill>
              <a:srgbClr val="1B45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2" name="Google Shape;72;p6"/>
          <p:cNvSpPr txBox="1"/>
          <p:nvPr/>
        </p:nvSpPr>
        <p:spPr>
          <a:xfrm>
            <a:off x="344319" y="124250"/>
            <a:ext cx="5151859" cy="287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pt-BR" sz="1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SENAC EAD</a:t>
            </a: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3" name="Google Shape;73;p6"/>
          <p:cNvSpPr/>
          <p:nvPr/>
        </p:nvSpPr>
        <p:spPr>
          <a:xfrm>
            <a:off x="-482600" y="475158"/>
            <a:ext cx="13590475" cy="70370"/>
          </a:xfrm>
          <a:prstGeom prst="rect">
            <a:avLst/>
          </a:prstGeom>
          <a:solidFill>
            <a:srgbClr val="E0923C"/>
          </a:solid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4" name="Google Shape;74;p6"/>
          <p:cNvSpPr txBox="1"/>
          <p:nvPr/>
        </p:nvSpPr>
        <p:spPr>
          <a:xfrm>
            <a:off x="1538564" y="1448694"/>
            <a:ext cx="9114871" cy="4528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4982"/>
              </a:buClr>
              <a:buSzPts val="2400"/>
              <a:buFont typeface="Lucida Sans"/>
              <a:buNone/>
            </a:pPr>
            <a:r>
              <a:rPr lang="pt-BR" sz="2400" b="1" i="0" u="none" strike="noStrike" cap="none">
                <a:solidFill>
                  <a:srgbClr val="044982"/>
                </a:solidFill>
                <a:latin typeface="Lucida Sans"/>
                <a:ea typeface="Lucida Sans"/>
                <a:cs typeface="Lucida Sans"/>
                <a:sym typeface="Lucida Sans"/>
              </a:rPr>
              <a:t>PONTOS TRABALHADOS NA 1ª ENTREGA</a:t>
            </a: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285750" marR="0" lvl="0" indent="-2095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None/>
            </a:pPr>
            <a:endParaRPr sz="1800" b="1" i="0" u="none" strike="noStrike" cap="non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44982"/>
              </a:buClr>
              <a:buSzPts val="1200"/>
              <a:buFont typeface="Noto Sans Symbols"/>
              <a:buChar char="▪"/>
            </a:pPr>
            <a:r>
              <a:rPr lang="pt-BR" sz="1600" b="1" i="0" u="none" strike="noStrike" cap="none">
                <a:solidFill>
                  <a:srgbClr val="044982"/>
                </a:solidFill>
                <a:latin typeface="Lucida Sans"/>
                <a:ea typeface="Lucida Sans"/>
                <a:cs typeface="Lucida Sans"/>
                <a:sym typeface="Lucida Sans"/>
              </a:rPr>
              <a:t>Definição de Tema: </a:t>
            </a:r>
            <a:r>
              <a:rPr lang="pt-BR" sz="1600" b="0" i="0" u="none" strike="noStrike" cap="none">
                <a:solidFill>
                  <a:srgbClr val="044982"/>
                </a:solidFill>
                <a:latin typeface="Lucida Sans"/>
                <a:ea typeface="Lucida Sans"/>
                <a:cs typeface="Lucida Sans"/>
                <a:sym typeface="Lucida Sans"/>
              </a:rPr>
              <a:t>estimular o entendimento do contexto no qual a solução pretende ser desenvolvida, qual o problema que pretende ser resolvido e qual seria a motivação para a resolução.</a:t>
            </a:r>
            <a:endParaRPr/>
          </a:p>
          <a:p>
            <a:pPr marL="285750" marR="0" lvl="0" indent="-28575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44982"/>
              </a:buClr>
              <a:buSzPts val="1200"/>
              <a:buFont typeface="Noto Sans Symbols"/>
              <a:buChar char="▪"/>
            </a:pPr>
            <a:r>
              <a:rPr lang="pt-BR" sz="1600" b="1" i="0" u="none" strike="noStrike" cap="none">
                <a:solidFill>
                  <a:srgbClr val="044982"/>
                </a:solidFill>
                <a:latin typeface="Lucida Sans"/>
                <a:ea typeface="Lucida Sans"/>
                <a:cs typeface="Lucida Sans"/>
                <a:sym typeface="Lucida Sans"/>
              </a:rPr>
              <a:t>Proposta de Valor: </a:t>
            </a:r>
            <a:r>
              <a:rPr lang="pt-BR" sz="1600" b="0" i="0" u="none" strike="noStrike" cap="none">
                <a:solidFill>
                  <a:srgbClr val="044982"/>
                </a:solidFill>
                <a:latin typeface="Lucida Sans"/>
                <a:ea typeface="Lucida Sans"/>
                <a:cs typeface="Lucida Sans"/>
                <a:sym typeface="Lucida Sans"/>
              </a:rPr>
              <a:t>destacar os benefícios que podem ser gerados com a solução idealizada e entender quais seriam as partes interessadas na solução (stakeholders).</a:t>
            </a:r>
            <a:endParaRPr/>
          </a:p>
          <a:p>
            <a:pPr marL="285750" marR="0" lvl="0" indent="-28575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44982"/>
              </a:buClr>
              <a:buSzPts val="1200"/>
              <a:buFont typeface="Noto Sans Symbols"/>
              <a:buChar char="▪"/>
            </a:pPr>
            <a:r>
              <a:rPr lang="pt-BR" sz="1600" b="1" i="0" u="none" strike="noStrike" cap="none">
                <a:solidFill>
                  <a:srgbClr val="044982"/>
                </a:solidFill>
                <a:latin typeface="Lucida Sans"/>
                <a:ea typeface="Lucida Sans"/>
                <a:cs typeface="Lucida Sans"/>
                <a:sym typeface="Lucida Sans"/>
              </a:rPr>
              <a:t>Análise de Viabilidade: </a:t>
            </a:r>
            <a:r>
              <a:rPr lang="pt-BR" sz="1600" b="0" i="0" u="none" strike="noStrike" cap="none">
                <a:solidFill>
                  <a:srgbClr val="044982"/>
                </a:solidFill>
                <a:latin typeface="Lucida Sans"/>
                <a:ea typeface="Lucida Sans"/>
                <a:cs typeface="Lucida Sans"/>
                <a:sym typeface="Lucida Sans"/>
              </a:rPr>
              <a:t>estimular a visão crítica do aluno quanto a viabilidade técnica e econômica da solução proposta, estimulando a equipe a exercitar a correlação entre custo e esforço.</a:t>
            </a:r>
            <a:endParaRPr/>
          </a:p>
          <a:p>
            <a:pPr marL="0" marR="0" lvl="0" indent="0" algn="just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endParaRPr sz="1800" b="0" i="0" u="none" strike="noStrike" cap="none">
              <a:solidFill>
                <a:srgbClr val="044982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2" name="Google Shape;53;p4">
            <a:extLst>
              <a:ext uri="{FF2B5EF4-FFF2-40B4-BE49-F238E27FC236}">
                <a16:creationId xmlns:a16="http://schemas.microsoft.com/office/drawing/2014/main" id="{C10E67D5-157C-2F4F-4779-0F1D63B41D87}"/>
              </a:ext>
            </a:extLst>
          </p:cNvPr>
          <p:cNvSpPr txBox="1"/>
          <p:nvPr/>
        </p:nvSpPr>
        <p:spPr>
          <a:xfrm>
            <a:off x="3026872" y="46479"/>
            <a:ext cx="9288757" cy="276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r>
              <a:rPr lang="pt-BR" sz="1200" b="1" i="0" u="none" strike="noStrike" cap="none" dirty="0">
                <a:solidFill>
                  <a:schemeClr val="bg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PROJETO INTEGRADOR – DIAGNÓSTICO DE SOLUÇÕES DE TECNOLOGIA DA INFORMAÇÃO - PRÁTICAS EXTENSIONISTAS</a:t>
            </a:r>
            <a:endParaRPr sz="1800" b="1" i="0" u="none" strike="noStrike" cap="none" dirty="0">
              <a:solidFill>
                <a:schemeClr val="bg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4B8445-C338-E8CC-3CF2-64E6D30B77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F8914892-C0C2-A944-784D-22BEED866A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5618" y="2714739"/>
            <a:ext cx="11380764" cy="1170576"/>
          </a:xfrm>
        </p:spPr>
        <p:txBody>
          <a:bodyPr>
            <a:normAutofit/>
          </a:bodyPr>
          <a:lstStyle/>
          <a:p>
            <a:r>
              <a:rPr lang="pt-BR" dirty="0">
                <a:solidFill>
                  <a:srgbClr val="014A8E"/>
                </a:solidFill>
                <a:latin typeface="Helvetica" panose="020B0604020202020204" pitchFamily="34" charset="0"/>
              </a:rPr>
              <a:t>Projeto Integrador I</a:t>
            </a:r>
            <a:endParaRPr lang="pt-BR" dirty="0"/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310DC3F0-8725-F003-87BD-C9B41EEE1A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03606" y="4286164"/>
            <a:ext cx="9584788" cy="730810"/>
          </a:xfrm>
        </p:spPr>
        <p:txBody>
          <a:bodyPr>
            <a:noAutofit/>
          </a:bodyPr>
          <a:lstStyle/>
          <a:p>
            <a:r>
              <a:rPr lang="pt-BR" dirty="0"/>
              <a:t>Professor: Marlon Cavalcante Maynart</a:t>
            </a:r>
          </a:p>
          <a:p>
            <a:r>
              <a:rPr lang="pt-BR" sz="2800" dirty="0">
                <a:hlinkClick r:id="rId3"/>
              </a:rPr>
              <a:t>marlon.cmaynart@sp.senac.br</a:t>
            </a:r>
            <a:r>
              <a:rPr lang="pt-BR" sz="2800" dirty="0"/>
              <a:t> </a:t>
            </a:r>
          </a:p>
        </p:txBody>
      </p:sp>
      <p:pic>
        <p:nvPicPr>
          <p:cNvPr id="3" name="Imagem 2" descr="Homem sorrindo pousando para foto&#10;&#10;Descrição gerada automaticamente">
            <a:extLst>
              <a:ext uri="{FF2B5EF4-FFF2-40B4-BE49-F238E27FC236}">
                <a16:creationId xmlns:a16="http://schemas.microsoft.com/office/drawing/2014/main" id="{7739A64C-EBB8-428E-DABE-CE1D67889E5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8651" y="4175534"/>
            <a:ext cx="798904" cy="1198256"/>
          </a:xfrm>
          <a:prstGeom prst="rect">
            <a:avLst/>
          </a:prstGeom>
        </p:spPr>
      </p:pic>
      <p:pic>
        <p:nvPicPr>
          <p:cNvPr id="6" name="Picture 35">
            <a:extLst>
              <a:ext uri="{FF2B5EF4-FFF2-40B4-BE49-F238E27FC236}">
                <a16:creationId xmlns:a16="http://schemas.microsoft.com/office/drawing/2014/main" id="{14CB428A-96DC-CF7D-6D65-879C3723F7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52400" y="283621"/>
            <a:ext cx="1733694" cy="174123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Picture 16" descr="http://bestreviewnews.com/wp-content/uploads/2013/09/Investigation.jpg">
            <a:extLst>
              <a:ext uri="{FF2B5EF4-FFF2-40B4-BE49-F238E27FC236}">
                <a16:creationId xmlns:a16="http://schemas.microsoft.com/office/drawing/2014/main" id="{1ADB9A97-FEED-8F1D-D05C-D9B56532FB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52"/>
          <a:stretch>
            <a:fillRect/>
          </a:stretch>
        </p:blipFill>
        <p:spPr bwMode="auto">
          <a:xfrm>
            <a:off x="10345757" y="254441"/>
            <a:ext cx="1623505" cy="1577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 descr="http://t1.gstatic.com/images?q=tbn:ANd9GcTSB-D1ROElEePh_5heKm-a3pbiXYAHKtR5T9hzmU9VcUNYCAA&amp;t=1&amp;h=192&amp;w=193&amp;usg=__yWKZMPBzv691jpcFL954W2nKsak=">
            <a:extLst>
              <a:ext uri="{FF2B5EF4-FFF2-40B4-BE49-F238E27FC236}">
                <a16:creationId xmlns:a16="http://schemas.microsoft.com/office/drawing/2014/main" id="{20D27E9C-D58F-D117-315E-17E85F7EF0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49" r="8116" b="16940"/>
          <a:stretch>
            <a:fillRect/>
          </a:stretch>
        </p:blipFill>
        <p:spPr bwMode="auto">
          <a:xfrm>
            <a:off x="8692144" y="1324475"/>
            <a:ext cx="1476375" cy="1519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84A7B7B5-4C7C-ACF5-9F70-C3CB77B1FE2A}"/>
              </a:ext>
            </a:extLst>
          </p:cNvPr>
          <p:cNvSpPr txBox="1"/>
          <p:nvPr/>
        </p:nvSpPr>
        <p:spPr>
          <a:xfrm>
            <a:off x="3839386" y="6211669"/>
            <a:ext cx="60980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600" b="1" dirty="0"/>
              <a:t>Web01 – 09/02/2026</a:t>
            </a:r>
          </a:p>
        </p:txBody>
      </p:sp>
    </p:spTree>
    <p:extLst>
      <p:ext uri="{BB962C8B-B14F-4D97-AF65-F5344CB8AC3E}">
        <p14:creationId xmlns:p14="http://schemas.microsoft.com/office/powerpoint/2010/main" val="155358563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15" descr="Screenshot 2025-03-26 at 12.56.57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6350" y="-2331"/>
            <a:ext cx="12230101" cy="6862662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15"/>
          <p:cNvSpPr txBox="1"/>
          <p:nvPr/>
        </p:nvSpPr>
        <p:spPr>
          <a:xfrm>
            <a:off x="838622" y="469029"/>
            <a:ext cx="2728741" cy="53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4889"/>
              </a:buClr>
              <a:buSzPts val="3100"/>
              <a:buFont typeface="Arial"/>
              <a:buNone/>
            </a:pPr>
            <a:r>
              <a:rPr lang="pt-BR" sz="3100" b="1" i="0" u="none" strike="noStrike" cap="none">
                <a:solidFill>
                  <a:srgbClr val="1C4889"/>
                </a:solidFill>
                <a:latin typeface="Arial"/>
                <a:ea typeface="Arial"/>
                <a:cs typeface="Arial"/>
                <a:sym typeface="Arial"/>
              </a:rPr>
              <a:t>CALENDÁRIO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1" name="Google Shape;241;p15" descr="capa_EAD contracapa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2404</Words>
  <Application>Microsoft Office PowerPoint</Application>
  <PresentationFormat>Widescreen</PresentationFormat>
  <Paragraphs>240</Paragraphs>
  <Slides>31</Slides>
  <Notes>25</Notes>
  <HiddenSlides>0</HiddenSlides>
  <MMClips>0</MMClips>
  <ScaleCrop>false</ScaleCrop>
  <HeadingPairs>
    <vt:vector size="6" baseType="variant">
      <vt:variant>
        <vt:lpstr>Fontes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31</vt:i4>
      </vt:variant>
    </vt:vector>
  </HeadingPairs>
  <TitlesOfParts>
    <vt:vector size="41" baseType="lpstr">
      <vt:lpstr>Helvetica</vt:lpstr>
      <vt:lpstr>Helvetica Neue</vt:lpstr>
      <vt:lpstr>Noto Sans Symbols</vt:lpstr>
      <vt:lpstr>Arial</vt:lpstr>
      <vt:lpstr>Times New Roman</vt:lpstr>
      <vt:lpstr>Lucida Sans</vt:lpstr>
      <vt:lpstr>Tahoma</vt:lpstr>
      <vt:lpstr>Calibri</vt:lpstr>
      <vt:lpstr>Segoe UI</vt:lpstr>
      <vt:lpstr>Office Theme</vt:lpstr>
      <vt:lpstr>WEBCONFERÊNCIA Projeto Integrador | 1ª entrega</vt:lpstr>
      <vt:lpstr>Projeto Integrador I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Projeto Integrador I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Debora Richter Brolio</dc:creator>
  <cp:lastModifiedBy>Marlon Cavalcante Maynart</cp:lastModifiedBy>
  <cp:revision>8</cp:revision>
  <dcterms:modified xsi:type="dcterms:W3CDTF">2026-02-09T17:38:00Z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0x010100D2CEC6658E5EC8499BD3E852DE1E0604</vt:lpwstr>
  </property>
</Properties>
</file>