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906000" cy="6858000" type="A4"/>
  <p:notesSz cx="9906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lv5T8aM92caCDIs/zR8gFxBA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E4022D-E003-4866-9280-1DC36AB90B6A}">
  <a:tblStyle styleId="{FDE4022D-E003-4866-9280-1DC36AB90B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398" y="6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661034" y="1680717"/>
            <a:ext cx="8583930" cy="357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sng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body" idx="1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body" idx="2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ubTitle" idx="1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sng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9906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661034" y="1680717"/>
            <a:ext cx="8583930" cy="357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sng" strike="noStrike" cap="none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r.agenciasebrae.com.br/economia-e-politica/renda-gerada-pelos-pequenos-negocios-e-de-r-420-bilhoes-por-ano/" TargetMode="External"/><Relationship Id="rId3" Type="http://schemas.openxmlformats.org/officeDocument/2006/relationships/hyperlink" Target="https://agenciabrasil.ebc.com.br/economia/noticia/2025-02/pesquisa-mostra-otimismo-de-microempreendedores-individuais-com-2025" TargetMode="External"/><Relationship Id="rId7" Type="http://schemas.openxmlformats.org/officeDocument/2006/relationships/hyperlink" Target="https://agenciasebrae.com.br/dados/metade-dos-brasileiros-e-impactada-pelos-pequenos-negocio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genciasebrae.com.br/economia-e-politica/recorde-historico-mais-de-415-milhoes-de-pequenos-negocios-foram-abertos-em-2024/" TargetMode="External"/><Relationship Id="rId5" Type="http://schemas.openxmlformats.org/officeDocument/2006/relationships/hyperlink" Target="https://www.gov.br/secom/pt-br/assuntos/noticias/2025/04/brasil-registra-abertura-de-1-4-milhao-de-pequenos-negocios-no-primeiro-trimestre-do-ano" TargetMode="External"/><Relationship Id="rId4" Type="http://schemas.openxmlformats.org/officeDocument/2006/relationships/hyperlink" Target="https://www.cnnbrasil.com.br/economia/macroeconomia/pequenas-empresas-no-brasil-beneficiam-40-da-populacao-aponta-sebra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>
            <a:spLocks noGrp="1"/>
          </p:cNvSpPr>
          <p:nvPr>
            <p:ph type="title"/>
          </p:nvPr>
        </p:nvSpPr>
        <p:spPr>
          <a:xfrm>
            <a:off x="3934205" y="2601594"/>
            <a:ext cx="21374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MeuNegócio</a:t>
            </a:r>
            <a:endParaRPr sz="2800"/>
          </a:p>
        </p:txBody>
      </p:sp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750" y="260350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/>
        </p:nvSpPr>
        <p:spPr>
          <a:xfrm>
            <a:off x="585982" y="1414665"/>
            <a:ext cx="83934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No	Brasil,	os	pequenos  negócios  desempenham  um  papel  fundamental	na	economia.  Além	de impulsionarem a geração de empregos e renda, são protagonistas em diversos setores do mercado.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592632" y="2789682"/>
            <a:ext cx="754570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Apesar de sua importância, muitos desses empreendimentos enfrentam desafios diários, como: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592632" y="4070096"/>
            <a:ext cx="8395335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Como consequência, recorrem a 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cadernos, planilhas ou aplicativos genéricos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o que compromete o crescimento, 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reduz a competitividade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impacta diretamente a rentabilidade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Definição de tema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3000" b="0">
                <a:latin typeface="Arial"/>
                <a:ea typeface="Arial"/>
                <a:cs typeface="Arial"/>
                <a:sym typeface="Arial"/>
              </a:rPr>
              <a:t>MeuNegócio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13715" y="2105025"/>
            <a:ext cx="2372360" cy="587375"/>
          </a:xfrm>
          <a:custGeom>
            <a:avLst/>
            <a:gdLst/>
            <a:ahLst/>
            <a:cxnLst/>
            <a:rect l="l" t="t" r="r" b="b"/>
            <a:pathLst>
              <a:path w="2372360" h="587375" extrusionOk="0">
                <a:moveTo>
                  <a:pt x="2274442" y="0"/>
                </a:moveTo>
                <a:lnTo>
                  <a:pt x="97878" y="0"/>
                </a:lnTo>
                <a:lnTo>
                  <a:pt x="59777" y="7689"/>
                </a:lnTo>
                <a:lnTo>
                  <a:pt x="28665" y="28654"/>
                </a:lnTo>
                <a:lnTo>
                  <a:pt x="7690" y="59739"/>
                </a:lnTo>
                <a:lnTo>
                  <a:pt x="0" y="97789"/>
                </a:lnTo>
                <a:lnTo>
                  <a:pt x="0" y="489330"/>
                </a:lnTo>
                <a:lnTo>
                  <a:pt x="7690" y="527381"/>
                </a:lnTo>
                <a:lnTo>
                  <a:pt x="28665" y="558466"/>
                </a:lnTo>
                <a:lnTo>
                  <a:pt x="59777" y="579431"/>
                </a:lnTo>
                <a:lnTo>
                  <a:pt x="97878" y="587121"/>
                </a:lnTo>
                <a:lnTo>
                  <a:pt x="2274442" y="587121"/>
                </a:lnTo>
                <a:lnTo>
                  <a:pt x="2312566" y="579431"/>
                </a:lnTo>
                <a:lnTo>
                  <a:pt x="2343689" y="558466"/>
                </a:lnTo>
                <a:lnTo>
                  <a:pt x="2364668" y="527381"/>
                </a:lnTo>
                <a:lnTo>
                  <a:pt x="2372360" y="489330"/>
                </a:lnTo>
                <a:lnTo>
                  <a:pt x="2372360" y="97789"/>
                </a:lnTo>
                <a:lnTo>
                  <a:pt x="2364668" y="59739"/>
                </a:lnTo>
                <a:lnTo>
                  <a:pt x="2343689" y="28654"/>
                </a:lnTo>
                <a:lnTo>
                  <a:pt x="2312566" y="7689"/>
                </a:lnTo>
                <a:lnTo>
                  <a:pt x="2274442" y="0"/>
                </a:lnTo>
                <a:close/>
              </a:path>
            </a:pathLst>
          </a:custGeom>
          <a:solidFill>
            <a:srgbClr val="D5A2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" name="Google Shape;55;p2"/>
          <p:cNvSpPr txBox="1"/>
          <p:nvPr/>
        </p:nvSpPr>
        <p:spPr>
          <a:xfrm>
            <a:off x="784351" y="2166874"/>
            <a:ext cx="1831339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00025" marR="5080" lvl="0" indent="-1879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Representam 90% das empresas do País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701415" y="2101976"/>
            <a:ext cx="2175510" cy="587375"/>
          </a:xfrm>
          <a:custGeom>
            <a:avLst/>
            <a:gdLst/>
            <a:ahLst/>
            <a:cxnLst/>
            <a:rect l="l" t="t" r="r" b="b"/>
            <a:pathLst>
              <a:path w="2175510" h="587375" extrusionOk="0">
                <a:moveTo>
                  <a:pt x="2077720" y="0"/>
                </a:moveTo>
                <a:lnTo>
                  <a:pt x="97789" y="0"/>
                </a:lnTo>
                <a:lnTo>
                  <a:pt x="59739" y="7689"/>
                </a:lnTo>
                <a:lnTo>
                  <a:pt x="28654" y="28654"/>
                </a:lnTo>
                <a:lnTo>
                  <a:pt x="7689" y="59739"/>
                </a:lnTo>
                <a:lnTo>
                  <a:pt x="0" y="97789"/>
                </a:lnTo>
                <a:lnTo>
                  <a:pt x="0" y="489331"/>
                </a:lnTo>
                <a:lnTo>
                  <a:pt x="7689" y="527381"/>
                </a:lnTo>
                <a:lnTo>
                  <a:pt x="28654" y="558466"/>
                </a:lnTo>
                <a:lnTo>
                  <a:pt x="59739" y="579431"/>
                </a:lnTo>
                <a:lnTo>
                  <a:pt x="97789" y="587121"/>
                </a:lnTo>
                <a:lnTo>
                  <a:pt x="2077720" y="587121"/>
                </a:lnTo>
                <a:lnTo>
                  <a:pt x="2115770" y="579431"/>
                </a:lnTo>
                <a:lnTo>
                  <a:pt x="2146855" y="558466"/>
                </a:lnTo>
                <a:lnTo>
                  <a:pt x="2167820" y="527381"/>
                </a:lnTo>
                <a:lnTo>
                  <a:pt x="2175510" y="489331"/>
                </a:lnTo>
                <a:lnTo>
                  <a:pt x="2175510" y="97789"/>
                </a:lnTo>
                <a:lnTo>
                  <a:pt x="2167820" y="59739"/>
                </a:lnTo>
                <a:lnTo>
                  <a:pt x="2146855" y="28654"/>
                </a:lnTo>
                <a:lnTo>
                  <a:pt x="2115770" y="7689"/>
                </a:lnTo>
                <a:lnTo>
                  <a:pt x="2077720" y="0"/>
                </a:lnTo>
                <a:close/>
              </a:path>
            </a:pathLst>
          </a:custGeom>
          <a:solidFill>
            <a:srgbClr val="D5A2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7" name="Google Shape;57;p2"/>
          <p:cNvSpPr txBox="1"/>
          <p:nvPr/>
        </p:nvSpPr>
        <p:spPr>
          <a:xfrm>
            <a:off x="3859784" y="2163826"/>
            <a:ext cx="1859280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742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Movimentam mais de R$ 420 bilhões por ano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692265" y="2101976"/>
            <a:ext cx="2372360" cy="587375"/>
          </a:xfrm>
          <a:custGeom>
            <a:avLst/>
            <a:gdLst/>
            <a:ahLst/>
            <a:cxnLst/>
            <a:rect l="l" t="t" r="r" b="b"/>
            <a:pathLst>
              <a:path w="2372359" h="587375" extrusionOk="0">
                <a:moveTo>
                  <a:pt x="2274442" y="0"/>
                </a:moveTo>
                <a:lnTo>
                  <a:pt x="97916" y="0"/>
                </a:lnTo>
                <a:lnTo>
                  <a:pt x="59793" y="7689"/>
                </a:lnTo>
                <a:lnTo>
                  <a:pt x="28670" y="28654"/>
                </a:lnTo>
                <a:lnTo>
                  <a:pt x="7691" y="59739"/>
                </a:lnTo>
                <a:lnTo>
                  <a:pt x="0" y="97789"/>
                </a:lnTo>
                <a:lnTo>
                  <a:pt x="0" y="489331"/>
                </a:lnTo>
                <a:lnTo>
                  <a:pt x="7691" y="527381"/>
                </a:lnTo>
                <a:lnTo>
                  <a:pt x="28670" y="558466"/>
                </a:lnTo>
                <a:lnTo>
                  <a:pt x="59793" y="579431"/>
                </a:lnTo>
                <a:lnTo>
                  <a:pt x="97916" y="587121"/>
                </a:lnTo>
                <a:lnTo>
                  <a:pt x="2274442" y="587121"/>
                </a:lnTo>
                <a:lnTo>
                  <a:pt x="2312566" y="579431"/>
                </a:lnTo>
                <a:lnTo>
                  <a:pt x="2343689" y="558466"/>
                </a:lnTo>
                <a:lnTo>
                  <a:pt x="2364668" y="527381"/>
                </a:lnTo>
                <a:lnTo>
                  <a:pt x="2372359" y="489331"/>
                </a:lnTo>
                <a:lnTo>
                  <a:pt x="2372359" y="97789"/>
                </a:lnTo>
                <a:lnTo>
                  <a:pt x="2364668" y="59739"/>
                </a:lnTo>
                <a:lnTo>
                  <a:pt x="2343689" y="28654"/>
                </a:lnTo>
                <a:lnTo>
                  <a:pt x="2312566" y="7689"/>
                </a:lnTo>
                <a:lnTo>
                  <a:pt x="2274442" y="0"/>
                </a:lnTo>
                <a:close/>
              </a:path>
            </a:pathLst>
          </a:custGeom>
          <a:solidFill>
            <a:srgbClr val="D5A2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" name="Google Shape;59;p2"/>
          <p:cNvSpPr txBox="1"/>
          <p:nvPr/>
        </p:nvSpPr>
        <p:spPr>
          <a:xfrm>
            <a:off x="6806945" y="2163826"/>
            <a:ext cx="2145030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10350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Empregam cera de 55% da força de trabalho formal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13715" y="3191382"/>
            <a:ext cx="2372360" cy="587375"/>
          </a:xfrm>
          <a:custGeom>
            <a:avLst/>
            <a:gdLst/>
            <a:ahLst/>
            <a:cxnLst/>
            <a:rect l="l" t="t" r="r" b="b"/>
            <a:pathLst>
              <a:path w="2372360" h="587375" extrusionOk="0">
                <a:moveTo>
                  <a:pt x="2274442" y="0"/>
                </a:moveTo>
                <a:lnTo>
                  <a:pt x="97878" y="0"/>
                </a:lnTo>
                <a:lnTo>
                  <a:pt x="59777" y="7691"/>
                </a:lnTo>
                <a:lnTo>
                  <a:pt x="28665" y="28670"/>
                </a:lnTo>
                <a:lnTo>
                  <a:pt x="7690" y="59793"/>
                </a:lnTo>
                <a:lnTo>
                  <a:pt x="0" y="97916"/>
                </a:lnTo>
                <a:lnTo>
                  <a:pt x="0" y="489330"/>
                </a:lnTo>
                <a:lnTo>
                  <a:pt x="7690" y="527454"/>
                </a:lnTo>
                <a:lnTo>
                  <a:pt x="28665" y="558577"/>
                </a:lnTo>
                <a:lnTo>
                  <a:pt x="59777" y="579556"/>
                </a:lnTo>
                <a:lnTo>
                  <a:pt x="97878" y="587247"/>
                </a:lnTo>
                <a:lnTo>
                  <a:pt x="2274442" y="587247"/>
                </a:lnTo>
                <a:lnTo>
                  <a:pt x="2312566" y="579556"/>
                </a:lnTo>
                <a:lnTo>
                  <a:pt x="2343689" y="558577"/>
                </a:lnTo>
                <a:lnTo>
                  <a:pt x="2364668" y="527454"/>
                </a:lnTo>
                <a:lnTo>
                  <a:pt x="2372360" y="489330"/>
                </a:lnTo>
                <a:lnTo>
                  <a:pt x="2372360" y="97916"/>
                </a:lnTo>
                <a:lnTo>
                  <a:pt x="2364668" y="59793"/>
                </a:lnTo>
                <a:lnTo>
                  <a:pt x="2343689" y="28670"/>
                </a:lnTo>
                <a:lnTo>
                  <a:pt x="2312566" y="7691"/>
                </a:lnTo>
                <a:lnTo>
                  <a:pt x="2274442" y="0"/>
                </a:lnTo>
                <a:close/>
              </a:path>
            </a:pathLst>
          </a:custGeom>
          <a:solidFill>
            <a:srgbClr val="D5A2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" name="Google Shape;61;p2"/>
          <p:cNvSpPr txBox="1"/>
          <p:nvPr/>
        </p:nvSpPr>
        <p:spPr>
          <a:xfrm>
            <a:off x="833119" y="3253485"/>
            <a:ext cx="173228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574675" marR="5080" lvl="0" indent="-5626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Gestão feita de forma manual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468878" y="3191382"/>
            <a:ext cx="2627630" cy="587375"/>
          </a:xfrm>
          <a:custGeom>
            <a:avLst/>
            <a:gdLst/>
            <a:ahLst/>
            <a:cxnLst/>
            <a:rect l="l" t="t" r="r" b="b"/>
            <a:pathLst>
              <a:path w="2627629" h="587375" extrusionOk="0">
                <a:moveTo>
                  <a:pt x="2529586" y="0"/>
                </a:moveTo>
                <a:lnTo>
                  <a:pt x="97789" y="0"/>
                </a:lnTo>
                <a:lnTo>
                  <a:pt x="59739" y="7691"/>
                </a:lnTo>
                <a:lnTo>
                  <a:pt x="28654" y="28670"/>
                </a:lnTo>
                <a:lnTo>
                  <a:pt x="7689" y="59793"/>
                </a:lnTo>
                <a:lnTo>
                  <a:pt x="0" y="97916"/>
                </a:lnTo>
                <a:lnTo>
                  <a:pt x="0" y="489330"/>
                </a:lnTo>
                <a:lnTo>
                  <a:pt x="7689" y="527454"/>
                </a:lnTo>
                <a:lnTo>
                  <a:pt x="28654" y="558577"/>
                </a:lnTo>
                <a:lnTo>
                  <a:pt x="59739" y="579556"/>
                </a:lnTo>
                <a:lnTo>
                  <a:pt x="97789" y="587247"/>
                </a:lnTo>
                <a:lnTo>
                  <a:pt x="2529586" y="587247"/>
                </a:lnTo>
                <a:lnTo>
                  <a:pt x="2567636" y="579556"/>
                </a:lnTo>
                <a:lnTo>
                  <a:pt x="2598721" y="558577"/>
                </a:lnTo>
                <a:lnTo>
                  <a:pt x="2619686" y="527454"/>
                </a:lnTo>
                <a:lnTo>
                  <a:pt x="2627376" y="489330"/>
                </a:lnTo>
                <a:lnTo>
                  <a:pt x="2627376" y="97916"/>
                </a:lnTo>
                <a:lnTo>
                  <a:pt x="2619686" y="59793"/>
                </a:lnTo>
                <a:lnTo>
                  <a:pt x="2598721" y="28670"/>
                </a:lnTo>
                <a:lnTo>
                  <a:pt x="2567636" y="7691"/>
                </a:lnTo>
                <a:lnTo>
                  <a:pt x="2529586" y="0"/>
                </a:lnTo>
                <a:close/>
              </a:path>
            </a:pathLst>
          </a:custGeom>
          <a:solidFill>
            <a:srgbClr val="D5A2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3" name="Google Shape;63;p2"/>
          <p:cNvSpPr txBox="1"/>
          <p:nvPr/>
        </p:nvSpPr>
        <p:spPr>
          <a:xfrm>
            <a:off x="3621785" y="3253485"/>
            <a:ext cx="232473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33045" marR="5080" lvl="0" indent="-2209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Falta de controle de estoque, vendas e agendamento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437121" y="3135376"/>
            <a:ext cx="2627630" cy="699770"/>
          </a:xfrm>
          <a:custGeom>
            <a:avLst/>
            <a:gdLst/>
            <a:ahLst/>
            <a:cxnLst/>
            <a:rect l="l" t="t" r="r" b="b"/>
            <a:pathLst>
              <a:path w="2627629" h="699770" extrusionOk="0">
                <a:moveTo>
                  <a:pt x="2510917" y="0"/>
                </a:moveTo>
                <a:lnTo>
                  <a:pt x="116585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676"/>
                </a:lnTo>
                <a:lnTo>
                  <a:pt x="9161" y="628056"/>
                </a:lnTo>
                <a:lnTo>
                  <a:pt x="34147" y="665114"/>
                </a:lnTo>
                <a:lnTo>
                  <a:pt x="71205" y="690100"/>
                </a:lnTo>
                <a:lnTo>
                  <a:pt x="116585" y="699262"/>
                </a:lnTo>
                <a:lnTo>
                  <a:pt x="2510917" y="699262"/>
                </a:lnTo>
                <a:lnTo>
                  <a:pt x="2556297" y="690100"/>
                </a:lnTo>
                <a:lnTo>
                  <a:pt x="2593355" y="665114"/>
                </a:lnTo>
                <a:lnTo>
                  <a:pt x="2618341" y="628056"/>
                </a:lnTo>
                <a:lnTo>
                  <a:pt x="2627503" y="582676"/>
                </a:lnTo>
                <a:lnTo>
                  <a:pt x="2627503" y="116586"/>
                </a:lnTo>
                <a:lnTo>
                  <a:pt x="2618341" y="71205"/>
                </a:lnTo>
                <a:lnTo>
                  <a:pt x="2593355" y="34147"/>
                </a:lnTo>
                <a:lnTo>
                  <a:pt x="2556297" y="9161"/>
                </a:lnTo>
                <a:lnTo>
                  <a:pt x="2510917" y="0"/>
                </a:lnTo>
                <a:close/>
              </a:path>
            </a:pathLst>
          </a:custGeom>
          <a:solidFill>
            <a:srgbClr val="D5A2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5" name="Google Shape;65;p2"/>
          <p:cNvSpPr txBox="1"/>
          <p:nvPr/>
        </p:nvSpPr>
        <p:spPr>
          <a:xfrm>
            <a:off x="6614286" y="3146806"/>
            <a:ext cx="227457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-127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Acesso limitado a sistemas de gestão, geralmente caros e complexo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/>
        </p:nvSpPr>
        <p:spPr>
          <a:xfrm>
            <a:off x="526795" y="1453641"/>
            <a:ext cx="8395970" cy="109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Diante  desse  contexto,  nosso  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público-alvo  são  os  pequenos  empreendedores. 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Com  o desenvolvimento de uma ferramenta simples e acessível, será possível ajudar esses profissionais a gerenciar melhor o dia a dia, economizar tempo e aumentar a eficiência. Essa melhoria na gestão não só impacta positivamente os lucros, mas também fortalece a economia local, já que os pequenos negócios são a base de muitas comunidades.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Proposta de valor</a:t>
            </a:r>
            <a:endParaRPr sz="2000"/>
          </a:p>
          <a:p>
            <a:pPr marL="12700" lvl="0" indent="0" algn="l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3000" b="0">
                <a:latin typeface="Arial"/>
                <a:ea typeface="Arial"/>
                <a:cs typeface="Arial"/>
                <a:sym typeface="Arial"/>
              </a:rPr>
              <a:t>Público-alvo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4508" y="3080359"/>
            <a:ext cx="4858639" cy="2571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4"/>
          <p:cNvGrpSpPr/>
          <p:nvPr/>
        </p:nvGrpSpPr>
        <p:grpSpPr>
          <a:xfrm>
            <a:off x="495300" y="1609978"/>
            <a:ext cx="8915400" cy="915669"/>
            <a:chOff x="495300" y="1609978"/>
            <a:chExt cx="8915400" cy="915669"/>
          </a:xfrm>
        </p:grpSpPr>
        <p:sp>
          <p:nvSpPr>
            <p:cNvPr id="78" name="Google Shape;78;p4"/>
            <p:cNvSpPr/>
            <p:nvPr/>
          </p:nvSpPr>
          <p:spPr>
            <a:xfrm>
              <a:off x="495300" y="1609978"/>
              <a:ext cx="8915400" cy="915669"/>
            </a:xfrm>
            <a:custGeom>
              <a:avLst/>
              <a:gdLst/>
              <a:ahLst/>
              <a:cxnLst/>
              <a:rect l="l" t="t" r="r" b="b"/>
              <a:pathLst>
                <a:path w="8915400" h="915669" extrusionOk="0">
                  <a:moveTo>
                    <a:pt x="8823833" y="0"/>
                  </a:moveTo>
                  <a:lnTo>
                    <a:pt x="91554" y="0"/>
                  </a:lnTo>
                  <a:lnTo>
                    <a:pt x="55919" y="7181"/>
                  </a:lnTo>
                  <a:lnTo>
                    <a:pt x="26817" y="26781"/>
                  </a:lnTo>
                  <a:lnTo>
                    <a:pt x="7195" y="55881"/>
                  </a:lnTo>
                  <a:lnTo>
                    <a:pt x="0" y="91567"/>
                  </a:lnTo>
                  <a:lnTo>
                    <a:pt x="0" y="823976"/>
                  </a:lnTo>
                  <a:lnTo>
                    <a:pt x="7195" y="859607"/>
                  </a:lnTo>
                  <a:lnTo>
                    <a:pt x="26817" y="888714"/>
                  </a:lnTo>
                  <a:lnTo>
                    <a:pt x="55919" y="908343"/>
                  </a:lnTo>
                  <a:lnTo>
                    <a:pt x="91554" y="915543"/>
                  </a:lnTo>
                  <a:lnTo>
                    <a:pt x="8823833" y="915543"/>
                  </a:lnTo>
                  <a:lnTo>
                    <a:pt x="8859464" y="908343"/>
                  </a:lnTo>
                  <a:lnTo>
                    <a:pt x="8888571" y="888714"/>
                  </a:lnTo>
                  <a:lnTo>
                    <a:pt x="8908200" y="859607"/>
                  </a:lnTo>
                  <a:lnTo>
                    <a:pt x="8915400" y="823976"/>
                  </a:lnTo>
                  <a:lnTo>
                    <a:pt x="8915400" y="91567"/>
                  </a:lnTo>
                  <a:lnTo>
                    <a:pt x="8908200" y="55881"/>
                  </a:lnTo>
                  <a:lnTo>
                    <a:pt x="8888571" y="26781"/>
                  </a:lnTo>
                  <a:lnTo>
                    <a:pt x="8859464" y="7181"/>
                  </a:lnTo>
                  <a:lnTo>
                    <a:pt x="8823833" y="0"/>
                  </a:lnTo>
                  <a:close/>
                </a:path>
              </a:pathLst>
            </a:custGeom>
            <a:solidFill>
              <a:srgbClr val="D5A2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79" name="Google Shape;79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7035" y="1932644"/>
              <a:ext cx="435403" cy="2716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4"/>
          <p:cNvGrpSpPr/>
          <p:nvPr/>
        </p:nvGrpSpPr>
        <p:grpSpPr>
          <a:xfrm>
            <a:off x="495300" y="2754376"/>
            <a:ext cx="8915400" cy="915669"/>
            <a:chOff x="495300" y="2754376"/>
            <a:chExt cx="8915400" cy="915669"/>
          </a:xfrm>
        </p:grpSpPr>
        <p:sp>
          <p:nvSpPr>
            <p:cNvPr id="81" name="Google Shape;81;p4"/>
            <p:cNvSpPr/>
            <p:nvPr/>
          </p:nvSpPr>
          <p:spPr>
            <a:xfrm>
              <a:off x="495300" y="2754376"/>
              <a:ext cx="8915400" cy="915669"/>
            </a:xfrm>
            <a:custGeom>
              <a:avLst/>
              <a:gdLst/>
              <a:ahLst/>
              <a:cxnLst/>
              <a:rect l="l" t="t" r="r" b="b"/>
              <a:pathLst>
                <a:path w="8915400" h="915670" extrusionOk="0">
                  <a:moveTo>
                    <a:pt x="8823833" y="0"/>
                  </a:moveTo>
                  <a:lnTo>
                    <a:pt x="91554" y="0"/>
                  </a:lnTo>
                  <a:lnTo>
                    <a:pt x="55919" y="7199"/>
                  </a:lnTo>
                  <a:lnTo>
                    <a:pt x="26817" y="26828"/>
                  </a:lnTo>
                  <a:lnTo>
                    <a:pt x="7195" y="55935"/>
                  </a:lnTo>
                  <a:lnTo>
                    <a:pt x="0" y="91566"/>
                  </a:lnTo>
                  <a:lnTo>
                    <a:pt x="0" y="823976"/>
                  </a:lnTo>
                  <a:lnTo>
                    <a:pt x="7195" y="859661"/>
                  </a:lnTo>
                  <a:lnTo>
                    <a:pt x="26817" y="888761"/>
                  </a:lnTo>
                  <a:lnTo>
                    <a:pt x="55919" y="908361"/>
                  </a:lnTo>
                  <a:lnTo>
                    <a:pt x="91554" y="915543"/>
                  </a:lnTo>
                  <a:lnTo>
                    <a:pt x="8823833" y="915543"/>
                  </a:lnTo>
                  <a:lnTo>
                    <a:pt x="8859464" y="908361"/>
                  </a:lnTo>
                  <a:lnTo>
                    <a:pt x="8888571" y="888761"/>
                  </a:lnTo>
                  <a:lnTo>
                    <a:pt x="8908200" y="859661"/>
                  </a:lnTo>
                  <a:lnTo>
                    <a:pt x="8915400" y="823976"/>
                  </a:lnTo>
                  <a:lnTo>
                    <a:pt x="8915400" y="91566"/>
                  </a:lnTo>
                  <a:lnTo>
                    <a:pt x="8908200" y="55935"/>
                  </a:lnTo>
                  <a:lnTo>
                    <a:pt x="8888571" y="26828"/>
                  </a:lnTo>
                  <a:lnTo>
                    <a:pt x="8859464" y="7199"/>
                  </a:lnTo>
                  <a:lnTo>
                    <a:pt x="8823833" y="0"/>
                  </a:lnTo>
                  <a:close/>
                </a:path>
              </a:pathLst>
            </a:custGeom>
            <a:solidFill>
              <a:srgbClr val="D5A2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24865" y="3140290"/>
              <a:ext cx="410209" cy="300990"/>
            </a:xfrm>
            <a:custGeom>
              <a:avLst/>
              <a:gdLst/>
              <a:ahLst/>
              <a:cxnLst/>
              <a:rect l="l" t="t" r="r" b="b"/>
              <a:pathLst>
                <a:path w="410209" h="300989" extrusionOk="0">
                  <a:moveTo>
                    <a:pt x="46951" y="161302"/>
                  </a:moveTo>
                  <a:lnTo>
                    <a:pt x="41148" y="155498"/>
                  </a:lnTo>
                  <a:lnTo>
                    <a:pt x="26847" y="155498"/>
                  </a:lnTo>
                  <a:lnTo>
                    <a:pt x="21043" y="161302"/>
                  </a:lnTo>
                  <a:lnTo>
                    <a:pt x="21043" y="175615"/>
                  </a:lnTo>
                  <a:lnTo>
                    <a:pt x="26847" y="181419"/>
                  </a:lnTo>
                  <a:lnTo>
                    <a:pt x="41148" y="181419"/>
                  </a:lnTo>
                  <a:lnTo>
                    <a:pt x="46951" y="175615"/>
                  </a:lnTo>
                  <a:lnTo>
                    <a:pt x="46951" y="168465"/>
                  </a:lnTo>
                  <a:lnTo>
                    <a:pt x="46951" y="161302"/>
                  </a:lnTo>
                  <a:close/>
                </a:path>
                <a:path w="410209" h="300989" extrusionOk="0">
                  <a:moveTo>
                    <a:pt x="103974" y="161302"/>
                  </a:moveTo>
                  <a:lnTo>
                    <a:pt x="98171" y="155498"/>
                  </a:lnTo>
                  <a:lnTo>
                    <a:pt x="83858" y="155498"/>
                  </a:lnTo>
                  <a:lnTo>
                    <a:pt x="78054" y="161302"/>
                  </a:lnTo>
                  <a:lnTo>
                    <a:pt x="78054" y="175615"/>
                  </a:lnTo>
                  <a:lnTo>
                    <a:pt x="83858" y="181419"/>
                  </a:lnTo>
                  <a:lnTo>
                    <a:pt x="98171" y="181419"/>
                  </a:lnTo>
                  <a:lnTo>
                    <a:pt x="103974" y="175615"/>
                  </a:lnTo>
                  <a:lnTo>
                    <a:pt x="103974" y="168465"/>
                  </a:lnTo>
                  <a:lnTo>
                    <a:pt x="103974" y="161302"/>
                  </a:lnTo>
                  <a:close/>
                </a:path>
                <a:path w="410209" h="300989" extrusionOk="0">
                  <a:moveTo>
                    <a:pt x="103974" y="5791"/>
                  </a:moveTo>
                  <a:lnTo>
                    <a:pt x="98171" y="0"/>
                  </a:lnTo>
                  <a:lnTo>
                    <a:pt x="83858" y="0"/>
                  </a:lnTo>
                  <a:lnTo>
                    <a:pt x="78054" y="5791"/>
                  </a:lnTo>
                  <a:lnTo>
                    <a:pt x="78054" y="20116"/>
                  </a:lnTo>
                  <a:lnTo>
                    <a:pt x="83858" y="25908"/>
                  </a:lnTo>
                  <a:lnTo>
                    <a:pt x="91008" y="25908"/>
                  </a:lnTo>
                  <a:lnTo>
                    <a:pt x="98171" y="25908"/>
                  </a:lnTo>
                  <a:lnTo>
                    <a:pt x="103974" y="20116"/>
                  </a:lnTo>
                  <a:lnTo>
                    <a:pt x="103974" y="5791"/>
                  </a:lnTo>
                  <a:close/>
                </a:path>
                <a:path w="410209" h="300989" extrusionOk="0">
                  <a:moveTo>
                    <a:pt x="160985" y="161302"/>
                  </a:moveTo>
                  <a:lnTo>
                    <a:pt x="155194" y="155498"/>
                  </a:lnTo>
                  <a:lnTo>
                    <a:pt x="140881" y="155498"/>
                  </a:lnTo>
                  <a:lnTo>
                    <a:pt x="135077" y="161302"/>
                  </a:lnTo>
                  <a:lnTo>
                    <a:pt x="135077" y="175615"/>
                  </a:lnTo>
                  <a:lnTo>
                    <a:pt x="140881" y="181419"/>
                  </a:lnTo>
                  <a:lnTo>
                    <a:pt x="155194" y="181419"/>
                  </a:lnTo>
                  <a:lnTo>
                    <a:pt x="160985" y="175615"/>
                  </a:lnTo>
                  <a:lnTo>
                    <a:pt x="160985" y="168465"/>
                  </a:lnTo>
                  <a:lnTo>
                    <a:pt x="160985" y="161302"/>
                  </a:lnTo>
                  <a:close/>
                </a:path>
                <a:path w="410209" h="300989" extrusionOk="0">
                  <a:moveTo>
                    <a:pt x="160985" y="5791"/>
                  </a:moveTo>
                  <a:lnTo>
                    <a:pt x="155194" y="0"/>
                  </a:lnTo>
                  <a:lnTo>
                    <a:pt x="140881" y="0"/>
                  </a:lnTo>
                  <a:lnTo>
                    <a:pt x="135077" y="5791"/>
                  </a:lnTo>
                  <a:lnTo>
                    <a:pt x="135077" y="20116"/>
                  </a:lnTo>
                  <a:lnTo>
                    <a:pt x="140881" y="25908"/>
                  </a:lnTo>
                  <a:lnTo>
                    <a:pt x="148031" y="25908"/>
                  </a:lnTo>
                  <a:lnTo>
                    <a:pt x="155194" y="25908"/>
                  </a:lnTo>
                  <a:lnTo>
                    <a:pt x="160985" y="20116"/>
                  </a:lnTo>
                  <a:lnTo>
                    <a:pt x="160985" y="5791"/>
                  </a:lnTo>
                  <a:close/>
                </a:path>
                <a:path w="410209" h="300989" extrusionOk="0">
                  <a:moveTo>
                    <a:pt x="218008" y="161302"/>
                  </a:moveTo>
                  <a:lnTo>
                    <a:pt x="212204" y="155498"/>
                  </a:lnTo>
                  <a:lnTo>
                    <a:pt x="197891" y="155498"/>
                  </a:lnTo>
                  <a:lnTo>
                    <a:pt x="192087" y="161302"/>
                  </a:lnTo>
                  <a:lnTo>
                    <a:pt x="192087" y="175615"/>
                  </a:lnTo>
                  <a:lnTo>
                    <a:pt x="197891" y="181419"/>
                  </a:lnTo>
                  <a:lnTo>
                    <a:pt x="212204" y="181419"/>
                  </a:lnTo>
                  <a:lnTo>
                    <a:pt x="218008" y="175615"/>
                  </a:lnTo>
                  <a:lnTo>
                    <a:pt x="218008" y="168465"/>
                  </a:lnTo>
                  <a:lnTo>
                    <a:pt x="218008" y="161302"/>
                  </a:lnTo>
                  <a:close/>
                </a:path>
                <a:path w="410209" h="300989" extrusionOk="0">
                  <a:moveTo>
                    <a:pt x="218008" y="5791"/>
                  </a:moveTo>
                  <a:lnTo>
                    <a:pt x="212204" y="0"/>
                  </a:lnTo>
                  <a:lnTo>
                    <a:pt x="197891" y="0"/>
                  </a:lnTo>
                  <a:lnTo>
                    <a:pt x="192087" y="5791"/>
                  </a:lnTo>
                  <a:lnTo>
                    <a:pt x="192087" y="20116"/>
                  </a:lnTo>
                  <a:lnTo>
                    <a:pt x="197891" y="25908"/>
                  </a:lnTo>
                  <a:lnTo>
                    <a:pt x="205054" y="25908"/>
                  </a:lnTo>
                  <a:lnTo>
                    <a:pt x="212204" y="25908"/>
                  </a:lnTo>
                  <a:lnTo>
                    <a:pt x="218008" y="20116"/>
                  </a:lnTo>
                  <a:lnTo>
                    <a:pt x="218008" y="5791"/>
                  </a:lnTo>
                  <a:close/>
                </a:path>
                <a:path w="410209" h="300989" extrusionOk="0">
                  <a:moveTo>
                    <a:pt x="275018" y="161302"/>
                  </a:moveTo>
                  <a:lnTo>
                    <a:pt x="269227" y="155498"/>
                  </a:lnTo>
                  <a:lnTo>
                    <a:pt x="254914" y="155498"/>
                  </a:lnTo>
                  <a:lnTo>
                    <a:pt x="249110" y="161302"/>
                  </a:lnTo>
                  <a:lnTo>
                    <a:pt x="249110" y="175615"/>
                  </a:lnTo>
                  <a:lnTo>
                    <a:pt x="254914" y="181419"/>
                  </a:lnTo>
                  <a:lnTo>
                    <a:pt x="269227" y="181419"/>
                  </a:lnTo>
                  <a:lnTo>
                    <a:pt x="275018" y="175615"/>
                  </a:lnTo>
                  <a:lnTo>
                    <a:pt x="275018" y="168465"/>
                  </a:lnTo>
                  <a:lnTo>
                    <a:pt x="275018" y="161302"/>
                  </a:lnTo>
                  <a:close/>
                </a:path>
                <a:path w="410209" h="300989" extrusionOk="0">
                  <a:moveTo>
                    <a:pt x="275018" y="5791"/>
                  </a:moveTo>
                  <a:lnTo>
                    <a:pt x="269227" y="0"/>
                  </a:lnTo>
                  <a:lnTo>
                    <a:pt x="254914" y="0"/>
                  </a:lnTo>
                  <a:lnTo>
                    <a:pt x="249110" y="5791"/>
                  </a:lnTo>
                  <a:lnTo>
                    <a:pt x="249110" y="20116"/>
                  </a:lnTo>
                  <a:lnTo>
                    <a:pt x="254914" y="25908"/>
                  </a:lnTo>
                  <a:lnTo>
                    <a:pt x="262064" y="25908"/>
                  </a:lnTo>
                  <a:lnTo>
                    <a:pt x="269227" y="25908"/>
                  </a:lnTo>
                  <a:lnTo>
                    <a:pt x="275018" y="20116"/>
                  </a:lnTo>
                  <a:lnTo>
                    <a:pt x="275018" y="5791"/>
                  </a:lnTo>
                  <a:close/>
                </a:path>
                <a:path w="410209" h="300989" extrusionOk="0">
                  <a:moveTo>
                    <a:pt x="332041" y="161302"/>
                  </a:moveTo>
                  <a:lnTo>
                    <a:pt x="326237" y="155498"/>
                  </a:lnTo>
                  <a:lnTo>
                    <a:pt x="311924" y="155498"/>
                  </a:lnTo>
                  <a:lnTo>
                    <a:pt x="306120" y="161302"/>
                  </a:lnTo>
                  <a:lnTo>
                    <a:pt x="306120" y="175615"/>
                  </a:lnTo>
                  <a:lnTo>
                    <a:pt x="311924" y="181419"/>
                  </a:lnTo>
                  <a:lnTo>
                    <a:pt x="326237" y="181419"/>
                  </a:lnTo>
                  <a:lnTo>
                    <a:pt x="332041" y="175615"/>
                  </a:lnTo>
                  <a:lnTo>
                    <a:pt x="332041" y="168465"/>
                  </a:lnTo>
                  <a:lnTo>
                    <a:pt x="332041" y="161302"/>
                  </a:lnTo>
                  <a:close/>
                </a:path>
                <a:path w="410209" h="300989" extrusionOk="0">
                  <a:moveTo>
                    <a:pt x="332041" y="5803"/>
                  </a:moveTo>
                  <a:lnTo>
                    <a:pt x="326237" y="0"/>
                  </a:lnTo>
                  <a:lnTo>
                    <a:pt x="311924" y="0"/>
                  </a:lnTo>
                  <a:lnTo>
                    <a:pt x="306120" y="5791"/>
                  </a:lnTo>
                  <a:lnTo>
                    <a:pt x="306120" y="20116"/>
                  </a:lnTo>
                  <a:lnTo>
                    <a:pt x="311924" y="25908"/>
                  </a:lnTo>
                  <a:lnTo>
                    <a:pt x="319087" y="25908"/>
                  </a:lnTo>
                  <a:lnTo>
                    <a:pt x="326237" y="25908"/>
                  </a:lnTo>
                  <a:lnTo>
                    <a:pt x="332041" y="20116"/>
                  </a:lnTo>
                  <a:lnTo>
                    <a:pt x="332041" y="5803"/>
                  </a:lnTo>
                  <a:close/>
                </a:path>
                <a:path w="410209" h="300989" extrusionOk="0">
                  <a:moveTo>
                    <a:pt x="353339" y="83947"/>
                  </a:moveTo>
                  <a:lnTo>
                    <a:pt x="352513" y="81165"/>
                  </a:lnTo>
                  <a:lnTo>
                    <a:pt x="341718" y="41376"/>
                  </a:lnTo>
                  <a:lnTo>
                    <a:pt x="337578" y="36982"/>
                  </a:lnTo>
                  <a:lnTo>
                    <a:pt x="333349" y="34302"/>
                  </a:lnTo>
                  <a:lnTo>
                    <a:pt x="325615" y="31546"/>
                  </a:lnTo>
                  <a:lnTo>
                    <a:pt x="322351" y="31000"/>
                  </a:lnTo>
                  <a:lnTo>
                    <a:pt x="315798" y="31102"/>
                  </a:lnTo>
                  <a:lnTo>
                    <a:pt x="304749" y="34264"/>
                  </a:lnTo>
                  <a:lnTo>
                    <a:pt x="300532" y="36969"/>
                  </a:lnTo>
                  <a:lnTo>
                    <a:pt x="295960" y="42430"/>
                  </a:lnTo>
                  <a:lnTo>
                    <a:pt x="290576" y="62204"/>
                  </a:lnTo>
                  <a:lnTo>
                    <a:pt x="284556" y="41376"/>
                  </a:lnTo>
                  <a:lnTo>
                    <a:pt x="280428" y="36982"/>
                  </a:lnTo>
                  <a:lnTo>
                    <a:pt x="276212" y="34290"/>
                  </a:lnTo>
                  <a:lnTo>
                    <a:pt x="268528" y="31572"/>
                  </a:lnTo>
                  <a:lnTo>
                    <a:pt x="265303" y="31026"/>
                  </a:lnTo>
                  <a:lnTo>
                    <a:pt x="258787" y="31089"/>
                  </a:lnTo>
                  <a:lnTo>
                    <a:pt x="247726" y="34277"/>
                  </a:lnTo>
                  <a:lnTo>
                    <a:pt x="243497" y="36982"/>
                  </a:lnTo>
                  <a:lnTo>
                    <a:pt x="238950" y="42443"/>
                  </a:lnTo>
                  <a:lnTo>
                    <a:pt x="233451" y="62763"/>
                  </a:lnTo>
                  <a:lnTo>
                    <a:pt x="227482" y="41579"/>
                  </a:lnTo>
                  <a:lnTo>
                    <a:pt x="223342" y="37185"/>
                  </a:lnTo>
                  <a:lnTo>
                    <a:pt x="219113" y="34505"/>
                  </a:lnTo>
                  <a:lnTo>
                    <a:pt x="211455" y="31711"/>
                  </a:lnTo>
                  <a:lnTo>
                    <a:pt x="208267" y="31089"/>
                  </a:lnTo>
                  <a:lnTo>
                    <a:pt x="201764" y="31102"/>
                  </a:lnTo>
                  <a:lnTo>
                    <a:pt x="190715" y="34264"/>
                  </a:lnTo>
                  <a:lnTo>
                    <a:pt x="186499" y="36969"/>
                  </a:lnTo>
                  <a:lnTo>
                    <a:pt x="181927" y="42430"/>
                  </a:lnTo>
                  <a:lnTo>
                    <a:pt x="176542" y="62204"/>
                  </a:lnTo>
                  <a:lnTo>
                    <a:pt x="170522" y="41376"/>
                  </a:lnTo>
                  <a:lnTo>
                    <a:pt x="166395" y="36982"/>
                  </a:lnTo>
                  <a:lnTo>
                    <a:pt x="162179" y="34290"/>
                  </a:lnTo>
                  <a:lnTo>
                    <a:pt x="154482" y="31572"/>
                  </a:lnTo>
                  <a:lnTo>
                    <a:pt x="151269" y="31026"/>
                  </a:lnTo>
                  <a:lnTo>
                    <a:pt x="144754" y="31089"/>
                  </a:lnTo>
                  <a:lnTo>
                    <a:pt x="133692" y="34277"/>
                  </a:lnTo>
                  <a:lnTo>
                    <a:pt x="129451" y="36982"/>
                  </a:lnTo>
                  <a:lnTo>
                    <a:pt x="124917" y="42443"/>
                  </a:lnTo>
                  <a:lnTo>
                    <a:pt x="119418" y="62763"/>
                  </a:lnTo>
                  <a:lnTo>
                    <a:pt x="113449" y="41579"/>
                  </a:lnTo>
                  <a:lnTo>
                    <a:pt x="109296" y="37185"/>
                  </a:lnTo>
                  <a:lnTo>
                    <a:pt x="105067" y="34505"/>
                  </a:lnTo>
                  <a:lnTo>
                    <a:pt x="97409" y="31711"/>
                  </a:lnTo>
                  <a:lnTo>
                    <a:pt x="94234" y="31089"/>
                  </a:lnTo>
                  <a:lnTo>
                    <a:pt x="87731" y="31102"/>
                  </a:lnTo>
                  <a:lnTo>
                    <a:pt x="76682" y="34264"/>
                  </a:lnTo>
                  <a:lnTo>
                    <a:pt x="72466" y="36969"/>
                  </a:lnTo>
                  <a:lnTo>
                    <a:pt x="67894" y="42430"/>
                  </a:lnTo>
                  <a:lnTo>
                    <a:pt x="56807" y="84137"/>
                  </a:lnTo>
                  <a:lnTo>
                    <a:pt x="58458" y="86969"/>
                  </a:lnTo>
                  <a:lnTo>
                    <a:pt x="64973" y="87782"/>
                  </a:lnTo>
                  <a:lnTo>
                    <a:pt x="67119" y="86194"/>
                  </a:lnTo>
                  <a:lnTo>
                    <a:pt x="75463" y="53746"/>
                  </a:lnTo>
                  <a:lnTo>
                    <a:pt x="75463" y="145135"/>
                  </a:lnTo>
                  <a:lnTo>
                    <a:pt x="85826" y="145135"/>
                  </a:lnTo>
                  <a:lnTo>
                    <a:pt x="85826" y="88112"/>
                  </a:lnTo>
                  <a:lnTo>
                    <a:pt x="96202" y="88112"/>
                  </a:lnTo>
                  <a:lnTo>
                    <a:pt x="96202" y="145135"/>
                  </a:lnTo>
                  <a:lnTo>
                    <a:pt x="106565" y="145135"/>
                  </a:lnTo>
                  <a:lnTo>
                    <a:pt x="106565" y="54063"/>
                  </a:lnTo>
                  <a:lnTo>
                    <a:pt x="114439" y="83820"/>
                  </a:lnTo>
                  <a:lnTo>
                    <a:pt x="114439" y="86677"/>
                  </a:lnTo>
                  <a:lnTo>
                    <a:pt x="116763" y="89001"/>
                  </a:lnTo>
                  <a:lnTo>
                    <a:pt x="122491" y="89001"/>
                  </a:lnTo>
                  <a:lnTo>
                    <a:pt x="124802" y="86677"/>
                  </a:lnTo>
                  <a:lnTo>
                    <a:pt x="124802" y="83820"/>
                  </a:lnTo>
                  <a:lnTo>
                    <a:pt x="132486" y="54063"/>
                  </a:lnTo>
                  <a:lnTo>
                    <a:pt x="132486" y="70383"/>
                  </a:lnTo>
                  <a:lnTo>
                    <a:pt x="123571" y="103670"/>
                  </a:lnTo>
                  <a:lnTo>
                    <a:pt x="132486" y="103670"/>
                  </a:lnTo>
                  <a:lnTo>
                    <a:pt x="132486" y="145135"/>
                  </a:lnTo>
                  <a:lnTo>
                    <a:pt x="142849" y="145135"/>
                  </a:lnTo>
                  <a:lnTo>
                    <a:pt x="142849" y="103670"/>
                  </a:lnTo>
                  <a:lnTo>
                    <a:pt x="153212" y="103670"/>
                  </a:lnTo>
                  <a:lnTo>
                    <a:pt x="153212" y="145135"/>
                  </a:lnTo>
                  <a:lnTo>
                    <a:pt x="163576" y="145135"/>
                  </a:lnTo>
                  <a:lnTo>
                    <a:pt x="163576" y="103670"/>
                  </a:lnTo>
                  <a:lnTo>
                    <a:pt x="172491" y="103670"/>
                  </a:lnTo>
                  <a:lnTo>
                    <a:pt x="163576" y="70383"/>
                  </a:lnTo>
                  <a:lnTo>
                    <a:pt x="163576" y="53746"/>
                  </a:lnTo>
                  <a:lnTo>
                    <a:pt x="172212" y="86588"/>
                  </a:lnTo>
                  <a:lnTo>
                    <a:pt x="175018" y="88277"/>
                  </a:lnTo>
                  <a:lnTo>
                    <a:pt x="179654" y="87122"/>
                  </a:lnTo>
                  <a:lnTo>
                    <a:pt x="181102" y="85674"/>
                  </a:lnTo>
                  <a:lnTo>
                    <a:pt x="189496" y="53746"/>
                  </a:lnTo>
                  <a:lnTo>
                    <a:pt x="189496" y="145135"/>
                  </a:lnTo>
                  <a:lnTo>
                    <a:pt x="199859" y="145135"/>
                  </a:lnTo>
                  <a:lnTo>
                    <a:pt x="199859" y="88112"/>
                  </a:lnTo>
                  <a:lnTo>
                    <a:pt x="210235" y="88112"/>
                  </a:lnTo>
                  <a:lnTo>
                    <a:pt x="210235" y="145135"/>
                  </a:lnTo>
                  <a:lnTo>
                    <a:pt x="220599" y="145135"/>
                  </a:lnTo>
                  <a:lnTo>
                    <a:pt x="220599" y="54063"/>
                  </a:lnTo>
                  <a:lnTo>
                    <a:pt x="228473" y="83820"/>
                  </a:lnTo>
                  <a:lnTo>
                    <a:pt x="228473" y="86677"/>
                  </a:lnTo>
                  <a:lnTo>
                    <a:pt x="230797" y="89001"/>
                  </a:lnTo>
                  <a:lnTo>
                    <a:pt x="236524" y="89001"/>
                  </a:lnTo>
                  <a:lnTo>
                    <a:pt x="238848" y="86677"/>
                  </a:lnTo>
                  <a:lnTo>
                    <a:pt x="238848" y="83820"/>
                  </a:lnTo>
                  <a:lnTo>
                    <a:pt x="246519" y="54063"/>
                  </a:lnTo>
                  <a:lnTo>
                    <a:pt x="246519" y="70383"/>
                  </a:lnTo>
                  <a:lnTo>
                    <a:pt x="237604" y="103670"/>
                  </a:lnTo>
                  <a:lnTo>
                    <a:pt x="246519" y="103670"/>
                  </a:lnTo>
                  <a:lnTo>
                    <a:pt x="246519" y="145135"/>
                  </a:lnTo>
                  <a:lnTo>
                    <a:pt x="256882" y="145135"/>
                  </a:lnTo>
                  <a:lnTo>
                    <a:pt x="256882" y="103670"/>
                  </a:lnTo>
                  <a:lnTo>
                    <a:pt x="267246" y="103670"/>
                  </a:lnTo>
                  <a:lnTo>
                    <a:pt x="267246" y="145135"/>
                  </a:lnTo>
                  <a:lnTo>
                    <a:pt x="277622" y="145135"/>
                  </a:lnTo>
                  <a:lnTo>
                    <a:pt x="277622" y="103670"/>
                  </a:lnTo>
                  <a:lnTo>
                    <a:pt x="286537" y="103670"/>
                  </a:lnTo>
                  <a:lnTo>
                    <a:pt x="277622" y="70383"/>
                  </a:lnTo>
                  <a:lnTo>
                    <a:pt x="277622" y="53746"/>
                  </a:lnTo>
                  <a:lnTo>
                    <a:pt x="286245" y="86588"/>
                  </a:lnTo>
                  <a:lnTo>
                    <a:pt x="289052" y="88277"/>
                  </a:lnTo>
                  <a:lnTo>
                    <a:pt x="293687" y="87122"/>
                  </a:lnTo>
                  <a:lnTo>
                    <a:pt x="295135" y="85674"/>
                  </a:lnTo>
                  <a:lnTo>
                    <a:pt x="303530" y="53746"/>
                  </a:lnTo>
                  <a:lnTo>
                    <a:pt x="303530" y="145135"/>
                  </a:lnTo>
                  <a:lnTo>
                    <a:pt x="313893" y="145135"/>
                  </a:lnTo>
                  <a:lnTo>
                    <a:pt x="313893" y="88112"/>
                  </a:lnTo>
                  <a:lnTo>
                    <a:pt x="324269" y="88112"/>
                  </a:lnTo>
                  <a:lnTo>
                    <a:pt x="324269" y="145135"/>
                  </a:lnTo>
                  <a:lnTo>
                    <a:pt x="334632" y="145135"/>
                  </a:lnTo>
                  <a:lnTo>
                    <a:pt x="334632" y="54063"/>
                  </a:lnTo>
                  <a:lnTo>
                    <a:pt x="343141" y="86144"/>
                  </a:lnTo>
                  <a:lnTo>
                    <a:pt x="345287" y="87731"/>
                  </a:lnTo>
                  <a:lnTo>
                    <a:pt x="349046" y="87655"/>
                  </a:lnTo>
                  <a:lnTo>
                    <a:pt x="351790" y="86829"/>
                  </a:lnTo>
                  <a:lnTo>
                    <a:pt x="353339" y="83947"/>
                  </a:lnTo>
                  <a:close/>
                </a:path>
                <a:path w="410209" h="300989" extrusionOk="0">
                  <a:moveTo>
                    <a:pt x="389064" y="161302"/>
                  </a:moveTo>
                  <a:lnTo>
                    <a:pt x="383273" y="155498"/>
                  </a:lnTo>
                  <a:lnTo>
                    <a:pt x="368947" y="155498"/>
                  </a:lnTo>
                  <a:lnTo>
                    <a:pt x="363143" y="161302"/>
                  </a:lnTo>
                  <a:lnTo>
                    <a:pt x="363143" y="175615"/>
                  </a:lnTo>
                  <a:lnTo>
                    <a:pt x="368947" y="181419"/>
                  </a:lnTo>
                  <a:lnTo>
                    <a:pt x="383273" y="181419"/>
                  </a:lnTo>
                  <a:lnTo>
                    <a:pt x="389064" y="175615"/>
                  </a:lnTo>
                  <a:lnTo>
                    <a:pt x="389064" y="168465"/>
                  </a:lnTo>
                  <a:lnTo>
                    <a:pt x="389064" y="161302"/>
                  </a:lnTo>
                  <a:close/>
                </a:path>
                <a:path w="410209" h="300989" extrusionOk="0">
                  <a:moveTo>
                    <a:pt x="409879" y="240690"/>
                  </a:moveTo>
                  <a:lnTo>
                    <a:pt x="398780" y="196888"/>
                  </a:lnTo>
                  <a:lnTo>
                    <a:pt x="372821" y="186601"/>
                  </a:lnTo>
                  <a:lnTo>
                    <a:pt x="361759" y="189788"/>
                  </a:lnTo>
                  <a:lnTo>
                    <a:pt x="357530" y="192493"/>
                  </a:lnTo>
                  <a:lnTo>
                    <a:pt x="352666" y="198996"/>
                  </a:lnTo>
                  <a:lnTo>
                    <a:pt x="347484" y="218274"/>
                  </a:lnTo>
                  <a:lnTo>
                    <a:pt x="341515" y="197091"/>
                  </a:lnTo>
                  <a:lnTo>
                    <a:pt x="337375" y="192697"/>
                  </a:lnTo>
                  <a:lnTo>
                    <a:pt x="333146" y="190017"/>
                  </a:lnTo>
                  <a:lnTo>
                    <a:pt x="322300" y="186601"/>
                  </a:lnTo>
                  <a:lnTo>
                    <a:pt x="312547" y="187147"/>
                  </a:lnTo>
                  <a:lnTo>
                    <a:pt x="304749" y="189776"/>
                  </a:lnTo>
                  <a:lnTo>
                    <a:pt x="300532" y="192481"/>
                  </a:lnTo>
                  <a:lnTo>
                    <a:pt x="295656" y="198996"/>
                  </a:lnTo>
                  <a:lnTo>
                    <a:pt x="290576" y="217703"/>
                  </a:lnTo>
                  <a:lnTo>
                    <a:pt x="284556" y="196888"/>
                  </a:lnTo>
                  <a:lnTo>
                    <a:pt x="280428" y="192481"/>
                  </a:lnTo>
                  <a:lnTo>
                    <a:pt x="276212" y="189801"/>
                  </a:lnTo>
                  <a:lnTo>
                    <a:pt x="265303" y="186524"/>
                  </a:lnTo>
                  <a:lnTo>
                    <a:pt x="255524" y="187147"/>
                  </a:lnTo>
                  <a:lnTo>
                    <a:pt x="247726" y="189788"/>
                  </a:lnTo>
                  <a:lnTo>
                    <a:pt x="243497" y="192493"/>
                  </a:lnTo>
                  <a:lnTo>
                    <a:pt x="238633" y="198996"/>
                  </a:lnTo>
                  <a:lnTo>
                    <a:pt x="233451" y="218274"/>
                  </a:lnTo>
                  <a:lnTo>
                    <a:pt x="227482" y="197091"/>
                  </a:lnTo>
                  <a:lnTo>
                    <a:pt x="223342" y="192697"/>
                  </a:lnTo>
                  <a:lnTo>
                    <a:pt x="219113" y="190017"/>
                  </a:lnTo>
                  <a:lnTo>
                    <a:pt x="208267" y="186601"/>
                  </a:lnTo>
                  <a:lnTo>
                    <a:pt x="198513" y="187147"/>
                  </a:lnTo>
                  <a:lnTo>
                    <a:pt x="190715" y="189776"/>
                  </a:lnTo>
                  <a:lnTo>
                    <a:pt x="186499" y="192481"/>
                  </a:lnTo>
                  <a:lnTo>
                    <a:pt x="181622" y="198996"/>
                  </a:lnTo>
                  <a:lnTo>
                    <a:pt x="176542" y="217703"/>
                  </a:lnTo>
                  <a:lnTo>
                    <a:pt x="170522" y="196888"/>
                  </a:lnTo>
                  <a:lnTo>
                    <a:pt x="166395" y="192481"/>
                  </a:lnTo>
                  <a:lnTo>
                    <a:pt x="162179" y="189801"/>
                  </a:lnTo>
                  <a:lnTo>
                    <a:pt x="151269" y="186524"/>
                  </a:lnTo>
                  <a:lnTo>
                    <a:pt x="141490" y="187147"/>
                  </a:lnTo>
                  <a:lnTo>
                    <a:pt x="133692" y="189788"/>
                  </a:lnTo>
                  <a:lnTo>
                    <a:pt x="129451" y="192493"/>
                  </a:lnTo>
                  <a:lnTo>
                    <a:pt x="124599" y="198996"/>
                  </a:lnTo>
                  <a:lnTo>
                    <a:pt x="119418" y="218274"/>
                  </a:lnTo>
                  <a:lnTo>
                    <a:pt x="113449" y="197091"/>
                  </a:lnTo>
                  <a:lnTo>
                    <a:pt x="109296" y="192697"/>
                  </a:lnTo>
                  <a:lnTo>
                    <a:pt x="105067" y="190017"/>
                  </a:lnTo>
                  <a:lnTo>
                    <a:pt x="94234" y="186601"/>
                  </a:lnTo>
                  <a:lnTo>
                    <a:pt x="84480" y="187147"/>
                  </a:lnTo>
                  <a:lnTo>
                    <a:pt x="76682" y="189776"/>
                  </a:lnTo>
                  <a:lnTo>
                    <a:pt x="72466" y="192481"/>
                  </a:lnTo>
                  <a:lnTo>
                    <a:pt x="67589" y="198996"/>
                  </a:lnTo>
                  <a:lnTo>
                    <a:pt x="62509" y="217703"/>
                  </a:lnTo>
                  <a:lnTo>
                    <a:pt x="56489" y="196888"/>
                  </a:lnTo>
                  <a:lnTo>
                    <a:pt x="52362" y="192481"/>
                  </a:lnTo>
                  <a:lnTo>
                    <a:pt x="48145" y="189801"/>
                  </a:lnTo>
                  <a:lnTo>
                    <a:pt x="37236" y="186524"/>
                  </a:lnTo>
                  <a:lnTo>
                    <a:pt x="27457" y="187147"/>
                  </a:lnTo>
                  <a:lnTo>
                    <a:pt x="19659" y="189788"/>
                  </a:lnTo>
                  <a:lnTo>
                    <a:pt x="15417" y="192493"/>
                  </a:lnTo>
                  <a:lnTo>
                    <a:pt x="10566" y="198996"/>
                  </a:lnTo>
                  <a:lnTo>
                    <a:pt x="0" y="239483"/>
                  </a:lnTo>
                  <a:lnTo>
                    <a:pt x="1828" y="242214"/>
                  </a:lnTo>
                  <a:lnTo>
                    <a:pt x="7200" y="243293"/>
                  </a:lnTo>
                  <a:lnTo>
                    <a:pt x="9740" y="241808"/>
                  </a:lnTo>
                  <a:lnTo>
                    <a:pt x="18440" y="209613"/>
                  </a:lnTo>
                  <a:lnTo>
                    <a:pt x="18440" y="225894"/>
                  </a:lnTo>
                  <a:lnTo>
                    <a:pt x="9525" y="259168"/>
                  </a:lnTo>
                  <a:lnTo>
                    <a:pt x="18440" y="259168"/>
                  </a:lnTo>
                  <a:lnTo>
                    <a:pt x="18440" y="300647"/>
                  </a:lnTo>
                  <a:lnTo>
                    <a:pt x="28816" y="300647"/>
                  </a:lnTo>
                  <a:lnTo>
                    <a:pt x="28816" y="259168"/>
                  </a:lnTo>
                  <a:lnTo>
                    <a:pt x="39179" y="259168"/>
                  </a:lnTo>
                  <a:lnTo>
                    <a:pt x="39179" y="300647"/>
                  </a:lnTo>
                  <a:lnTo>
                    <a:pt x="49542" y="300647"/>
                  </a:lnTo>
                  <a:lnTo>
                    <a:pt x="49542" y="259168"/>
                  </a:lnTo>
                  <a:lnTo>
                    <a:pt x="58458" y="259168"/>
                  </a:lnTo>
                  <a:lnTo>
                    <a:pt x="49542" y="225894"/>
                  </a:lnTo>
                  <a:lnTo>
                    <a:pt x="49542" y="209257"/>
                  </a:lnTo>
                  <a:lnTo>
                    <a:pt x="58178" y="242100"/>
                  </a:lnTo>
                  <a:lnTo>
                    <a:pt x="60985" y="243789"/>
                  </a:lnTo>
                  <a:lnTo>
                    <a:pt x="65620" y="242620"/>
                  </a:lnTo>
                  <a:lnTo>
                    <a:pt x="67068" y="241173"/>
                  </a:lnTo>
                  <a:lnTo>
                    <a:pt x="75463" y="209257"/>
                  </a:lnTo>
                  <a:lnTo>
                    <a:pt x="75463" y="300647"/>
                  </a:lnTo>
                  <a:lnTo>
                    <a:pt x="85826" y="300647"/>
                  </a:lnTo>
                  <a:lnTo>
                    <a:pt x="85826" y="243624"/>
                  </a:lnTo>
                  <a:lnTo>
                    <a:pt x="96202" y="243624"/>
                  </a:lnTo>
                  <a:lnTo>
                    <a:pt x="96202" y="300647"/>
                  </a:lnTo>
                  <a:lnTo>
                    <a:pt x="106565" y="300647"/>
                  </a:lnTo>
                  <a:lnTo>
                    <a:pt x="106565" y="209562"/>
                  </a:lnTo>
                  <a:lnTo>
                    <a:pt x="114439" y="239318"/>
                  </a:lnTo>
                  <a:lnTo>
                    <a:pt x="114439" y="242189"/>
                  </a:lnTo>
                  <a:lnTo>
                    <a:pt x="116763" y="244500"/>
                  </a:lnTo>
                  <a:lnTo>
                    <a:pt x="122491" y="244500"/>
                  </a:lnTo>
                  <a:lnTo>
                    <a:pt x="124802" y="242189"/>
                  </a:lnTo>
                  <a:lnTo>
                    <a:pt x="124802" y="239318"/>
                  </a:lnTo>
                  <a:lnTo>
                    <a:pt x="132486" y="209562"/>
                  </a:lnTo>
                  <a:lnTo>
                    <a:pt x="132486" y="225894"/>
                  </a:lnTo>
                  <a:lnTo>
                    <a:pt x="123571" y="259168"/>
                  </a:lnTo>
                  <a:lnTo>
                    <a:pt x="132486" y="259168"/>
                  </a:lnTo>
                  <a:lnTo>
                    <a:pt x="132486" y="300647"/>
                  </a:lnTo>
                  <a:lnTo>
                    <a:pt x="142849" y="300647"/>
                  </a:lnTo>
                  <a:lnTo>
                    <a:pt x="142849" y="259168"/>
                  </a:lnTo>
                  <a:lnTo>
                    <a:pt x="153212" y="259168"/>
                  </a:lnTo>
                  <a:lnTo>
                    <a:pt x="153212" y="300647"/>
                  </a:lnTo>
                  <a:lnTo>
                    <a:pt x="163576" y="300647"/>
                  </a:lnTo>
                  <a:lnTo>
                    <a:pt x="163576" y="259168"/>
                  </a:lnTo>
                  <a:lnTo>
                    <a:pt x="172491" y="259168"/>
                  </a:lnTo>
                  <a:lnTo>
                    <a:pt x="163576" y="225894"/>
                  </a:lnTo>
                  <a:lnTo>
                    <a:pt x="163576" y="209257"/>
                  </a:lnTo>
                  <a:lnTo>
                    <a:pt x="172212" y="242100"/>
                  </a:lnTo>
                  <a:lnTo>
                    <a:pt x="175018" y="243789"/>
                  </a:lnTo>
                  <a:lnTo>
                    <a:pt x="179654" y="242620"/>
                  </a:lnTo>
                  <a:lnTo>
                    <a:pt x="181102" y="241173"/>
                  </a:lnTo>
                  <a:lnTo>
                    <a:pt x="189496" y="209257"/>
                  </a:lnTo>
                  <a:lnTo>
                    <a:pt x="189496" y="300647"/>
                  </a:lnTo>
                  <a:lnTo>
                    <a:pt x="199859" y="300647"/>
                  </a:lnTo>
                  <a:lnTo>
                    <a:pt x="199859" y="243624"/>
                  </a:lnTo>
                  <a:lnTo>
                    <a:pt x="210235" y="243624"/>
                  </a:lnTo>
                  <a:lnTo>
                    <a:pt x="210235" y="300647"/>
                  </a:lnTo>
                  <a:lnTo>
                    <a:pt x="220599" y="300647"/>
                  </a:lnTo>
                  <a:lnTo>
                    <a:pt x="220599" y="209562"/>
                  </a:lnTo>
                  <a:lnTo>
                    <a:pt x="228473" y="239318"/>
                  </a:lnTo>
                  <a:lnTo>
                    <a:pt x="228473" y="242189"/>
                  </a:lnTo>
                  <a:lnTo>
                    <a:pt x="230797" y="244500"/>
                  </a:lnTo>
                  <a:lnTo>
                    <a:pt x="236524" y="244500"/>
                  </a:lnTo>
                  <a:lnTo>
                    <a:pt x="238848" y="242189"/>
                  </a:lnTo>
                  <a:lnTo>
                    <a:pt x="238848" y="239318"/>
                  </a:lnTo>
                  <a:lnTo>
                    <a:pt x="246519" y="209562"/>
                  </a:lnTo>
                  <a:lnTo>
                    <a:pt x="246519" y="225894"/>
                  </a:lnTo>
                  <a:lnTo>
                    <a:pt x="237604" y="259168"/>
                  </a:lnTo>
                  <a:lnTo>
                    <a:pt x="246519" y="259168"/>
                  </a:lnTo>
                  <a:lnTo>
                    <a:pt x="246519" y="300647"/>
                  </a:lnTo>
                  <a:lnTo>
                    <a:pt x="256882" y="300647"/>
                  </a:lnTo>
                  <a:lnTo>
                    <a:pt x="256882" y="259168"/>
                  </a:lnTo>
                  <a:lnTo>
                    <a:pt x="267246" y="259168"/>
                  </a:lnTo>
                  <a:lnTo>
                    <a:pt x="267246" y="300647"/>
                  </a:lnTo>
                  <a:lnTo>
                    <a:pt x="277622" y="300647"/>
                  </a:lnTo>
                  <a:lnTo>
                    <a:pt x="277622" y="259168"/>
                  </a:lnTo>
                  <a:lnTo>
                    <a:pt x="286537" y="259168"/>
                  </a:lnTo>
                  <a:lnTo>
                    <a:pt x="277622" y="225894"/>
                  </a:lnTo>
                  <a:lnTo>
                    <a:pt x="277622" y="209257"/>
                  </a:lnTo>
                  <a:lnTo>
                    <a:pt x="286245" y="242100"/>
                  </a:lnTo>
                  <a:lnTo>
                    <a:pt x="289052" y="243789"/>
                  </a:lnTo>
                  <a:lnTo>
                    <a:pt x="293687" y="242620"/>
                  </a:lnTo>
                  <a:lnTo>
                    <a:pt x="295135" y="241173"/>
                  </a:lnTo>
                  <a:lnTo>
                    <a:pt x="303530" y="209257"/>
                  </a:lnTo>
                  <a:lnTo>
                    <a:pt x="303530" y="300647"/>
                  </a:lnTo>
                  <a:lnTo>
                    <a:pt x="313893" y="300647"/>
                  </a:lnTo>
                  <a:lnTo>
                    <a:pt x="313893" y="243624"/>
                  </a:lnTo>
                  <a:lnTo>
                    <a:pt x="324269" y="243624"/>
                  </a:lnTo>
                  <a:lnTo>
                    <a:pt x="324269" y="300647"/>
                  </a:lnTo>
                  <a:lnTo>
                    <a:pt x="334632" y="300647"/>
                  </a:lnTo>
                  <a:lnTo>
                    <a:pt x="334632" y="209562"/>
                  </a:lnTo>
                  <a:lnTo>
                    <a:pt x="342506" y="239318"/>
                  </a:lnTo>
                  <a:lnTo>
                    <a:pt x="342506" y="242189"/>
                  </a:lnTo>
                  <a:lnTo>
                    <a:pt x="344830" y="244500"/>
                  </a:lnTo>
                  <a:lnTo>
                    <a:pt x="350558" y="244500"/>
                  </a:lnTo>
                  <a:lnTo>
                    <a:pt x="352882" y="242189"/>
                  </a:lnTo>
                  <a:lnTo>
                    <a:pt x="352882" y="239318"/>
                  </a:lnTo>
                  <a:lnTo>
                    <a:pt x="360553" y="209562"/>
                  </a:lnTo>
                  <a:lnTo>
                    <a:pt x="360553" y="225894"/>
                  </a:lnTo>
                  <a:lnTo>
                    <a:pt x="351637" y="259168"/>
                  </a:lnTo>
                  <a:lnTo>
                    <a:pt x="360553" y="259168"/>
                  </a:lnTo>
                  <a:lnTo>
                    <a:pt x="360553" y="300647"/>
                  </a:lnTo>
                  <a:lnTo>
                    <a:pt x="370916" y="300647"/>
                  </a:lnTo>
                  <a:lnTo>
                    <a:pt x="370916" y="259168"/>
                  </a:lnTo>
                  <a:lnTo>
                    <a:pt x="381279" y="259168"/>
                  </a:lnTo>
                  <a:lnTo>
                    <a:pt x="381279" y="300647"/>
                  </a:lnTo>
                  <a:lnTo>
                    <a:pt x="391655" y="300647"/>
                  </a:lnTo>
                  <a:lnTo>
                    <a:pt x="391655" y="259168"/>
                  </a:lnTo>
                  <a:lnTo>
                    <a:pt x="400545" y="259168"/>
                  </a:lnTo>
                  <a:lnTo>
                    <a:pt x="391655" y="225894"/>
                  </a:lnTo>
                  <a:lnTo>
                    <a:pt x="391655" y="209257"/>
                  </a:lnTo>
                  <a:lnTo>
                    <a:pt x="400202" y="241655"/>
                  </a:lnTo>
                  <a:lnTo>
                    <a:pt x="402361" y="243243"/>
                  </a:lnTo>
                  <a:lnTo>
                    <a:pt x="407631" y="243078"/>
                  </a:lnTo>
                  <a:lnTo>
                    <a:pt x="409879" y="24069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83" name="Google Shape;83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38696" y="2984791"/>
              <a:ext cx="182589" cy="1451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4"/>
          <p:cNvGrpSpPr/>
          <p:nvPr/>
        </p:nvGrpSpPr>
        <p:grpSpPr>
          <a:xfrm>
            <a:off x="495300" y="3898900"/>
            <a:ext cx="8915400" cy="915669"/>
            <a:chOff x="495300" y="3898900"/>
            <a:chExt cx="8915400" cy="915669"/>
          </a:xfrm>
        </p:grpSpPr>
        <p:sp>
          <p:nvSpPr>
            <p:cNvPr id="85" name="Google Shape;85;p4"/>
            <p:cNvSpPr/>
            <p:nvPr/>
          </p:nvSpPr>
          <p:spPr>
            <a:xfrm>
              <a:off x="495300" y="3898900"/>
              <a:ext cx="8915400" cy="915669"/>
            </a:xfrm>
            <a:custGeom>
              <a:avLst/>
              <a:gdLst/>
              <a:ahLst/>
              <a:cxnLst/>
              <a:rect l="l" t="t" r="r" b="b"/>
              <a:pathLst>
                <a:path w="8915400" h="915670" extrusionOk="0">
                  <a:moveTo>
                    <a:pt x="8823833" y="0"/>
                  </a:moveTo>
                  <a:lnTo>
                    <a:pt x="91554" y="0"/>
                  </a:lnTo>
                  <a:lnTo>
                    <a:pt x="55919" y="7181"/>
                  </a:lnTo>
                  <a:lnTo>
                    <a:pt x="26817" y="26781"/>
                  </a:lnTo>
                  <a:lnTo>
                    <a:pt x="7195" y="55881"/>
                  </a:lnTo>
                  <a:lnTo>
                    <a:pt x="0" y="91567"/>
                  </a:lnTo>
                  <a:lnTo>
                    <a:pt x="0" y="823976"/>
                  </a:lnTo>
                  <a:lnTo>
                    <a:pt x="7195" y="859607"/>
                  </a:lnTo>
                  <a:lnTo>
                    <a:pt x="26817" y="888714"/>
                  </a:lnTo>
                  <a:lnTo>
                    <a:pt x="55919" y="908343"/>
                  </a:lnTo>
                  <a:lnTo>
                    <a:pt x="91554" y="915543"/>
                  </a:lnTo>
                  <a:lnTo>
                    <a:pt x="8823833" y="915543"/>
                  </a:lnTo>
                  <a:lnTo>
                    <a:pt x="8859464" y="908343"/>
                  </a:lnTo>
                  <a:lnTo>
                    <a:pt x="8888571" y="888714"/>
                  </a:lnTo>
                  <a:lnTo>
                    <a:pt x="8908200" y="859607"/>
                  </a:lnTo>
                  <a:lnTo>
                    <a:pt x="8915400" y="823976"/>
                  </a:lnTo>
                  <a:lnTo>
                    <a:pt x="8915400" y="91567"/>
                  </a:lnTo>
                  <a:lnTo>
                    <a:pt x="8908200" y="55881"/>
                  </a:lnTo>
                  <a:lnTo>
                    <a:pt x="8888571" y="26781"/>
                  </a:lnTo>
                  <a:lnTo>
                    <a:pt x="8859464" y="7181"/>
                  </a:lnTo>
                  <a:lnTo>
                    <a:pt x="8823833" y="0"/>
                  </a:lnTo>
                  <a:close/>
                </a:path>
              </a:pathLst>
            </a:custGeom>
            <a:solidFill>
              <a:srgbClr val="D5A2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86" name="Google Shape;86;p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53684" y="4181133"/>
              <a:ext cx="124297" cy="124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4"/>
            <p:cNvSpPr/>
            <p:nvPr/>
          </p:nvSpPr>
          <p:spPr>
            <a:xfrm>
              <a:off x="853986" y="4190834"/>
              <a:ext cx="347345" cy="342900"/>
            </a:xfrm>
            <a:custGeom>
              <a:avLst/>
              <a:gdLst/>
              <a:ahLst/>
              <a:cxnLst/>
              <a:rect l="l" t="t" r="r" b="b"/>
              <a:pathLst>
                <a:path w="347344" h="342900" extrusionOk="0">
                  <a:moveTo>
                    <a:pt x="155194" y="47040"/>
                  </a:moveTo>
                  <a:lnTo>
                    <a:pt x="151803" y="43649"/>
                  </a:lnTo>
                  <a:lnTo>
                    <a:pt x="143446" y="43649"/>
                  </a:lnTo>
                  <a:lnTo>
                    <a:pt x="140055" y="47040"/>
                  </a:lnTo>
                  <a:lnTo>
                    <a:pt x="140055" y="86499"/>
                  </a:lnTo>
                  <a:lnTo>
                    <a:pt x="143446" y="89877"/>
                  </a:lnTo>
                  <a:lnTo>
                    <a:pt x="147624" y="89877"/>
                  </a:lnTo>
                  <a:lnTo>
                    <a:pt x="151803" y="89877"/>
                  </a:lnTo>
                  <a:lnTo>
                    <a:pt x="155194" y="86499"/>
                  </a:lnTo>
                  <a:lnTo>
                    <a:pt x="155194" y="47040"/>
                  </a:lnTo>
                  <a:close/>
                </a:path>
                <a:path w="347344" h="342900" extrusionOk="0">
                  <a:moveTo>
                    <a:pt x="346925" y="120307"/>
                  </a:moveTo>
                  <a:lnTo>
                    <a:pt x="346913" y="104863"/>
                  </a:lnTo>
                  <a:lnTo>
                    <a:pt x="346900" y="2197"/>
                  </a:lnTo>
                  <a:lnTo>
                    <a:pt x="344601" y="0"/>
                  </a:lnTo>
                  <a:lnTo>
                    <a:pt x="339979" y="0"/>
                  </a:lnTo>
                  <a:lnTo>
                    <a:pt x="263728" y="19037"/>
                  </a:lnTo>
                  <a:lnTo>
                    <a:pt x="263728" y="117411"/>
                  </a:lnTo>
                  <a:lnTo>
                    <a:pt x="254876" y="127825"/>
                  </a:lnTo>
                  <a:lnTo>
                    <a:pt x="229527" y="121653"/>
                  </a:lnTo>
                  <a:lnTo>
                    <a:pt x="225412" y="118224"/>
                  </a:lnTo>
                  <a:lnTo>
                    <a:pt x="220306" y="116166"/>
                  </a:lnTo>
                  <a:lnTo>
                    <a:pt x="214960" y="115798"/>
                  </a:lnTo>
                  <a:lnTo>
                    <a:pt x="212521" y="104863"/>
                  </a:lnTo>
                  <a:lnTo>
                    <a:pt x="263728" y="117411"/>
                  </a:lnTo>
                  <a:lnTo>
                    <a:pt x="263728" y="19037"/>
                  </a:lnTo>
                  <a:lnTo>
                    <a:pt x="165557" y="43535"/>
                  </a:lnTo>
                  <a:lnTo>
                    <a:pt x="165557" y="93408"/>
                  </a:lnTo>
                  <a:lnTo>
                    <a:pt x="200025" y="102057"/>
                  </a:lnTo>
                  <a:lnTo>
                    <a:pt x="203619" y="117411"/>
                  </a:lnTo>
                  <a:lnTo>
                    <a:pt x="203466" y="117411"/>
                  </a:lnTo>
                  <a:lnTo>
                    <a:pt x="200202" y="118618"/>
                  </a:lnTo>
                  <a:lnTo>
                    <a:pt x="197129" y="120624"/>
                  </a:lnTo>
                  <a:lnTo>
                    <a:pt x="194589" y="123215"/>
                  </a:lnTo>
                  <a:lnTo>
                    <a:pt x="144259" y="173494"/>
                  </a:lnTo>
                  <a:lnTo>
                    <a:pt x="120929" y="173494"/>
                  </a:lnTo>
                  <a:lnTo>
                    <a:pt x="108356" y="152234"/>
                  </a:lnTo>
                  <a:lnTo>
                    <a:pt x="89268" y="137934"/>
                  </a:lnTo>
                  <a:lnTo>
                    <a:pt x="66217" y="131851"/>
                  </a:lnTo>
                  <a:lnTo>
                    <a:pt x="41744" y="135191"/>
                  </a:lnTo>
                  <a:lnTo>
                    <a:pt x="24980" y="144094"/>
                  </a:lnTo>
                  <a:lnTo>
                    <a:pt x="11925" y="157302"/>
                  </a:lnTo>
                  <a:lnTo>
                    <a:pt x="3340" y="173774"/>
                  </a:lnTo>
                  <a:lnTo>
                    <a:pt x="0" y="192468"/>
                  </a:lnTo>
                  <a:lnTo>
                    <a:pt x="0" y="342785"/>
                  </a:lnTo>
                  <a:lnTo>
                    <a:pt x="124091" y="342785"/>
                  </a:lnTo>
                  <a:lnTo>
                    <a:pt x="124091" y="225336"/>
                  </a:lnTo>
                  <a:lnTo>
                    <a:pt x="162077" y="225336"/>
                  </a:lnTo>
                  <a:lnTo>
                    <a:pt x="217805" y="173494"/>
                  </a:lnTo>
                  <a:lnTo>
                    <a:pt x="238887" y="142049"/>
                  </a:lnTo>
                  <a:lnTo>
                    <a:pt x="238569" y="139280"/>
                  </a:lnTo>
                  <a:lnTo>
                    <a:pt x="238442" y="138201"/>
                  </a:lnTo>
                  <a:lnTo>
                    <a:pt x="238417" y="137934"/>
                  </a:lnTo>
                  <a:lnTo>
                    <a:pt x="238290" y="136906"/>
                  </a:lnTo>
                  <a:lnTo>
                    <a:pt x="238239" y="136372"/>
                  </a:lnTo>
                  <a:lnTo>
                    <a:pt x="238125" y="135445"/>
                  </a:lnTo>
                  <a:lnTo>
                    <a:pt x="253682" y="139280"/>
                  </a:lnTo>
                  <a:lnTo>
                    <a:pt x="258152" y="139280"/>
                  </a:lnTo>
                  <a:lnTo>
                    <a:pt x="260438" y="138201"/>
                  </a:lnTo>
                  <a:lnTo>
                    <a:pt x="262763" y="135445"/>
                  </a:lnTo>
                  <a:lnTo>
                    <a:pt x="269278" y="127825"/>
                  </a:lnTo>
                  <a:lnTo>
                    <a:pt x="275704" y="120307"/>
                  </a:lnTo>
                  <a:lnTo>
                    <a:pt x="339928" y="136372"/>
                  </a:lnTo>
                  <a:lnTo>
                    <a:pt x="343268" y="136906"/>
                  </a:lnTo>
                  <a:lnTo>
                    <a:pt x="346405" y="134620"/>
                  </a:lnTo>
                  <a:lnTo>
                    <a:pt x="346837" y="131851"/>
                  </a:lnTo>
                  <a:lnTo>
                    <a:pt x="346925" y="120307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8" name="Google Shape;88;p4"/>
          <p:cNvGrpSpPr/>
          <p:nvPr/>
        </p:nvGrpSpPr>
        <p:grpSpPr>
          <a:xfrm>
            <a:off x="495300" y="5024501"/>
            <a:ext cx="8915400" cy="915669"/>
            <a:chOff x="495300" y="5024501"/>
            <a:chExt cx="8915400" cy="915669"/>
          </a:xfrm>
        </p:grpSpPr>
        <p:sp>
          <p:nvSpPr>
            <p:cNvPr id="89" name="Google Shape;89;p4"/>
            <p:cNvSpPr/>
            <p:nvPr/>
          </p:nvSpPr>
          <p:spPr>
            <a:xfrm>
              <a:off x="495300" y="5024501"/>
              <a:ext cx="8915400" cy="915669"/>
            </a:xfrm>
            <a:custGeom>
              <a:avLst/>
              <a:gdLst/>
              <a:ahLst/>
              <a:cxnLst/>
              <a:rect l="l" t="t" r="r" b="b"/>
              <a:pathLst>
                <a:path w="8915400" h="915670" extrusionOk="0">
                  <a:moveTo>
                    <a:pt x="8823833" y="0"/>
                  </a:moveTo>
                  <a:lnTo>
                    <a:pt x="91554" y="0"/>
                  </a:lnTo>
                  <a:lnTo>
                    <a:pt x="55919" y="7181"/>
                  </a:lnTo>
                  <a:lnTo>
                    <a:pt x="26817" y="26781"/>
                  </a:lnTo>
                  <a:lnTo>
                    <a:pt x="7195" y="55881"/>
                  </a:lnTo>
                  <a:lnTo>
                    <a:pt x="0" y="91567"/>
                  </a:lnTo>
                  <a:lnTo>
                    <a:pt x="0" y="823963"/>
                  </a:lnTo>
                  <a:lnTo>
                    <a:pt x="7195" y="859603"/>
                  </a:lnTo>
                  <a:lnTo>
                    <a:pt x="26817" y="888704"/>
                  </a:lnTo>
                  <a:lnTo>
                    <a:pt x="55919" y="908323"/>
                  </a:lnTo>
                  <a:lnTo>
                    <a:pt x="91554" y="915517"/>
                  </a:lnTo>
                  <a:lnTo>
                    <a:pt x="8823833" y="915517"/>
                  </a:lnTo>
                  <a:lnTo>
                    <a:pt x="8859464" y="908323"/>
                  </a:lnTo>
                  <a:lnTo>
                    <a:pt x="8888571" y="888704"/>
                  </a:lnTo>
                  <a:lnTo>
                    <a:pt x="8908200" y="859603"/>
                  </a:lnTo>
                  <a:lnTo>
                    <a:pt x="8915400" y="823963"/>
                  </a:lnTo>
                  <a:lnTo>
                    <a:pt x="8915400" y="91567"/>
                  </a:lnTo>
                  <a:lnTo>
                    <a:pt x="8908200" y="55881"/>
                  </a:lnTo>
                  <a:lnTo>
                    <a:pt x="8888571" y="26781"/>
                  </a:lnTo>
                  <a:lnTo>
                    <a:pt x="8859464" y="7181"/>
                  </a:lnTo>
                  <a:lnTo>
                    <a:pt x="8823833" y="0"/>
                  </a:lnTo>
                  <a:close/>
                </a:path>
              </a:pathLst>
            </a:custGeom>
            <a:solidFill>
              <a:srgbClr val="D5A2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848500" y="5325555"/>
              <a:ext cx="353060" cy="353060"/>
            </a:xfrm>
            <a:custGeom>
              <a:avLst/>
              <a:gdLst/>
              <a:ahLst/>
              <a:cxnLst/>
              <a:rect l="l" t="t" r="r" b="b"/>
              <a:pathLst>
                <a:path w="353059" h="353060" extrusionOk="0">
                  <a:moveTo>
                    <a:pt x="57017" y="0"/>
                  </a:moveTo>
                  <a:lnTo>
                    <a:pt x="15550" y="0"/>
                  </a:lnTo>
                  <a:lnTo>
                    <a:pt x="0" y="212526"/>
                  </a:lnTo>
                  <a:lnTo>
                    <a:pt x="0" y="352482"/>
                  </a:lnTo>
                  <a:lnTo>
                    <a:pt x="352470" y="352482"/>
                  </a:lnTo>
                  <a:lnTo>
                    <a:pt x="352470" y="316197"/>
                  </a:lnTo>
                  <a:lnTo>
                    <a:pt x="41467" y="316197"/>
                  </a:lnTo>
                  <a:lnTo>
                    <a:pt x="41467" y="269545"/>
                  </a:lnTo>
                  <a:lnTo>
                    <a:pt x="352470" y="269545"/>
                  </a:lnTo>
                  <a:lnTo>
                    <a:pt x="352470" y="212526"/>
                  </a:lnTo>
                  <a:lnTo>
                    <a:pt x="72567" y="212526"/>
                  </a:lnTo>
                  <a:lnTo>
                    <a:pt x="57017" y="0"/>
                  </a:lnTo>
                  <a:close/>
                </a:path>
                <a:path w="353059" h="353060" extrusionOk="0">
                  <a:moveTo>
                    <a:pt x="145135" y="269545"/>
                  </a:moveTo>
                  <a:lnTo>
                    <a:pt x="103667" y="269545"/>
                  </a:lnTo>
                  <a:lnTo>
                    <a:pt x="103667" y="316197"/>
                  </a:lnTo>
                  <a:lnTo>
                    <a:pt x="145135" y="316197"/>
                  </a:lnTo>
                  <a:lnTo>
                    <a:pt x="145135" y="269545"/>
                  </a:lnTo>
                  <a:close/>
                </a:path>
                <a:path w="353059" h="353060" extrusionOk="0">
                  <a:moveTo>
                    <a:pt x="248802" y="269545"/>
                  </a:moveTo>
                  <a:lnTo>
                    <a:pt x="207335" y="269545"/>
                  </a:lnTo>
                  <a:lnTo>
                    <a:pt x="207335" y="316197"/>
                  </a:lnTo>
                  <a:lnTo>
                    <a:pt x="248802" y="316197"/>
                  </a:lnTo>
                  <a:lnTo>
                    <a:pt x="248802" y="269545"/>
                  </a:lnTo>
                  <a:close/>
                </a:path>
                <a:path w="353059" h="353060" extrusionOk="0">
                  <a:moveTo>
                    <a:pt x="352470" y="269545"/>
                  </a:moveTo>
                  <a:lnTo>
                    <a:pt x="311003" y="269545"/>
                  </a:lnTo>
                  <a:lnTo>
                    <a:pt x="311003" y="316197"/>
                  </a:lnTo>
                  <a:lnTo>
                    <a:pt x="352470" y="316197"/>
                  </a:lnTo>
                  <a:lnTo>
                    <a:pt x="352470" y="269545"/>
                  </a:lnTo>
                  <a:close/>
                </a:path>
                <a:path w="353059" h="353060" extrusionOk="0">
                  <a:moveTo>
                    <a:pt x="212519" y="139956"/>
                  </a:moveTo>
                  <a:lnTo>
                    <a:pt x="72567" y="212526"/>
                  </a:lnTo>
                  <a:lnTo>
                    <a:pt x="212519" y="212526"/>
                  </a:lnTo>
                  <a:lnTo>
                    <a:pt x="212519" y="139956"/>
                  </a:lnTo>
                  <a:close/>
                </a:path>
                <a:path w="353059" h="353060" extrusionOk="0">
                  <a:moveTo>
                    <a:pt x="352470" y="139956"/>
                  </a:moveTo>
                  <a:lnTo>
                    <a:pt x="212519" y="212526"/>
                  </a:lnTo>
                  <a:lnTo>
                    <a:pt x="352470" y="212526"/>
                  </a:lnTo>
                  <a:lnTo>
                    <a:pt x="352470" y="139956"/>
                  </a:lnTo>
                  <a:close/>
                </a:path>
              </a:pathLst>
            </a:custGeom>
            <a:solidFill>
              <a:srgbClr val="BADF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91" name="Google Shape;91;p4"/>
          <p:cNvSpPr txBox="1"/>
          <p:nvPr/>
        </p:nvSpPr>
        <p:spPr>
          <a:xfrm>
            <a:off x="1644727" y="1912502"/>
            <a:ext cx="7946844" cy="414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Proprietários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simplificada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foco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12700" marR="516890" lvl="0" indent="0" algn="l" rtl="0">
              <a:lnSpc>
                <a:spcPct val="298300"/>
              </a:lnSpc>
              <a:spcBef>
                <a:spcPts val="114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Funcionários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Melhor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organização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menor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estresse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Atendimento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eficiente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serviços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disponíveis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939"/>
              </a:spcBef>
              <a:spcAft>
                <a:spcPts val="0"/>
              </a:spcAft>
              <a:buNone/>
            </a:pPr>
            <a:endParaRPr lang="pt-BR" sz="2200" dirty="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0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Fornecedores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Melhores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previsões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planejamento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reposições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 txBox="1">
            <a:spLocks noGrp="1"/>
          </p:cNvSpPr>
          <p:nvPr>
            <p:ph type="title"/>
          </p:nvPr>
        </p:nvSpPr>
        <p:spPr>
          <a:xfrm>
            <a:off x="526795" y="827023"/>
            <a:ext cx="233299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>
                <a:latin typeface="Arial"/>
                <a:ea typeface="Arial"/>
                <a:cs typeface="Arial"/>
                <a:sym typeface="Arial"/>
              </a:rPr>
              <a:t>Stalkeholders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526795" y="507619"/>
            <a:ext cx="216852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Proposta de valor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/>
          <p:nvPr/>
        </p:nvSpPr>
        <p:spPr>
          <a:xfrm>
            <a:off x="772464" y="1756410"/>
            <a:ext cx="3486150" cy="66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317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Controle de Estoque em Tempo Real: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Previne desperdícios, faltas ou excessos de mercadorias.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665784" y="2609545"/>
            <a:ext cx="3699510" cy="88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54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Gestão de Vendas: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2065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Facilita registros, gera relatórios automáticos e permite acompanhar o desempenho e as tendências de vendas.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743508" y="3676903"/>
            <a:ext cx="3545204" cy="88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6165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Agendamento de Serviços: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Perfeito para prestadores de serviços como salões, barbearias, oficinas, pet shops, entre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49987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outros.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645972" y="4743958"/>
            <a:ext cx="3740785" cy="109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Relatórios Inteligentes: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2065" marR="508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Criação de relatórios simplificados para auxiliar na tomada de decisões, como identificação de produtos mais vendidos e horários de maior movimento.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06971" y="2548508"/>
            <a:ext cx="2449195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12090" marR="2025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Efeitos Diretos: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Diminuição das despesas operacionais.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Elevação da eficiência.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Experiência aprimorada para o cliente.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4450" marR="3683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Crescimento da rentabilidade. Reforço da economia local.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704334" y="3032125"/>
            <a:ext cx="1328420" cy="793750"/>
          </a:xfrm>
          <a:custGeom>
            <a:avLst/>
            <a:gdLst/>
            <a:ahLst/>
            <a:cxnLst/>
            <a:rect l="l" t="t" r="r" b="b"/>
            <a:pathLst>
              <a:path w="1328420" h="793750" extrusionOk="0">
                <a:moveTo>
                  <a:pt x="931544" y="0"/>
                </a:moveTo>
                <a:lnTo>
                  <a:pt x="931544" y="198500"/>
                </a:lnTo>
                <a:lnTo>
                  <a:pt x="0" y="198500"/>
                </a:lnTo>
                <a:lnTo>
                  <a:pt x="0" y="595249"/>
                </a:lnTo>
                <a:lnTo>
                  <a:pt x="931544" y="595249"/>
                </a:lnTo>
                <a:lnTo>
                  <a:pt x="931544" y="793750"/>
                </a:lnTo>
                <a:lnTo>
                  <a:pt x="1328419" y="396875"/>
                </a:lnTo>
                <a:lnTo>
                  <a:pt x="931544" y="0"/>
                </a:lnTo>
                <a:close/>
              </a:path>
            </a:pathLst>
          </a:custGeom>
          <a:solidFill>
            <a:srgbClr val="D5A2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4" name="Google Shape;104;p5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Análise de viabilidade</a:t>
            </a:r>
            <a:endParaRPr sz="2000"/>
          </a:p>
          <a:p>
            <a:pPr marL="12700" lvl="0" indent="0" algn="l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3000" b="0">
                <a:latin typeface="Arial"/>
                <a:ea typeface="Arial"/>
                <a:cs typeface="Arial"/>
                <a:sym typeface="Arial"/>
              </a:rPr>
              <a:t>MeuNegócio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965708" y="1504569"/>
            <a:ext cx="349313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Viabilidade Técnica: Tecnologia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780389" y="2037334"/>
            <a:ext cx="4130675" cy="2418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6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Desenvolvimento Web Responsivo (acessível via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computador e celular), utilizando tecnologias como: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905" lvl="0" indent="0" algn="ctr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Frontend: React ou Angular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217804" marR="211454" lvl="0" indent="0" algn="ctr" rtl="0">
              <a:lnSpc>
                <a:spcPct val="161583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Backend: Node.js com Express ou Python com Django Banco de dados: MySQL ou PostgreSQL Hospedagem: Cloud (Heroku, AWS, Vercel)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810" lvl="0" indent="0" algn="ctr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Interface: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Intuitiva, limpa e fácil de usar, com foco no usuário leigo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Sustentabilidade Técnica: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065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Uso de frameworks open-source e SaaS para baixo custo de manutenção e escalabilidade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5517007" y="1510029"/>
            <a:ext cx="3747135" cy="5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000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Etapas de Desenvolvimento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7625" lvl="0" indent="0" algn="ctr" rtl="0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Levantamento de requisitos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Entendimento das necessidades do público-alvo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90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Planejamento e arquitetura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81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Escolha das tecnologias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065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Estruturação da arquitetura e organização dos serviços Definição de padrões de segurança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44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Desenvolvimento Frontend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81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Implementação responsiva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53339" marR="457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Criação de componentes reutilizáveis (inputs, tabelas, dashboards)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599440" marR="590550" lvl="0" indent="444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Desenvolvimento Backend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Estruturação da API com ferramentas Integração com banco de dados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17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Implementação lógica de negócio: cadastros, estoque,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81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agendamentos, relatórios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81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Testes e validação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247015" marR="229870" lvl="0" indent="5441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Testes unitários e de integração Correções e melhorias com base nos feedbacks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056640" marR="1045210" lvl="0" indent="889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Deploy e hospedagem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Publicação do frontend Divulgação do aplicativo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Análise de viabilidade</a:t>
            </a:r>
            <a:endParaRPr sz="2000"/>
          </a:p>
          <a:p>
            <a:pPr marL="12700" lvl="0" indent="0" algn="l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3000" b="0">
                <a:latin typeface="Arial"/>
                <a:ea typeface="Arial"/>
                <a:cs typeface="Arial"/>
                <a:sym typeface="Arial"/>
              </a:rPr>
              <a:t>MeuNegócio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/>
        </p:nvSpPr>
        <p:spPr>
          <a:xfrm>
            <a:off x="1415922" y="1504569"/>
            <a:ext cx="2439035" cy="100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Cronograma proposto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00330" lvl="0" indent="0" algn="ctr" rtl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Semana 1-2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009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Planejamento e definição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06045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Criação do design de interface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1764283" y="2669794"/>
            <a:ext cx="1844039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Semana 3-4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Desenvolvimento Frontend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1773427" y="3218434"/>
            <a:ext cx="1828164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Semana 5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Desenvolvimento Backend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1764283" y="3767454"/>
            <a:ext cx="1844039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Semana 6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Desenvolvimento Frontend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1219911" y="4316095"/>
            <a:ext cx="2931795" cy="203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6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Semana 7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Integração Frontend + Backend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6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Semana 8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Testes e validação inicial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6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Semana 9-10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Deploy e ajustes finais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6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Semana 11-12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Lançamento e monitoramento do aplicativo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6077203" y="1510029"/>
            <a:ext cx="251396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Viabilidade Econômica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5367909" y="2041652"/>
            <a:ext cx="4032885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316355" lvl="0" indent="-1733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Modelo de Negócio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-127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Assinatura mensal acessível entre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R$29,90 a R$59,90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ou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licença vitalícia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a partir de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R$500,00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tornando viável para pequenos negócios.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5663565" y="2956305"/>
            <a:ext cx="343852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744855" lvl="0" indent="-1733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Custo de Desenvolvimento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Médio, com uso de tecnologias livres e escaláveis.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5235321" y="3504945"/>
            <a:ext cx="4124325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365250" lvl="0" indent="-1733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Potencial de Mercado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065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O Brasil possui mais de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22 milhões de micro e pequenas empresas (MPEs),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se apenas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1% desse mercado adotar a solução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são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220.000 clientes potenciais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Análise de viabilidade</a:t>
            </a:r>
            <a:endParaRPr sz="2000"/>
          </a:p>
          <a:p>
            <a:pPr marL="12700" lvl="0" indent="0" algn="l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3000" b="0">
                <a:latin typeface="Arial"/>
                <a:ea typeface="Arial"/>
                <a:cs typeface="Arial"/>
                <a:sym typeface="Arial"/>
              </a:rPr>
              <a:t>MeuNegócio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Prática da seleção de tecnologias</a:t>
            </a:r>
            <a:endParaRPr sz="2000"/>
          </a:p>
          <a:p>
            <a:pPr marL="12700" lvl="0" indent="0" algn="l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3000" b="0">
                <a:latin typeface="Arial"/>
                <a:ea typeface="Arial"/>
                <a:cs typeface="Arial"/>
                <a:sym typeface="Arial"/>
              </a:rPr>
              <a:t>MeuNegócio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526795" y="1482039"/>
            <a:ext cx="8886190" cy="5147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819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Para que seja realizado o desenvolvimento do aplicativo, as tecnologias foram escolhidas com base em três critérios principais: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eficiência, acessibilidade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baixo custo de manutenção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. Nosso objetivo é concretizar uma solução moderna, potente e fácil de progredir, sem dificultar a experiência do usuário.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Frontend – React ou Angular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Esses frameworks permitem criar interfaces responsivas e dinâmicas, acessíveis tanto em computadores quanto em celulares. São amplamente utilizados no mercado, com grande suporte da comunidade e excelente performance para aplicações interativas.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Back-end – Node.js com Express ou Python com Django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marR="1047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As duas opções proporcionam agilidade no desenvolvimento, na segurança e na expandibilidade. A utilização do Node.js facilita a integração com o front-end (por ser JavaScript), enquanto Django é ideal para entregas rápidas e organizadas com menor complexidade.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Banco de Dados – MySQL ou PostgreSQL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Soluções relacionais estáveis, seguras e gratuitas. Permitem um bom desempenho mesmo com grande volume de dados, ideais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para controle de estoque, vendas e agendamentos.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Hospedagem em Nuvem – Heroku, AWS ou Vercel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marR="1962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Plataformas que possibilitam deploy ágil e escalável, com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baixo custo inicial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ideal para MVPs. Garantem alta disponibilidade e fácil manutenção.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Interface Intuitiva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O desenvolvimento de uma interface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limpa, clara e de fácil navegação deve ser priorizada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de modo que seja objetivada para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usuários os quais não tenham experiência com o mundo tecnológico.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Sustentabilidade Técnica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marR="2508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O uso de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ferramentas open-source e serviços SaaS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reduz custos de licenciamento e garante maior liberdade de evolução do sistema no futuro.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9"/>
          <p:cNvGraphicFramePr/>
          <p:nvPr/>
        </p:nvGraphicFramePr>
        <p:xfrm>
          <a:off x="269697" y="1874266"/>
          <a:ext cx="9134475" cy="3686125"/>
        </p:xfrm>
        <a:graphic>
          <a:graphicData uri="http://schemas.openxmlformats.org/drawingml/2006/table">
            <a:tbl>
              <a:tblPr firstRow="1" bandRow="1">
                <a:noFill/>
                <a:tableStyleId>{FDE4022D-E003-4866-9280-1DC36AB90B6A}</a:tableStyleId>
              </a:tblPr>
              <a:tblGrid>
                <a:gridCol w="38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2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Dado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2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Fonte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92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Abertura de Pequenos Negócios em 2024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+4,15 milhões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Sebrae (2024)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Abertura de Pequenos Negócios no 1º tri 2025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+1,4 milhão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Governo Federal (2025)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Geração de Renda Anual dos Pequenos Negócios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R$ 420 bilhões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Sebrae (2024)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Impacto dos Pequenos Negócios na População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50% da população brasileira é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diretamente impactada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3350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Sebrae (2024) / CNN Brasil (2024)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Crescimento de Soluções em Nuvem (SaaS)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+15% ao ano até 2025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Euromonitor (2024)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Aumento na Produtividade com Sistema de Gestão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+20%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5825" marR="251459" lvl="0" indent="-6254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Business Administration (SBA) / IDC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3350" marB="0">
                    <a:lnL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A2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" name="Google Shape;138;p9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Dados que justificam o projeto</a:t>
            </a:r>
            <a:endParaRPr sz="2000"/>
          </a:p>
          <a:p>
            <a:pPr marL="12700" lvl="0" indent="0" algn="l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3000" b="0">
                <a:latin typeface="Arial"/>
                <a:ea typeface="Arial"/>
                <a:cs typeface="Arial"/>
                <a:sym typeface="Arial"/>
              </a:rPr>
              <a:t>MeuNegócio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91376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Referências Bibliográficas</a:t>
            </a:r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661034" y="1680717"/>
            <a:ext cx="8583930" cy="357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2905" marR="59817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u="none">
                <a:solidFill>
                  <a:srgbClr val="000000"/>
                </a:solidFill>
              </a:rPr>
              <a:t>Agência Brasil. (2025). </a:t>
            </a:r>
            <a:r>
              <a:rPr lang="en-US" b="1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Otimismo dos microempreendedores com 2025</a:t>
            </a:r>
            <a:r>
              <a:rPr lang="en-US" u="none">
                <a:solidFill>
                  <a:srgbClr val="000000"/>
                </a:solidFill>
              </a:rPr>
              <a:t>. Disponível em: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https://agenciabrasil.ebc.com.br/economia/noticia/2025-02/pesquisa-mostra-otimismo-de-microempreendedores-</a:t>
            </a:r>
            <a:r>
              <a:rPr lang="en-US" u="none"/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individuais-com-2025</a:t>
            </a:r>
            <a:r>
              <a:rPr lang="en-US" u="none">
                <a:solidFill>
                  <a:srgbClr val="000000"/>
                </a:solidFill>
              </a:rPr>
              <a:t>. Acesso em: 14 jun. 2025.</a:t>
            </a:r>
            <a:endParaRPr/>
          </a:p>
          <a:p>
            <a:pPr marL="382905" marR="339090" lvl="0" indent="-34353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u="none">
                <a:solidFill>
                  <a:srgbClr val="000000"/>
                </a:solidFill>
              </a:rPr>
              <a:t>CNN Brasil. (2024). </a:t>
            </a:r>
            <a:r>
              <a:rPr lang="en-US" b="1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Pequenas empresas beneficiam 40% da população</a:t>
            </a:r>
            <a:r>
              <a:rPr lang="en-US" u="none">
                <a:solidFill>
                  <a:srgbClr val="000000"/>
                </a:solidFill>
              </a:rPr>
              <a:t>. Disponível em: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https://www.cnnbrasil.com.br/economia/macroeconomia/pequenas-empresas-no-brasil-beneficiam-40-da-populacao-</a:t>
            </a:r>
            <a:r>
              <a:rPr lang="en-US" u="none"/>
              <a:t>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aponta-sebrae/</a:t>
            </a:r>
            <a:r>
              <a:rPr lang="en-US" u="none">
                <a:solidFill>
                  <a:srgbClr val="000000"/>
                </a:solidFill>
              </a:rPr>
              <a:t>. Acesso em: 14 jun. 2025.</a:t>
            </a:r>
            <a:endParaRPr/>
          </a:p>
          <a:p>
            <a:pPr marL="382905" marR="83185" lvl="0" indent="-34353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u="none">
                <a:solidFill>
                  <a:srgbClr val="000000"/>
                </a:solidFill>
              </a:rPr>
              <a:t>Governo Federal. (2025). </a:t>
            </a:r>
            <a:r>
              <a:rPr lang="en-US" b="1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Abertura de 1,4 milhão de pequenos negócios no 1º trimestre</a:t>
            </a:r>
            <a:r>
              <a:rPr lang="en-US" u="none">
                <a:solidFill>
                  <a:srgbClr val="000000"/>
                </a:solidFill>
              </a:rPr>
              <a:t>. Disponível em: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https://www.gov.br/secom/pt-br/assuntos/noticias/2025/04/brasil-registra-abertura-de-1-4-milhao-de-pequenos-negocios-</a:t>
            </a:r>
            <a:r>
              <a:rPr lang="en-US" u="none"/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no-primeiro-trimestre-do-ano</a:t>
            </a:r>
            <a:r>
              <a:rPr lang="en-US" u="none">
                <a:solidFill>
                  <a:srgbClr val="000000"/>
                </a:solidFill>
              </a:rPr>
              <a:t>. Acesso em: 14 jun. 2025.</a:t>
            </a:r>
            <a:endParaRPr/>
          </a:p>
          <a:p>
            <a:pPr marL="382905" marR="145415" lvl="0" indent="-343535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u="none">
                <a:solidFill>
                  <a:srgbClr val="000000"/>
                </a:solidFill>
              </a:rPr>
              <a:t>Sebrae. (2024). </a:t>
            </a:r>
            <a:r>
              <a:rPr lang="en-US" b="1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Mais de 4,15 milhões de pequenos negócios foram abertos em 2024</a:t>
            </a:r>
            <a:r>
              <a:rPr lang="en-US" u="none">
                <a:solidFill>
                  <a:srgbClr val="000000"/>
                </a:solidFill>
              </a:rPr>
              <a:t>. Disponível em: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https://agenciasebrae.com.br/economia-e-politica/recorde-historico-mais-de-415-milhoes-de-pequenos-negocios-foram-</a:t>
            </a:r>
            <a:r>
              <a:rPr lang="en-US" u="none"/>
              <a:t>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abertos-em-2024/</a:t>
            </a:r>
            <a:r>
              <a:rPr lang="en-US" u="none">
                <a:solidFill>
                  <a:srgbClr val="000000"/>
                </a:solidFill>
              </a:rPr>
              <a:t>. Acesso em: 14 jun. 2025.</a:t>
            </a:r>
            <a:endParaRPr/>
          </a:p>
          <a:p>
            <a:pPr marL="382905" marR="94615" lvl="0" indent="-34353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u="none">
                <a:solidFill>
                  <a:srgbClr val="000000"/>
                </a:solidFill>
              </a:rPr>
              <a:t>Sebrae. (2024). </a:t>
            </a:r>
            <a:r>
              <a:rPr lang="en-US" b="1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Metade dos brasileiros é impactada pelos pequenos negócios</a:t>
            </a:r>
            <a:r>
              <a:rPr lang="en-US" u="none">
                <a:solidFill>
                  <a:srgbClr val="000000"/>
                </a:solidFill>
              </a:rPr>
              <a:t>. Disponível em: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https://agenciasebrae.com.br/dados/metade-dos-brasileiros-e-impactada-pelos-pequenos-negocios/</a:t>
            </a:r>
            <a:r>
              <a:rPr lang="en-US" u="none">
                <a:solidFill>
                  <a:srgbClr val="000000"/>
                </a:solidFill>
              </a:rPr>
              <a:t>. Acesso em: 14 jun. 2025.</a:t>
            </a:r>
            <a:endParaRPr/>
          </a:p>
          <a:p>
            <a:pPr marL="382905" marR="5080" lvl="0" indent="-34353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u="none">
                <a:solidFill>
                  <a:srgbClr val="000000"/>
                </a:solidFill>
              </a:rPr>
              <a:t>Sebrae. (2024). </a:t>
            </a:r>
            <a:r>
              <a:rPr lang="en-US" b="1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Pequenos negócios geram R$ 420 bilhões por ano</a:t>
            </a:r>
            <a:r>
              <a:rPr lang="en-US" u="none">
                <a:solidFill>
                  <a:srgbClr val="000000"/>
                </a:solidFill>
              </a:rPr>
              <a:t>. Disponível em: </a:t>
            </a:r>
            <a:r>
              <a:rPr lang="en-US" u="sng">
                <a:solidFill>
                  <a:schemeClr val="hlink"/>
                </a:solidFill>
                <a:hlinkClick r:id="rId8"/>
              </a:rPr>
              <a:t>https://pr.agenciasebrae.com.br/economia-e-politica/renda-gerada-pelos-pequenos-negocios-e-de-r-420-bilhoes-por-ano/</a:t>
            </a:r>
            <a:r>
              <a:rPr lang="en-US" u="none">
                <a:solidFill>
                  <a:srgbClr val="000000"/>
                </a:solidFill>
              </a:rPr>
              <a:t>. Acesso em: 14 jun. 2025.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1322</Words>
  <Application>Microsoft Office PowerPoint</Application>
  <PresentationFormat>Papel A4 (210 x 297 mm)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MeuNegócio</vt:lpstr>
      <vt:lpstr>Definição de tema MeuNegócio</vt:lpstr>
      <vt:lpstr>Proposta de valor Público-alvo</vt:lpstr>
      <vt:lpstr>Stalkeholders</vt:lpstr>
      <vt:lpstr>Análise de viabilidade MeuNegócio</vt:lpstr>
      <vt:lpstr>Análise de viabilidade MeuNegócio</vt:lpstr>
      <vt:lpstr>Análise de viabilidade MeuNegócio</vt:lpstr>
      <vt:lpstr>Prática da seleção de tecnologias MeuNegócio</vt:lpstr>
      <vt:lpstr>Dados que justificam o projeto MeuNegócio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Prof. Gustavo Perri Galegale</dc:creator>
  <cp:lastModifiedBy>Debora Richter Brolio</cp:lastModifiedBy>
  <cp:revision>1</cp:revision>
  <dcterms:created xsi:type="dcterms:W3CDTF">2025-09-05T14:38:43Z</dcterms:created>
  <dcterms:modified xsi:type="dcterms:W3CDTF">2025-12-18T12:50:44Z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2025-09-05T00:00:00Z</vt:filetime>
  </property>
  <property fmtid="{D5CDD505-2E9C-101B-9397-08002B2CF9AE}" pid="5" name="Producer">
    <vt:lpwstr>Microsoft® PowerPoint® para Microsoft 365</vt:lpwstr>
  </property>
</Properties>
</file>