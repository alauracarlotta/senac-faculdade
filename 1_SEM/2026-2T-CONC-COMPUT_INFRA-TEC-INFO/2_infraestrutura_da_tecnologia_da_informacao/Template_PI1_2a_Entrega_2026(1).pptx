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64" r:id="rId4"/>
    <p:sldId id="265" r:id="rId5"/>
    <p:sldId id="260" r:id="rId6"/>
    <p:sldId id="261" r:id="rId7"/>
    <p:sldId id="262" r:id="rId8"/>
  </p:sldIdLst>
  <p:sldSz cx="9906000" cy="6858000" type="A4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gKBjDj6jbEgm02hg5qC1Wdz7GO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4249" autoAdjust="0"/>
  </p:normalViewPr>
  <p:slideViewPr>
    <p:cSldViewPr snapToGrid="0">
      <p:cViewPr varScale="1">
        <p:scale>
          <a:sx n="68" d="100"/>
          <a:sy n="68" d="100"/>
        </p:scale>
        <p:origin x="17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5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body" idx="1"/>
          </p:nvPr>
        </p:nvSpPr>
        <p:spPr>
          <a:xfrm>
            <a:off x="908050" y="4719638"/>
            <a:ext cx="4981575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3975" rIns="89525" bIns="43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887413" y="865188"/>
            <a:ext cx="5026025" cy="34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" name="Google Shape;5;n"/>
          <p:cNvSpPr/>
          <p:nvPr/>
        </p:nvSpPr>
        <p:spPr>
          <a:xfrm>
            <a:off x="69850" y="100013"/>
            <a:ext cx="1789113" cy="31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3975" rIns="89525" bIns="439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Volnys Borges Bernal</a:t>
            </a:r>
            <a:endParaRPr/>
          </a:p>
        </p:txBody>
      </p:sp>
      <p:sp>
        <p:nvSpPr>
          <p:cNvPr id="6" name="Google Shape;6;n"/>
          <p:cNvSpPr/>
          <p:nvPr/>
        </p:nvSpPr>
        <p:spPr>
          <a:xfrm>
            <a:off x="69850" y="9520238"/>
            <a:ext cx="92551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3975" rIns="89525" bIns="439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3/9/2023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6275388" y="9520238"/>
            <a:ext cx="4524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3975" rIns="89525" bIns="43975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7413" y="865188"/>
            <a:ext cx="5026025" cy="34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06463" y="4719638"/>
            <a:ext cx="498475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3975" rIns="89525" bIns="43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908050" y="4719638"/>
            <a:ext cx="4981575" cy="4178300"/>
          </a:xfrm>
          <a:prstGeom prst="rect">
            <a:avLst/>
          </a:prstGeom>
        </p:spPr>
        <p:txBody>
          <a:bodyPr spcFirstLastPara="1" wrap="square" lIns="89525" tIns="43975" rIns="89525" bIns="43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7413" y="865188"/>
            <a:ext cx="5026025" cy="34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908050" y="4719638"/>
            <a:ext cx="4981575" cy="4178300"/>
          </a:xfrm>
          <a:prstGeom prst="rect">
            <a:avLst/>
          </a:prstGeom>
        </p:spPr>
        <p:txBody>
          <a:bodyPr spcFirstLastPara="1" wrap="square" lIns="89525" tIns="43975" rIns="89525" bIns="43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7413" y="865188"/>
            <a:ext cx="5026025" cy="34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908050" y="4719638"/>
            <a:ext cx="4981575" cy="4178300"/>
          </a:xfrm>
          <a:prstGeom prst="rect">
            <a:avLst/>
          </a:prstGeom>
        </p:spPr>
        <p:txBody>
          <a:bodyPr spcFirstLastPara="1" wrap="square" lIns="89525" tIns="43975" rIns="89525" bIns="43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7413" y="865188"/>
            <a:ext cx="5026025" cy="34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e11cf76e9a_0_0:notes"/>
          <p:cNvSpPr txBox="1">
            <a:spLocks noGrp="1"/>
          </p:cNvSpPr>
          <p:nvPr>
            <p:ph type="body" idx="1"/>
          </p:nvPr>
        </p:nvSpPr>
        <p:spPr>
          <a:xfrm>
            <a:off x="908050" y="4719638"/>
            <a:ext cx="4981500" cy="4178400"/>
          </a:xfrm>
          <a:prstGeom prst="rect">
            <a:avLst/>
          </a:prstGeom>
        </p:spPr>
        <p:txBody>
          <a:bodyPr spcFirstLastPara="1" wrap="square" lIns="89525" tIns="43975" rIns="89525" bIns="43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1e11cf76e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7413" y="865188"/>
            <a:ext cx="5026025" cy="34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11cf76e9a_0_7:notes"/>
          <p:cNvSpPr txBox="1">
            <a:spLocks noGrp="1"/>
          </p:cNvSpPr>
          <p:nvPr>
            <p:ph type="body" idx="1"/>
          </p:nvPr>
        </p:nvSpPr>
        <p:spPr>
          <a:xfrm>
            <a:off x="908050" y="4719638"/>
            <a:ext cx="4981500" cy="4178400"/>
          </a:xfrm>
          <a:prstGeom prst="rect">
            <a:avLst/>
          </a:prstGeom>
        </p:spPr>
        <p:txBody>
          <a:bodyPr spcFirstLastPara="1" wrap="square" lIns="89525" tIns="43975" rIns="89525" bIns="43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1e11cf76e9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7413" y="865188"/>
            <a:ext cx="5026025" cy="34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e11cf76e9a_0_14:notes"/>
          <p:cNvSpPr txBox="1">
            <a:spLocks noGrp="1"/>
          </p:cNvSpPr>
          <p:nvPr>
            <p:ph type="body" idx="1"/>
          </p:nvPr>
        </p:nvSpPr>
        <p:spPr>
          <a:xfrm>
            <a:off x="908050" y="4719638"/>
            <a:ext cx="4981500" cy="4178400"/>
          </a:xfrm>
          <a:prstGeom prst="rect">
            <a:avLst/>
          </a:prstGeom>
        </p:spPr>
        <p:txBody>
          <a:bodyPr spcFirstLastPara="1" wrap="square" lIns="89525" tIns="43975" rIns="89525" bIns="43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1e11cf76e9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7413" y="865188"/>
            <a:ext cx="5026025" cy="34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dt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ft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dt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ft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sldNum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dt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ft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495300" y="1600203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5035550" y="1600203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3"/>
          </p:nvPr>
        </p:nvSpPr>
        <p:spPr>
          <a:xfrm>
            <a:off x="5032112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4"/>
          </p:nvPr>
        </p:nvSpPr>
        <p:spPr>
          <a:xfrm>
            <a:off x="5032112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dt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ft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dt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ft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dt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ft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3872972" y="273052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2"/>
          </p:nvPr>
        </p:nvSpPr>
        <p:spPr>
          <a:xfrm>
            <a:off x="495300" y="1435102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>
            <a:spLocks noGrp="1"/>
          </p:cNvSpPr>
          <p:nvPr>
            <p:ph type="pic" idx="2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dt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ft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ldNum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 rot="5400000">
            <a:off x="2690019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dt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ft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 rot="5400000">
            <a:off x="5370513" y="2085977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 rot="5400000">
            <a:off x="830263" y="-60324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dt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ft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ldNum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"/>
          <p:cNvSpPr txBox="1"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dt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7099300" y="6245225"/>
            <a:ext cx="2311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0" y="2286000"/>
            <a:ext cx="990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/>
              <a:t>[Nome do Projeto]</a:t>
            </a:r>
            <a:endParaRPr sz="1000" b="1"/>
          </a:p>
        </p:txBody>
      </p:sp>
      <p:sp>
        <p:nvSpPr>
          <p:cNvPr id="88" name="Google Shape;88;p1"/>
          <p:cNvSpPr txBox="1">
            <a:spLocks noGrp="1"/>
          </p:cNvSpPr>
          <p:nvPr>
            <p:ph type="subTitle" idx="1"/>
          </p:nvPr>
        </p:nvSpPr>
        <p:spPr>
          <a:xfrm>
            <a:off x="0" y="3744913"/>
            <a:ext cx="990600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333333"/>
                </a:solidFill>
              </a:rPr>
              <a:t>[Integrantes]</a:t>
            </a:r>
            <a:endParaRPr/>
          </a:p>
        </p:txBody>
      </p:sp>
      <p:pic>
        <p:nvPicPr>
          <p:cNvPr id="89" name="Google Shape;89;p1" descr="marca vertic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750" y="260350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ctrTitle"/>
          </p:nvPr>
        </p:nvSpPr>
        <p:spPr>
          <a:xfrm>
            <a:off x="416496" y="14439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Definição de Tema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587631" y="2204864"/>
            <a:ext cx="6730738" cy="2800767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Apresentar: [1 a 2 slides]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u="none" strike="noStrik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none" strike="noStrik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Contexto </a:t>
            </a:r>
            <a:r>
              <a:rPr lang="pt-BR" sz="1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para o qual a solução está sendo desenvolvida;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none" strike="noStrik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Problema qu</a:t>
            </a:r>
            <a:r>
              <a:rPr lang="pt-BR" sz="1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 será resolvido;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none" strike="noStrik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Motivação para essas escolhas.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none" strike="noStrik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Podem ser utilizados: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Dados de mercado;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Informações coletadas em entrevistas, pesquisas ou levantamentos.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Importante: sempre apresentar as referências!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ctrTitle"/>
          </p:nvPr>
        </p:nvSpPr>
        <p:spPr>
          <a:xfrm>
            <a:off x="416496" y="188640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Proposta de valor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1587631" y="2204864"/>
            <a:ext cx="6730738" cy="2062063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none" strike="noStrik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Apresentar: [1 a 2 slides]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pt-BR" sz="1600" u="none" strike="noStrike" dirty="0">
                <a:solidFill>
                  <a:schemeClr val="bg1">
                    <a:lumMod val="5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Breve descrição do público-alvo;</a:t>
            </a:r>
          </a:p>
          <a:p>
            <a:r>
              <a:rPr lang="pt-BR" sz="1600" u="none" strike="noStrike" dirty="0">
                <a:solidFill>
                  <a:schemeClr val="bg1">
                    <a:lumMod val="5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Quem são as partes interessadas (</a:t>
            </a:r>
            <a:r>
              <a:rPr lang="pt-BR" sz="1600" i="1" u="none" strike="noStrike" dirty="0">
                <a:solidFill>
                  <a:schemeClr val="bg1">
                    <a:lumMod val="5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stakeholders</a:t>
            </a:r>
            <a:r>
              <a:rPr lang="pt-BR" sz="1600" u="none" strike="noStrike" dirty="0">
                <a:solidFill>
                  <a:schemeClr val="bg1">
                    <a:lumMod val="50000"/>
                  </a:schemeClr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t-BR" sz="160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Os benefícios que se espera alcançar para as partes interessadas com esta solução;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BR" sz="1600" b="1" dirty="0">
                <a:solidFill>
                  <a:srgbClr val="7F7F7F"/>
                </a:solidFill>
                <a:latin typeface="Arial"/>
                <a:cs typeface="Arial"/>
              </a:rPr>
              <a:t>Quais as conexões do projeto com a comunidade.</a:t>
            </a:r>
            <a:endParaRPr sz="1600" b="1" dirty="0">
              <a:solidFill>
                <a:srgbClr val="7F7F7F"/>
              </a:solidFill>
              <a:latin typeface="Arial"/>
              <a:cs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ctrTitle"/>
          </p:nvPr>
        </p:nvSpPr>
        <p:spPr>
          <a:xfrm>
            <a:off x="416496" y="188640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Análise de viabilidade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1587631" y="2204864"/>
            <a:ext cx="6730738" cy="2062063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none" strike="noStrik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Apresentar: [1 a 2 slides]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none" strike="noStrik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Levantamento de informações/dados que justifiquem a viabilidade da proposta;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Identificação de potencial mercado consumidor e concorrentes diretos/indiretos;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Identificação dos recursos necessários para viabilização do projeto.</a:t>
            </a:r>
            <a:endParaRPr sz="1600" u="none" strike="noStrik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e11cf76e9a_0_0"/>
          <p:cNvSpPr txBox="1">
            <a:spLocks noGrp="1"/>
          </p:cNvSpPr>
          <p:nvPr>
            <p:ph type="ctrTitle"/>
          </p:nvPr>
        </p:nvSpPr>
        <p:spPr>
          <a:xfrm>
            <a:off x="416496" y="188640"/>
            <a:ext cx="84201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Definição da Identidade Empresarial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e11cf76e9a_0_0"/>
          <p:cNvSpPr txBox="1"/>
          <p:nvPr/>
        </p:nvSpPr>
        <p:spPr>
          <a:xfrm>
            <a:off x="1587600" y="2190797"/>
            <a:ext cx="6730800" cy="3057207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none" strike="noStrik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Apresentar: [1 slide]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7F7F7F"/>
                </a:solidFill>
              </a:rPr>
              <a:t>Missão, visão e valores de uma empresa fictícia com foco na solução de TI proposta, que deve ser voltada para solução de problemas sociais ou comunitários.</a:t>
            </a: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7F7F7F"/>
                </a:solidFill>
              </a:rPr>
              <a:t>A missão deve declarar o propósito fundamental da empresa, a visão deve descrever as aspirações futuras e os valores devem refletir os princípios que guiam a cultura e as práticas da empresa.</a:t>
            </a:r>
            <a:endParaRPr sz="16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e11cf76e9a_0_7"/>
          <p:cNvSpPr txBox="1">
            <a:spLocks noGrp="1"/>
          </p:cNvSpPr>
          <p:nvPr>
            <p:ph type="ctrTitle"/>
          </p:nvPr>
        </p:nvSpPr>
        <p:spPr>
          <a:xfrm>
            <a:off x="416496" y="188640"/>
            <a:ext cx="84201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Macroplano do projeto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e11cf76e9a_0_7"/>
          <p:cNvSpPr txBox="1"/>
          <p:nvPr/>
        </p:nvSpPr>
        <p:spPr>
          <a:xfrm>
            <a:off x="1261146" y="1658640"/>
            <a:ext cx="6730800" cy="4031833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none" strike="noStrik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Apresentar: [1 a </a:t>
            </a:r>
            <a:r>
              <a:rPr lang="pt-BR" sz="1600" dirty="0">
                <a:solidFill>
                  <a:srgbClr val="7F7F7F"/>
                </a:solidFill>
              </a:rPr>
              <a:t>2</a:t>
            </a:r>
            <a:r>
              <a:rPr lang="pt-BR" sz="1600" u="none" strike="noStrik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slides]</a:t>
            </a:r>
            <a:endParaRPr sz="1600" u="none" strike="noStrik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F7F7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7F7F7F"/>
                </a:solidFill>
              </a:rPr>
              <a:t>Visão geral do projeto que destaca as principais etapas que precisam ser seguidas para alcançar os objetivos do projeto, divididas em:</a:t>
            </a:r>
            <a:endParaRPr sz="1600" dirty="0">
              <a:solidFill>
                <a:srgbClr val="7F7F7F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F7F7F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7F7F7F"/>
                </a:solidFill>
              </a:rPr>
              <a:t>1. Escopo do projeto: o que deve ser realizado e o que não faz parte do projeto.</a:t>
            </a:r>
            <a:endParaRPr sz="1600" dirty="0">
              <a:solidFill>
                <a:srgbClr val="7F7F7F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F7F7F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dirty="0">
                <a:solidFill>
                  <a:srgbClr val="7F7F7F"/>
                </a:solidFill>
              </a:rPr>
              <a:t>2. Planejamento do projeto:  marcos importantes do projeto, divididos numa linha temporal de execução. Especificar: marco, recursos envolvidos, tempo de execução estimado.</a:t>
            </a:r>
            <a:endParaRPr sz="1600" dirty="0">
              <a:solidFill>
                <a:srgbClr val="7F7F7F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600" dirty="0">
              <a:solidFill>
                <a:srgbClr val="7F7F7F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600" dirty="0">
                <a:solidFill>
                  <a:srgbClr val="7F7F7F"/>
                </a:solidFill>
              </a:rPr>
              <a:t>3. Monitoramento: como será feito o monitoramento do projeto. Você pode, por exemplo, definir indicadores de desempenho para avaliar o progresso e o sucesso do projeto, estabelecer um cronograma para revisões regulares e incluir processos para </a:t>
            </a:r>
            <a:r>
              <a:rPr lang="pt-BR" sz="1600" i="1" dirty="0">
                <a:solidFill>
                  <a:srgbClr val="7F7F7F"/>
                </a:solidFill>
              </a:rPr>
              <a:t>feedback</a:t>
            </a:r>
            <a:r>
              <a:rPr lang="pt-BR" sz="1600" dirty="0">
                <a:solidFill>
                  <a:srgbClr val="7F7F7F"/>
                </a:solidFill>
              </a:rPr>
              <a:t> dos </a:t>
            </a:r>
            <a:r>
              <a:rPr lang="pt-BR" sz="1600" i="1" dirty="0">
                <a:solidFill>
                  <a:srgbClr val="7F7F7F"/>
                </a:solidFill>
              </a:rPr>
              <a:t>stakeholders</a:t>
            </a:r>
            <a:r>
              <a:rPr lang="pt-BR" sz="1600" dirty="0">
                <a:solidFill>
                  <a:srgbClr val="7F7F7F"/>
                </a:solidFill>
              </a:rPr>
              <a:t>.</a:t>
            </a:r>
            <a:endParaRPr sz="16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e11cf76e9a_0_14"/>
          <p:cNvSpPr txBox="1">
            <a:spLocks noGrp="1"/>
          </p:cNvSpPr>
          <p:nvPr>
            <p:ph type="ctrTitle"/>
          </p:nvPr>
        </p:nvSpPr>
        <p:spPr>
          <a:xfrm>
            <a:off x="416496" y="188640"/>
            <a:ext cx="84201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Prática da seleção de tecnologias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e11cf76e9a_0_14"/>
          <p:cNvSpPr txBox="1"/>
          <p:nvPr/>
        </p:nvSpPr>
        <p:spPr>
          <a:xfrm>
            <a:off x="1108200" y="1450417"/>
            <a:ext cx="7689600" cy="45252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none" strike="noStrik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Apresentar: [1 a </a:t>
            </a:r>
            <a:r>
              <a:rPr lang="pt-BR" sz="1600" dirty="0">
                <a:solidFill>
                  <a:srgbClr val="7F7F7F"/>
                </a:solidFill>
              </a:rPr>
              <a:t>2</a:t>
            </a:r>
            <a:r>
              <a:rPr lang="pt-BR" sz="1600" u="none" strike="noStrik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slides]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7F7F7F"/>
                </a:solidFill>
              </a:rPr>
              <a:t>Principais etapas de seleção e escolha das tecnologias, sendo:</a:t>
            </a:r>
            <a:endParaRPr sz="1600" dirty="0">
              <a:solidFill>
                <a:srgbClr val="7F7F7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F7F7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pt-BR" sz="1600" dirty="0">
                <a:solidFill>
                  <a:srgbClr val="7F7F7F"/>
                </a:solidFill>
              </a:rPr>
              <a:t>1. Análise de requisitos tecnológicos: dentre as principais necessidades do projeto, quais tecnologias são relevantes para atender a essas necessidades.</a:t>
            </a:r>
            <a:endParaRPr sz="1600" dirty="0">
              <a:solidFill>
                <a:srgbClr val="7F7F7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sz="1600" dirty="0">
              <a:solidFill>
                <a:srgbClr val="7F7F7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sz="1600" dirty="0">
                <a:solidFill>
                  <a:srgbClr val="7F7F7F"/>
                </a:solidFill>
              </a:rPr>
              <a:t>2. Pesquisa e avaliação de tecnologias: apresentar as principais tecnologias pesquisadas e a análise de cada uma (análise de recursos, custos, benefícios, suporte, maturidade da tecnologia, a compatibilidade com outras tecnologias utilizadas no projeto, facilidade de integração e outros fatores que podem afetar a escolha da tecnologia).</a:t>
            </a:r>
            <a:endParaRPr sz="1600" dirty="0">
              <a:solidFill>
                <a:srgbClr val="7F7F7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600" dirty="0">
              <a:solidFill>
                <a:srgbClr val="7F7F7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sz="1600" dirty="0">
                <a:solidFill>
                  <a:srgbClr val="7F7F7F"/>
                </a:solidFill>
              </a:rPr>
              <a:t>3. Seleção da tecnologia: após avaliação das tecnologias, apresentar a escolhida e a justificativa para tal escolha (considerar aspectos como escalabilidade, facilidade de manutenção e atualização, bem como a disponibilidade de suporte e treinamento para a equipe responsável pela implementação e manutenção da tecnologia escolhida.</a:t>
            </a:r>
            <a:endParaRPr sz="1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2_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513</Words>
  <Application>Microsoft Office PowerPoint</Application>
  <PresentationFormat>Papel A4 (210 x 297 mm)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2_Design padrão</vt:lpstr>
      <vt:lpstr>[Nome do Projeto]</vt:lpstr>
      <vt:lpstr>Definição de Tema</vt:lpstr>
      <vt:lpstr>Proposta de valor</vt:lpstr>
      <vt:lpstr>Análise de viabilidade</vt:lpstr>
      <vt:lpstr>Definição da Identidade Empresarial</vt:lpstr>
      <vt:lpstr>Macroplano do projeto</vt:lpstr>
      <vt:lpstr>Prática da seleção de tecnologias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[Nome do Projeto]</dc:title>
  <dc:creator>Prof. Gustavo Perri Galegale</dc:creator>
  <cp:lastModifiedBy>Debora Richter Brolio</cp:lastModifiedBy>
  <cp:revision>2</cp:revision>
  <dcterms:created xsi:type="dcterms:W3CDTF">1997-07-24T11:50:30Z</dcterms:created>
  <dcterms:modified xsi:type="dcterms:W3CDTF">2024-02-06T17:53:50Z</dcterms:modified>
</cp:coreProperties>
</file>