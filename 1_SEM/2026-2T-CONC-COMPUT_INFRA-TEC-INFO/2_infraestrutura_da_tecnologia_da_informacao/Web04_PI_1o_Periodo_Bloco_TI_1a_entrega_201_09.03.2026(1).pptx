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301" r:id="rId3"/>
    <p:sldId id="257" r:id="rId4"/>
    <p:sldId id="258" r:id="rId5"/>
    <p:sldId id="259" r:id="rId6"/>
    <p:sldId id="306" r:id="rId7"/>
    <p:sldId id="307" r:id="rId8"/>
    <p:sldId id="302" r:id="rId9"/>
    <p:sldId id="308" r:id="rId10"/>
    <p:sldId id="309" r:id="rId11"/>
    <p:sldId id="310" r:id="rId12"/>
    <p:sldId id="311" r:id="rId13"/>
    <p:sldId id="312" r:id="rId14"/>
    <p:sldId id="268" r:id="rId15"/>
    <p:sldId id="313" r:id="rId16"/>
    <p:sldId id="303" r:id="rId17"/>
    <p:sldId id="304" r:id="rId18"/>
    <p:sldId id="267" r:id="rId19"/>
    <p:sldId id="269" r:id="rId20"/>
    <p:sldId id="260" r:id="rId21"/>
    <p:sldId id="261" r:id="rId22"/>
    <p:sldId id="262" r:id="rId23"/>
    <p:sldId id="263" r:id="rId24"/>
    <p:sldId id="264" r:id="rId25"/>
    <p:sldId id="265" r:id="rId26"/>
    <p:sldId id="305" r:id="rId27"/>
    <p:sldId id="266" r:id="rId28"/>
  </p:sldIdLst>
  <p:sldSz cx="12192000" cy="6858000"/>
  <p:notesSz cx="6858000" cy="9144000"/>
  <p:embeddedFontLst>
    <p:embeddedFont>
      <p:font typeface="Helvetica" panose="020B0604020202020204" pitchFamily="34" charset="0"/>
      <p:regular r:id="rId30"/>
      <p:bold r:id="rId31"/>
      <p:italic r:id="rId32"/>
      <p:boldItalic r:id="rId33"/>
    </p:embeddedFont>
    <p:embeddedFont>
      <p:font typeface="Helvetica Neue" panose="020B0604020202020204" charset="0"/>
      <p:regular r:id="rId34"/>
      <p:bold r:id="rId35"/>
      <p:italic r:id="rId36"/>
      <p:boldItalic r:id="rId37"/>
    </p:embeddedFont>
    <p:embeddedFont>
      <p:font typeface="Inter" panose="020B0604020202020204" charset="0"/>
      <p:regular r:id="rId38"/>
    </p:embeddedFont>
    <p:embeddedFont>
      <p:font typeface="Lucida Sans" panose="020B0602040502020204" pitchFamily="34" charset="0"/>
      <p: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hlOop4VnA9x0J+Hk1Z6UpWFNX/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00F52-FB3D-B479-23AB-49574CB0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0F70DA3-CD56-508A-5808-3BCF7F11F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1BEA6B0-E91C-DA35-B832-B80B99A51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D29CCB-1450-ECB9-5462-EF57ECE4F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AD18-244F-45AF-A07F-495B4780C70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5848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" name="Google Shape;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" name="Google Shape;3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" name="Google Shape;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9219CDA3-8AD8-0310-671D-F84A2FA43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>
            <a:extLst>
              <a:ext uri="{FF2B5EF4-FFF2-40B4-BE49-F238E27FC236}">
                <a16:creationId xmlns:a16="http://schemas.microsoft.com/office/drawing/2014/main" id="{EF6E91D4-7AD3-097D-0B57-D05EFEF357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9:notes">
            <a:extLst>
              <a:ext uri="{FF2B5EF4-FFF2-40B4-BE49-F238E27FC236}">
                <a16:creationId xmlns:a16="http://schemas.microsoft.com/office/drawing/2014/main" id="{159E73F8-8F64-6DB6-2B81-68876945DC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42756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51051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32827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14805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" name="Google Shape;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" name="Google Shape;7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9FEFE-9F78-F27A-273E-62BA9DA19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3BE5FCF-24FB-12C4-DDE9-D2AFFC285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F96948A-FA0F-E8B7-2F76-59B9E7F22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CF43A9-D4E7-5C07-2CB2-22FC1FC707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AD18-244F-45AF-A07F-495B4780C708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26575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0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11337974" y="6378575"/>
            <a:ext cx="244426" cy="2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8" descr="image.jpe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8"/>
          <p:cNvSpPr txBox="1">
            <a:spLocks noGrp="1"/>
          </p:cNvSpPr>
          <p:nvPr>
            <p:ph type="sldNum" idx="12"/>
          </p:nvPr>
        </p:nvSpPr>
        <p:spPr>
          <a:xfrm>
            <a:off x="11337974" y="6378575"/>
            <a:ext cx="244426" cy="2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8498" y="2897944"/>
            <a:ext cx="11380764" cy="1170576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06880" y="4130998"/>
            <a:ext cx="9144000" cy="73081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6922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7695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337974" y="6378575"/>
            <a:ext cx="244426" cy="55399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97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1826683" y="1371600"/>
            <a:ext cx="9753601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sldNum" idx="12"/>
          </p:nvPr>
        </p:nvSpPr>
        <p:spPr>
          <a:xfrm>
            <a:off x="11337974" y="6378575"/>
            <a:ext cx="244426" cy="2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Marlon.cmaynart@sp.senac.br" TargetMode="External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mailto:Marlon.cmaynart@sp.senac.br" TargetMode="External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1" descr="capa_EAD capa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 txBox="1">
            <a:spLocks noGrp="1"/>
          </p:cNvSpPr>
          <p:nvPr>
            <p:ph type="title" idx="4294967295"/>
          </p:nvPr>
        </p:nvSpPr>
        <p:spPr>
          <a:xfrm>
            <a:off x="2624368" y="5545137"/>
            <a:ext cx="6943264" cy="101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541337" lvl="0" indent="-528637" algn="ctr" rtl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rgbClr val="00498E"/>
              </a:buClr>
              <a:buSzPts val="3600"/>
              <a:buFont typeface="Arial"/>
              <a:buNone/>
            </a:pPr>
            <a:r>
              <a:rPr lang="pt-BR"/>
              <a:t>WEBCONFERÊNCIA</a:t>
            </a:r>
            <a:endParaRPr/>
          </a:p>
          <a:p>
            <a:pPr marL="541337" lvl="0" indent="-528637" algn="ctr" rtl="0">
              <a:lnSpc>
                <a:spcPct val="91666"/>
              </a:lnSpc>
              <a:spcBef>
                <a:spcPts val="800"/>
              </a:spcBef>
              <a:spcAft>
                <a:spcPts val="0"/>
              </a:spcAft>
              <a:buClr>
                <a:srgbClr val="E8913D"/>
              </a:buClr>
              <a:buSzPts val="3600"/>
              <a:buFont typeface="Arial"/>
              <a:buNone/>
            </a:pPr>
            <a:r>
              <a:rPr lang="pt-BR"/>
              <a:t>Projeto Integrador | 1ª entrega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32EE1-E278-C6C4-95FC-4A21E7E6F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2583B85-8308-63E6-1519-8E684B220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618" y="2714739"/>
            <a:ext cx="11380764" cy="1170576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014A8E"/>
                </a:solidFill>
                <a:latin typeface="Helvetica" panose="020B0604020202020204" pitchFamily="34" charset="0"/>
              </a:rPr>
              <a:t>Projeto Integrador I</a:t>
            </a:r>
            <a:endParaRPr lang="pt-BR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806CC3B0-2B53-F572-A16D-B93C7BB10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3606" y="4286164"/>
            <a:ext cx="9584788" cy="730810"/>
          </a:xfrm>
        </p:spPr>
        <p:txBody>
          <a:bodyPr>
            <a:noAutofit/>
          </a:bodyPr>
          <a:lstStyle/>
          <a:p>
            <a:r>
              <a:rPr lang="pt-BR" dirty="0"/>
              <a:t>Professor: Marlon Cavalcante Maynart</a:t>
            </a:r>
          </a:p>
          <a:p>
            <a:r>
              <a:rPr lang="pt-BR" sz="2800" dirty="0">
                <a:hlinkClick r:id="rId3"/>
              </a:rPr>
              <a:t>marlon.cmaynart@sp.senac.br</a:t>
            </a:r>
            <a:r>
              <a:rPr lang="pt-BR" sz="2800" dirty="0"/>
              <a:t> </a:t>
            </a:r>
          </a:p>
        </p:txBody>
      </p:sp>
      <p:pic>
        <p:nvPicPr>
          <p:cNvPr id="3" name="Imagem 2" descr="Homem sorrindo pousando para foto&#10;&#10;Descrição gerada automaticamente">
            <a:extLst>
              <a:ext uri="{FF2B5EF4-FFF2-40B4-BE49-F238E27FC236}">
                <a16:creationId xmlns:a16="http://schemas.microsoft.com/office/drawing/2014/main" id="{B102CCC8-BEAB-0FE4-A9A7-331E117F0E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651" y="4175534"/>
            <a:ext cx="798904" cy="1198256"/>
          </a:xfrm>
          <a:prstGeom prst="rect">
            <a:avLst/>
          </a:prstGeom>
        </p:spPr>
      </p:pic>
      <p:pic>
        <p:nvPicPr>
          <p:cNvPr id="6" name="Picture 35">
            <a:extLst>
              <a:ext uri="{FF2B5EF4-FFF2-40B4-BE49-F238E27FC236}">
                <a16:creationId xmlns:a16="http://schemas.microsoft.com/office/drawing/2014/main" id="{1D45679A-CF69-C82C-8DBA-F061C6D3B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2400" y="283621"/>
            <a:ext cx="1733694" cy="17412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16" descr="http://bestreviewnews.com/wp-content/uploads/2013/09/Investigation.jpg">
            <a:extLst>
              <a:ext uri="{FF2B5EF4-FFF2-40B4-BE49-F238E27FC236}">
                <a16:creationId xmlns:a16="http://schemas.microsoft.com/office/drawing/2014/main" id="{437D7F92-3998-44C1-C6FA-EA49CA07E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2"/>
          <a:stretch>
            <a:fillRect/>
          </a:stretch>
        </p:blipFill>
        <p:spPr bwMode="auto">
          <a:xfrm>
            <a:off x="10345757" y="254441"/>
            <a:ext cx="1623505" cy="157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http://t1.gstatic.com/images?q=tbn:ANd9GcTSB-D1ROElEePh_5heKm-a3pbiXYAHKtR5T9hzmU9VcUNYCAA&amp;t=1&amp;h=192&amp;w=193&amp;usg=__yWKZMPBzv691jpcFL954W2nKsak=">
            <a:extLst>
              <a:ext uri="{FF2B5EF4-FFF2-40B4-BE49-F238E27FC236}">
                <a16:creationId xmlns:a16="http://schemas.microsoft.com/office/drawing/2014/main" id="{EE983542-4328-7EAE-1564-A2DF92562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49" r="8116" b="16940"/>
          <a:stretch>
            <a:fillRect/>
          </a:stretch>
        </p:blipFill>
        <p:spPr bwMode="auto">
          <a:xfrm>
            <a:off x="8692144" y="1324475"/>
            <a:ext cx="1476375" cy="151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C710B44-B392-0BD2-7CCC-CBD021AAFD93}"/>
              </a:ext>
            </a:extLst>
          </p:cNvPr>
          <p:cNvSpPr txBox="1"/>
          <p:nvPr/>
        </p:nvSpPr>
        <p:spPr>
          <a:xfrm>
            <a:off x="3839386" y="6211669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Web04 – 09.03.2026</a:t>
            </a:r>
          </a:p>
        </p:txBody>
      </p:sp>
    </p:spTree>
    <p:extLst>
      <p:ext uri="{BB962C8B-B14F-4D97-AF65-F5344CB8AC3E}">
        <p14:creationId xmlns:p14="http://schemas.microsoft.com/office/powerpoint/2010/main" val="603874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" name="Google Shape;25;p5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" name="Google Shape;27;p5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344319" y="864880"/>
            <a:ext cx="9114900" cy="176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2400"/>
              <a:buFont typeface="Lucida Sans"/>
              <a:buNone/>
            </a:pPr>
            <a:r>
              <a:rPr lang="pt-BR" sz="2400" b="1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PONTOS DA NOSSA WEBCONFERÊNCIA DE HOJE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marR="0" lvl="0" indent="-17145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4498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1600"/>
              <a:buFont typeface="Noto Sans Symbols"/>
              <a:buChar char="▪"/>
            </a:pPr>
            <a:r>
              <a:rPr lang="pt-BR" sz="1600" b="0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Orientações para entrega e dúvidas gerais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endParaRPr sz="16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PRÁTICAS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/>
          <p:nvPr/>
        </p:nvSpPr>
        <p:spPr>
          <a:xfrm>
            <a:off x="-76201" y="-165101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6" name="Google Shape;36;p19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9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" name="Google Shape;38;p19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" name="Google Shape;39;p19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" name="Google Shape;40;p19"/>
          <p:cNvSpPr txBox="1"/>
          <p:nvPr/>
        </p:nvSpPr>
        <p:spPr>
          <a:xfrm>
            <a:off x="1" y="1274421"/>
            <a:ext cx="12192000" cy="5286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2400"/>
              <a:buFont typeface="Lucida Sans"/>
              <a:buNone/>
            </a:pPr>
            <a:r>
              <a:rPr lang="pt-BR" sz="2400" b="1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Relembrando...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2400"/>
              <a:buFont typeface="Lucida Sans"/>
              <a:buNone/>
            </a:pPr>
            <a:endParaRPr sz="2400" b="1" i="0" u="none" strike="noStrike" cap="none">
              <a:solidFill>
                <a:srgbClr val="04498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2400"/>
              <a:buFont typeface="Lucida Sans"/>
              <a:buNone/>
            </a:pPr>
            <a:r>
              <a:rPr lang="pt-BR" sz="2400" b="1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  <a:t>ROTEIRO DO PROJETO INTEGRADOR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44982"/>
              </a:buClr>
              <a:buSzPts val="1800"/>
              <a:buFont typeface="Lucida Sans"/>
              <a:buNone/>
            </a:pPr>
            <a:br>
              <a:rPr lang="pt-BR" sz="1800" b="0" i="0" u="none" strike="noStrike" cap="none">
                <a:solidFill>
                  <a:srgbClr val="044982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r>
              <a:rPr lang="pt-BR" sz="1500" b="0" i="0" u="none" strike="noStrike" cap="non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1ª entrega</a:t>
            </a:r>
            <a:endParaRPr sz="1400" b="0" i="0" u="none" strike="noStrike" cap="non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" marR="0" lvl="0" indent="-9144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1500"/>
              <a:buFont typeface="Lucida Sans"/>
              <a:buNone/>
            </a:pPr>
            <a:r>
              <a:rPr lang="pt-BR" sz="1500" b="0" i="0" u="none" strike="noStrike" cap="non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Definição de Tema</a:t>
            </a:r>
            <a:endParaRPr sz="1400" b="0" i="0" u="none" strike="noStrike" cap="non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" marR="0" lvl="0" indent="-9144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1500"/>
              <a:buFont typeface="Lucida Sans"/>
              <a:buNone/>
            </a:pPr>
            <a:r>
              <a:rPr lang="pt-BR" sz="1500" b="0" i="0" u="none" strike="noStrike" cap="non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Proposta de Valor</a:t>
            </a:r>
            <a:endParaRPr sz="1400" b="0" i="0" u="none" strike="noStrike" cap="non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" marR="0" lvl="0" indent="-9144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1500"/>
              <a:buFont typeface="Lucida Sans"/>
              <a:buNone/>
            </a:pPr>
            <a:r>
              <a:rPr lang="pt-BR" sz="1500" b="0" i="0" u="none" strike="noStrike" cap="non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Análise de Viabilidade</a:t>
            </a:r>
            <a:endParaRPr sz="1400" b="0" i="0" u="none" strike="noStrike" cap="none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44982"/>
              </a:buClr>
              <a:buSzPts val="1500"/>
              <a:buFont typeface="Lucida Sans"/>
              <a:buNone/>
            </a:pPr>
            <a:r>
              <a:rPr lang="pt-BR" sz="1500" b="0" i="0" u="none" strike="noStrike" cap="none">
                <a:solidFill>
                  <a:srgbClr val="7D7D7D"/>
                </a:solidFill>
                <a:latin typeface="Lucida Sans"/>
                <a:ea typeface="Lucida Sans"/>
                <a:cs typeface="Lucida Sans"/>
                <a:sym typeface="Lucida Sans"/>
              </a:rPr>
              <a:t>2ª entrega</a:t>
            </a:r>
            <a:endParaRPr sz="1400" b="0" i="0" u="none" strike="noStrike" cap="none">
              <a:solidFill>
                <a:srgbClr val="7D7D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" marR="0" lvl="0" indent="-9144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1500"/>
              <a:buFont typeface="Lucida Sans"/>
              <a:buNone/>
            </a:pPr>
            <a:r>
              <a:rPr lang="pt-BR" sz="1500" b="0" i="0" u="none" strike="noStrike" cap="none">
                <a:solidFill>
                  <a:srgbClr val="7D7D7D"/>
                </a:solidFill>
                <a:latin typeface="Lucida Sans"/>
                <a:ea typeface="Lucida Sans"/>
                <a:cs typeface="Lucida Sans"/>
                <a:sym typeface="Lucida Sans"/>
              </a:rPr>
              <a:t>Definição da Identidade Empresarial</a:t>
            </a:r>
            <a:endParaRPr sz="1400" b="0" i="0" u="none" strike="noStrike" cap="none">
              <a:solidFill>
                <a:srgbClr val="7D7D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" marR="0" lvl="0" indent="-9144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1500"/>
              <a:buFont typeface="Lucida Sans"/>
              <a:buNone/>
            </a:pPr>
            <a:r>
              <a:rPr lang="pt-BR" sz="1500" b="0" i="0" u="none" strike="noStrike" cap="none">
                <a:solidFill>
                  <a:srgbClr val="7D7D7D"/>
                </a:solidFill>
                <a:latin typeface="Lucida Sans"/>
                <a:ea typeface="Lucida Sans"/>
                <a:cs typeface="Lucida Sans"/>
                <a:sym typeface="Lucida Sans"/>
              </a:rPr>
              <a:t>Macro plano do projeto</a:t>
            </a:r>
            <a:endParaRPr sz="1400" b="0" i="0" u="none" strike="noStrike" cap="none">
              <a:solidFill>
                <a:srgbClr val="7D7D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" marR="0" lvl="0" indent="-9144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4982"/>
              </a:buClr>
              <a:buSzPts val="1500"/>
              <a:buFont typeface="Lucida Sans"/>
              <a:buNone/>
            </a:pPr>
            <a:r>
              <a:rPr lang="pt-BR" sz="1500" b="0" i="0" u="none" strike="noStrike" cap="none">
                <a:solidFill>
                  <a:srgbClr val="7D7D7D"/>
                </a:solidFill>
                <a:latin typeface="Lucida Sans"/>
                <a:ea typeface="Lucida Sans"/>
                <a:cs typeface="Lucida Sans"/>
                <a:sym typeface="Lucida Sans"/>
              </a:rPr>
              <a:t>Prática da seleção de tecnologias</a:t>
            </a:r>
            <a:endParaRPr sz="1400" b="0" i="0" u="none" strike="noStrike" cap="none">
              <a:solidFill>
                <a:srgbClr val="7D7D7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979797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endParaRPr sz="16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" name="Google Shape;41;p19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PRÁTICAS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7" name="Google Shape;47;p7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" name="Google Shape;49;p7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PRÁTICAS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" name="Google Shape;52;p7"/>
          <p:cNvSpPr txBox="1"/>
          <p:nvPr/>
        </p:nvSpPr>
        <p:spPr>
          <a:xfrm>
            <a:off x="966061" y="1484631"/>
            <a:ext cx="10259878" cy="472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2000" b="1" i="0" u="none" strike="noStrike" cap="non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1ª entrega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rgbClr val="36609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7D7D7D"/>
              </a:buClr>
              <a:buSzPts val="1500"/>
              <a:buFont typeface="Arial"/>
              <a:buChar char="•"/>
            </a:pPr>
            <a:r>
              <a:rPr lang="pt-BR" sz="1800" b="0" i="0" u="none" strike="noStrike" cap="non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Definição de Tema: estimular o entendimento do contexto no qual a solução  pretende ser desenvolvida, qual o problema que pretende ser resolvido e qual seria a  motivação para a resolução.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7D7D7D"/>
              </a:buClr>
              <a:buSzPts val="1500"/>
              <a:buFont typeface="Arial"/>
              <a:buChar char="•"/>
            </a:pPr>
            <a:r>
              <a:rPr lang="pt-BR" sz="1800" b="0" i="0" u="none" strike="noStrike" cap="non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Proposta de Valor: destacar os benefícios que podem ser gerados com a solução  idealizada e entender quais seriam as partes interessadas na solução (stakeholders).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7D7D7D"/>
              </a:buClr>
              <a:buSzPts val="1500"/>
              <a:buFont typeface="Arial"/>
              <a:buChar char="•"/>
            </a:pPr>
            <a:r>
              <a:rPr lang="pt-BR" sz="1800" b="0" i="0" u="none" strike="noStrike" cap="none">
                <a:solidFill>
                  <a:srgbClr val="366092"/>
                </a:solidFill>
                <a:latin typeface="Lucida Sans"/>
                <a:ea typeface="Lucida Sans"/>
                <a:cs typeface="Lucida Sans"/>
                <a:sym typeface="Lucida Sans"/>
              </a:rPr>
              <a:t>Análise de Viabilidade: estimular a visão crítica do aluno quanto a viabilidade  técnica e econômica da solução proposta, estimulando a equipe a exercitar a  correção entre custo e esforço.</a:t>
            </a:r>
            <a:endParaRPr sz="1800" b="0" i="0" u="none" strike="noStrike" cap="none">
              <a:solidFill>
                <a:srgbClr val="36609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47;p5">
            <a:extLst>
              <a:ext uri="{FF2B5EF4-FFF2-40B4-BE49-F238E27FC236}">
                <a16:creationId xmlns:a16="http://schemas.microsoft.com/office/drawing/2014/main" id="{0864B3F4-B1D0-DD4F-EB59-2F6281F51E2D}"/>
              </a:ext>
            </a:extLst>
          </p:cNvPr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" name="Google Shape;48;p5" descr="Screenshot 2025-04-01 at 08.51.42.png">
            <a:extLst>
              <a:ext uri="{FF2B5EF4-FFF2-40B4-BE49-F238E27FC236}">
                <a16:creationId xmlns:a16="http://schemas.microsoft.com/office/drawing/2014/main" id="{F116A1EB-7368-B11C-77D6-DDABB3790F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50;p5">
            <a:extLst>
              <a:ext uri="{FF2B5EF4-FFF2-40B4-BE49-F238E27FC236}">
                <a16:creationId xmlns:a16="http://schemas.microsoft.com/office/drawing/2014/main" id="{BDE8177A-901A-D2E2-69A0-4D5C8E7F3581}"/>
              </a:ext>
            </a:extLst>
          </p:cNvPr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ext 0"/>
          <p:cNvSpPr/>
          <p:nvPr/>
        </p:nvSpPr>
        <p:spPr>
          <a:xfrm>
            <a:off x="661492" y="1310879"/>
            <a:ext cx="5258693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Estrutura da 1ª Entrega</a:t>
            </a:r>
            <a:endParaRPr lang="en-US" sz="3708" dirty="0"/>
          </a:p>
        </p:txBody>
      </p:sp>
      <p:sp>
        <p:nvSpPr>
          <p:cNvPr id="3" name="Text 1"/>
          <p:cNvSpPr/>
          <p:nvPr/>
        </p:nvSpPr>
        <p:spPr>
          <a:xfrm>
            <a:off x="661492" y="2279551"/>
            <a:ext cx="10869018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primeira entrega do Projeto Integrador está estruturada em três componentes fundamentais que se conectam de forma progressiva. Cada componente constrói sobre o anterior, formando uma base sólida para o desenvolvimento da solução proposta.</a:t>
            </a:r>
            <a:endParaRPr lang="en-US" sz="1458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92" y="3399432"/>
            <a:ext cx="3622973" cy="7560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504" y="4344492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Definição do Tema</a:t>
            </a:r>
            <a:endParaRPr lang="en-US" sz="1833" dirty="0"/>
          </a:p>
        </p:txBody>
      </p:sp>
      <p:sp>
        <p:nvSpPr>
          <p:cNvPr id="6" name="Text 3"/>
          <p:cNvSpPr/>
          <p:nvPr/>
        </p:nvSpPr>
        <p:spPr>
          <a:xfrm>
            <a:off x="850504" y="4753174"/>
            <a:ext cx="32449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Identificação do problema e contexto</a:t>
            </a:r>
            <a:endParaRPr lang="en-US" sz="1458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464" y="3399432"/>
            <a:ext cx="3622973" cy="7560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73476" y="4344492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Proposta de Valor</a:t>
            </a:r>
            <a:endParaRPr lang="en-US" sz="1833" dirty="0"/>
          </a:p>
        </p:txBody>
      </p:sp>
      <p:sp>
        <p:nvSpPr>
          <p:cNvPr id="9" name="Text 5"/>
          <p:cNvSpPr/>
          <p:nvPr/>
        </p:nvSpPr>
        <p:spPr>
          <a:xfrm>
            <a:off x="4473476" y="4753174"/>
            <a:ext cx="32449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Benefícios e público-alvo da solução</a:t>
            </a:r>
            <a:endParaRPr lang="en-US" sz="1458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7437" y="3399432"/>
            <a:ext cx="3622973" cy="7560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96448" y="4344492"/>
            <a:ext cx="255647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Análise de Viabilidade</a:t>
            </a:r>
            <a:endParaRPr lang="en-US" sz="1833" dirty="0"/>
          </a:p>
        </p:txBody>
      </p:sp>
      <p:sp>
        <p:nvSpPr>
          <p:cNvPr id="16" name="Google Shape;50;p5">
            <a:extLst>
              <a:ext uri="{FF2B5EF4-FFF2-40B4-BE49-F238E27FC236}">
                <a16:creationId xmlns:a16="http://schemas.microsoft.com/office/drawing/2014/main" id="{BD0347C2-7B2D-8350-35C0-E216C99DD2F8}"/>
              </a:ext>
            </a:extLst>
          </p:cNvPr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" name="Google Shape;51;p5">
            <a:extLst>
              <a:ext uri="{FF2B5EF4-FFF2-40B4-BE49-F238E27FC236}">
                <a16:creationId xmlns:a16="http://schemas.microsoft.com/office/drawing/2014/main" id="{A20D12EC-ACDC-3118-6A25-448050EBE6EB}"/>
              </a:ext>
            </a:extLst>
          </p:cNvPr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Google Shape;53;p5">
            <a:extLst>
              <a:ext uri="{FF2B5EF4-FFF2-40B4-BE49-F238E27FC236}">
                <a16:creationId xmlns:a16="http://schemas.microsoft.com/office/drawing/2014/main" id="{126E15E8-B503-B478-9031-0EBEA8523E66}"/>
              </a:ext>
            </a:extLst>
          </p:cNvPr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PRÁTICAS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" name="Google Shape;49;p5">
            <a:extLst>
              <a:ext uri="{FF2B5EF4-FFF2-40B4-BE49-F238E27FC236}">
                <a16:creationId xmlns:a16="http://schemas.microsoft.com/office/drawing/2014/main" id="{392C65BC-4B81-3137-B7BA-F2A14B062D3D}"/>
              </a:ext>
            </a:extLst>
          </p:cNvPr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49;p5">
            <a:extLst>
              <a:ext uri="{FF2B5EF4-FFF2-40B4-BE49-F238E27FC236}">
                <a16:creationId xmlns:a16="http://schemas.microsoft.com/office/drawing/2014/main" id="{1FC72317-AEC0-3AC4-02D5-33D9A898F7A2}"/>
              </a:ext>
            </a:extLst>
          </p:cNvPr>
          <p:cNvSpPr/>
          <p:nvPr/>
        </p:nvSpPr>
        <p:spPr>
          <a:xfrm>
            <a:off x="-736600" y="1143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" name="Google Shape;50;p5">
            <a:extLst>
              <a:ext uri="{FF2B5EF4-FFF2-40B4-BE49-F238E27FC236}">
                <a16:creationId xmlns:a16="http://schemas.microsoft.com/office/drawing/2014/main" id="{80458AE8-06FF-62C2-976D-035B32B6A96D}"/>
              </a:ext>
            </a:extLst>
          </p:cNvPr>
          <p:cNvSpPr txBox="1"/>
          <p:nvPr/>
        </p:nvSpPr>
        <p:spPr>
          <a:xfrm>
            <a:off x="238226" y="121353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" name="Google Shape;51;p5">
            <a:extLst>
              <a:ext uri="{FF2B5EF4-FFF2-40B4-BE49-F238E27FC236}">
                <a16:creationId xmlns:a16="http://schemas.microsoft.com/office/drawing/2014/main" id="{12B21BAE-E049-ED8B-15EB-6A2D80B024FB}"/>
              </a:ext>
            </a:extLst>
          </p:cNvPr>
          <p:cNvSpPr/>
          <p:nvPr/>
        </p:nvSpPr>
        <p:spPr>
          <a:xfrm>
            <a:off x="-330200" y="6275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53;p5">
            <a:extLst>
              <a:ext uri="{FF2B5EF4-FFF2-40B4-BE49-F238E27FC236}">
                <a16:creationId xmlns:a16="http://schemas.microsoft.com/office/drawing/2014/main" id="{55F562D1-9617-F62F-ACE4-AAA6944A5B4F}"/>
              </a:ext>
            </a:extLst>
          </p:cNvPr>
          <p:cNvSpPr txBox="1"/>
          <p:nvPr/>
        </p:nvSpPr>
        <p:spPr>
          <a:xfrm>
            <a:off x="2677404" y="151275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PRÁTICAS EXTENSIONISTAS</a:t>
            </a:r>
            <a:endParaRPr sz="1800" b="1" i="0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7B6C0C1E-9D53-D3E9-F487-6A65CE69B3BB}"/>
              </a:ext>
            </a:extLst>
          </p:cNvPr>
          <p:cNvSpPr/>
          <p:nvPr/>
        </p:nvSpPr>
        <p:spPr>
          <a:xfrm>
            <a:off x="7991459" y="4692690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Estudo de mercado e recursos necessários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DF937E6D-2F98-1690-2663-087203929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>
            <a:extLst>
              <a:ext uri="{FF2B5EF4-FFF2-40B4-BE49-F238E27FC236}">
                <a16:creationId xmlns:a16="http://schemas.microsoft.com/office/drawing/2014/main" id="{E5A9099C-BBFE-3D3A-F300-2357DF2DC80F}"/>
              </a:ext>
            </a:extLst>
          </p:cNvPr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9">
            <a:extLst>
              <a:ext uri="{FF2B5EF4-FFF2-40B4-BE49-F238E27FC236}">
                <a16:creationId xmlns:a16="http://schemas.microsoft.com/office/drawing/2014/main" id="{3D0FFF60-02CB-29AB-D139-E08AA46CD45F}"/>
              </a:ext>
            </a:extLst>
          </p:cNvPr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9">
            <a:extLst>
              <a:ext uri="{FF2B5EF4-FFF2-40B4-BE49-F238E27FC236}">
                <a16:creationId xmlns:a16="http://schemas.microsoft.com/office/drawing/2014/main" id="{2BBC19FB-63AA-22F3-54D4-9DBE282AA56A}"/>
              </a:ext>
            </a:extLst>
          </p:cNvPr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9">
            <a:extLst>
              <a:ext uri="{FF2B5EF4-FFF2-40B4-BE49-F238E27FC236}">
                <a16:creationId xmlns:a16="http://schemas.microsoft.com/office/drawing/2014/main" id="{E6DB21DD-9CF5-0D6A-02FF-4DAF16C9083B}"/>
              </a:ext>
            </a:extLst>
          </p:cNvPr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PRÁTICAS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F0FC8126-EBFB-9A82-66D5-A8DD5549E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09" y="634611"/>
            <a:ext cx="10583501" cy="590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07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6" name="Google Shape;116;p9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9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9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9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PRÁTICAS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Google Shape;166;p7">
            <a:extLst>
              <a:ext uri="{FF2B5EF4-FFF2-40B4-BE49-F238E27FC236}">
                <a16:creationId xmlns:a16="http://schemas.microsoft.com/office/drawing/2014/main" id="{59769E7C-C87A-F374-C5A4-422B8AEA0501}"/>
              </a:ext>
            </a:extLst>
          </p:cNvPr>
          <p:cNvSpPr txBox="1">
            <a:spLocks/>
          </p:cNvSpPr>
          <p:nvPr/>
        </p:nvSpPr>
        <p:spPr>
          <a:xfrm>
            <a:off x="710337" y="1017144"/>
            <a:ext cx="11189776" cy="16876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spcFirstLastPara="1" wrap="square" lIns="0" tIns="2540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2075" marR="83185" indent="-1269" algn="just">
              <a:lnSpc>
                <a:spcPct val="180000"/>
              </a:lnSpc>
            </a:pPr>
            <a:r>
              <a:rPr lang="pt-BR" sz="2000" b="1" dirty="0">
                <a:latin typeface="Lucida Sans" panose="020B0602030504020204" pitchFamily="34" charset="0"/>
              </a:rPr>
              <a:t>Definição de Tema</a:t>
            </a:r>
            <a:r>
              <a:rPr lang="pt-BR" sz="2000" dirty="0">
                <a:latin typeface="Lucida Sans" panose="020B0602030504020204" pitchFamily="34" charset="0"/>
              </a:rPr>
              <a:t>: estimular o entendimento do contexto no qual a solução pretende  ser desenvolvida, qual o problema que pretende ser resolvido e qual seria a motivação  para a resolução.</a:t>
            </a:r>
          </a:p>
        </p:txBody>
      </p:sp>
      <p:sp>
        <p:nvSpPr>
          <p:cNvPr id="3" name="Google Shape;167;p7">
            <a:extLst>
              <a:ext uri="{FF2B5EF4-FFF2-40B4-BE49-F238E27FC236}">
                <a16:creationId xmlns:a16="http://schemas.microsoft.com/office/drawing/2014/main" id="{860C8827-D9C1-42E2-F1B6-41C3E12A93C9}"/>
              </a:ext>
            </a:extLst>
          </p:cNvPr>
          <p:cNvSpPr txBox="1"/>
          <p:nvPr/>
        </p:nvSpPr>
        <p:spPr>
          <a:xfrm>
            <a:off x="2540641" y="3331794"/>
            <a:ext cx="1244600" cy="33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Contexto</a:t>
            </a:r>
            <a:endParaRPr sz="2100" b="0" i="0" u="none" strike="noStrike" cap="none">
              <a:solidFill>
                <a:schemeClr val="dk1"/>
              </a:solidFill>
              <a:latin typeface="Lucida Sans" panose="020B0602030504020204" pitchFamily="34" charset="0"/>
              <a:sym typeface="Arial"/>
            </a:endParaRPr>
          </a:p>
        </p:txBody>
      </p:sp>
      <p:sp>
        <p:nvSpPr>
          <p:cNvPr id="4" name="Google Shape;168;p7">
            <a:extLst>
              <a:ext uri="{FF2B5EF4-FFF2-40B4-BE49-F238E27FC236}">
                <a16:creationId xmlns:a16="http://schemas.microsoft.com/office/drawing/2014/main" id="{78968B91-19C9-B557-FEC9-0AB805AAE788}"/>
              </a:ext>
            </a:extLst>
          </p:cNvPr>
          <p:cNvSpPr txBox="1"/>
          <p:nvPr/>
        </p:nvSpPr>
        <p:spPr>
          <a:xfrm>
            <a:off x="2540641" y="4435263"/>
            <a:ext cx="1329055" cy="33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Problema</a:t>
            </a:r>
            <a:endParaRPr sz="2100" b="0" i="0" u="none" strike="noStrike" cap="none">
              <a:solidFill>
                <a:schemeClr val="dk1"/>
              </a:solidFill>
              <a:latin typeface="Lucida Sans" panose="020B0602030504020204" pitchFamily="34" charset="0"/>
              <a:sym typeface="Arial"/>
            </a:endParaRPr>
          </a:p>
        </p:txBody>
      </p:sp>
      <p:sp>
        <p:nvSpPr>
          <p:cNvPr id="5" name="Google Shape;169;p7">
            <a:extLst>
              <a:ext uri="{FF2B5EF4-FFF2-40B4-BE49-F238E27FC236}">
                <a16:creationId xmlns:a16="http://schemas.microsoft.com/office/drawing/2014/main" id="{C75EC47A-A1F3-EAA3-F61A-B09EDFBE6030}"/>
              </a:ext>
            </a:extLst>
          </p:cNvPr>
          <p:cNvSpPr txBox="1"/>
          <p:nvPr/>
        </p:nvSpPr>
        <p:spPr>
          <a:xfrm>
            <a:off x="2540641" y="5580792"/>
            <a:ext cx="1413510" cy="33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Motivação</a:t>
            </a:r>
            <a:endParaRPr sz="2100" b="0" i="0" u="none" strike="noStrike" cap="none">
              <a:solidFill>
                <a:schemeClr val="dk1"/>
              </a:solidFill>
              <a:latin typeface="Lucida Sans" panose="020B0602030504020204" pitchFamily="34" charset="0"/>
              <a:sym typeface="Arial"/>
            </a:endParaRPr>
          </a:p>
        </p:txBody>
      </p:sp>
      <p:sp>
        <p:nvSpPr>
          <p:cNvPr id="6" name="Google Shape;170;p7">
            <a:extLst>
              <a:ext uri="{FF2B5EF4-FFF2-40B4-BE49-F238E27FC236}">
                <a16:creationId xmlns:a16="http://schemas.microsoft.com/office/drawing/2014/main" id="{D9192863-CCC4-AF57-68F2-9CC9FFF6317F}"/>
              </a:ext>
            </a:extLst>
          </p:cNvPr>
          <p:cNvSpPr txBox="1"/>
          <p:nvPr/>
        </p:nvSpPr>
        <p:spPr>
          <a:xfrm>
            <a:off x="6305225" y="3176402"/>
            <a:ext cx="4431665" cy="659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Quais os dados de mercado que  contextualizam a proposta?</a:t>
            </a:r>
            <a:endParaRPr sz="2100" b="0" i="0" u="none" strike="noStrike" cap="none">
              <a:solidFill>
                <a:schemeClr val="dk1"/>
              </a:solidFill>
              <a:latin typeface="Lucida Sans" panose="020B0602030504020204" pitchFamily="34" charset="0"/>
              <a:sym typeface="Arial"/>
            </a:endParaRPr>
          </a:p>
        </p:txBody>
      </p:sp>
      <p:sp>
        <p:nvSpPr>
          <p:cNvPr id="7" name="Google Shape;171;p7">
            <a:extLst>
              <a:ext uri="{FF2B5EF4-FFF2-40B4-BE49-F238E27FC236}">
                <a16:creationId xmlns:a16="http://schemas.microsoft.com/office/drawing/2014/main" id="{C5000A55-BEF4-C564-5FED-55F4CB662BCC}"/>
              </a:ext>
            </a:extLst>
          </p:cNvPr>
          <p:cNvSpPr txBox="1"/>
          <p:nvPr/>
        </p:nvSpPr>
        <p:spPr>
          <a:xfrm>
            <a:off x="6305225" y="4273681"/>
            <a:ext cx="4193540" cy="659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Quais informações evidenciam  o problema a ser resolvido?</a:t>
            </a:r>
            <a:endParaRPr sz="2100" b="0" i="0" u="none" strike="noStrike" cap="none">
              <a:solidFill>
                <a:schemeClr val="dk1"/>
              </a:solidFill>
              <a:latin typeface="Lucida Sans" panose="020B0602030504020204" pitchFamily="34" charset="0"/>
              <a:sym typeface="Arial"/>
            </a:endParaRPr>
          </a:p>
        </p:txBody>
      </p:sp>
      <p:sp>
        <p:nvSpPr>
          <p:cNvPr id="8" name="Google Shape;172;p7">
            <a:extLst>
              <a:ext uri="{FF2B5EF4-FFF2-40B4-BE49-F238E27FC236}">
                <a16:creationId xmlns:a16="http://schemas.microsoft.com/office/drawing/2014/main" id="{64F033FA-F8F9-B4B7-FB78-3893D29D3046}"/>
              </a:ext>
            </a:extLst>
          </p:cNvPr>
          <p:cNvSpPr txBox="1"/>
          <p:nvPr/>
        </p:nvSpPr>
        <p:spPr>
          <a:xfrm>
            <a:off x="6305225" y="5370962"/>
            <a:ext cx="3940810" cy="911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2700" marR="5080" lvl="0" indent="0" algn="l" rtl="0">
              <a:lnSpc>
                <a:spcPct val="13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Como o grupo chegou nesse  tema?</a:t>
            </a:r>
            <a:endParaRPr sz="2100" b="0" i="0" u="none" strike="noStrike" cap="none">
              <a:solidFill>
                <a:schemeClr val="dk1"/>
              </a:solidFill>
              <a:latin typeface="Lucida Sans" panose="020B0602030504020204" pitchFamily="34" charset="0"/>
              <a:sym typeface="Arial"/>
            </a:endParaRPr>
          </a:p>
        </p:txBody>
      </p:sp>
      <p:grpSp>
        <p:nvGrpSpPr>
          <p:cNvPr id="9" name="Google Shape;173;p7">
            <a:extLst>
              <a:ext uri="{FF2B5EF4-FFF2-40B4-BE49-F238E27FC236}">
                <a16:creationId xmlns:a16="http://schemas.microsoft.com/office/drawing/2014/main" id="{0FEF6883-795A-3945-8B09-551B6990940D}"/>
              </a:ext>
            </a:extLst>
          </p:cNvPr>
          <p:cNvGrpSpPr/>
          <p:nvPr/>
        </p:nvGrpSpPr>
        <p:grpSpPr>
          <a:xfrm>
            <a:off x="4887148" y="4032000"/>
            <a:ext cx="720090" cy="1287780"/>
            <a:chOff x="3711321" y="3429380"/>
            <a:chExt cx="720090" cy="1287780"/>
          </a:xfrm>
        </p:grpSpPr>
        <p:sp>
          <p:nvSpPr>
            <p:cNvPr id="10" name="Google Shape;174;p7">
              <a:extLst>
                <a:ext uri="{FF2B5EF4-FFF2-40B4-BE49-F238E27FC236}">
                  <a16:creationId xmlns:a16="http://schemas.microsoft.com/office/drawing/2014/main" id="{8BAF84E2-CDE3-6105-668A-F52E48061250}"/>
                </a:ext>
              </a:extLst>
            </p:cNvPr>
            <p:cNvSpPr/>
            <p:nvPr/>
          </p:nvSpPr>
          <p:spPr>
            <a:xfrm>
              <a:off x="3711321" y="3429380"/>
              <a:ext cx="720090" cy="1287780"/>
            </a:xfrm>
            <a:custGeom>
              <a:avLst/>
              <a:gdLst/>
              <a:ahLst/>
              <a:cxnLst/>
              <a:rect l="l" t="t" r="r" b="b"/>
              <a:pathLst>
                <a:path w="720089" h="1287779" extrusionOk="0">
                  <a:moveTo>
                    <a:pt x="360045" y="0"/>
                  </a:moveTo>
                  <a:lnTo>
                    <a:pt x="0" y="0"/>
                  </a:lnTo>
                  <a:lnTo>
                    <a:pt x="360045" y="643890"/>
                  </a:lnTo>
                  <a:lnTo>
                    <a:pt x="0" y="1287780"/>
                  </a:lnTo>
                  <a:lnTo>
                    <a:pt x="360045" y="1287780"/>
                  </a:lnTo>
                  <a:lnTo>
                    <a:pt x="720090" y="643890"/>
                  </a:lnTo>
                  <a:lnTo>
                    <a:pt x="360045" y="0"/>
                  </a:lnTo>
                  <a:close/>
                </a:path>
              </a:pathLst>
            </a:custGeom>
            <a:solidFill>
              <a:srgbClr val="BADFE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dk1"/>
                </a:solidFill>
                <a:latin typeface="Lucida Sans" panose="020B0602030504020204" pitchFamily="34" charset="0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75;p7">
              <a:extLst>
                <a:ext uri="{FF2B5EF4-FFF2-40B4-BE49-F238E27FC236}">
                  <a16:creationId xmlns:a16="http://schemas.microsoft.com/office/drawing/2014/main" id="{F05A0344-13D6-CAFC-AD80-76DF4BB3750D}"/>
                </a:ext>
              </a:extLst>
            </p:cNvPr>
            <p:cNvSpPr/>
            <p:nvPr/>
          </p:nvSpPr>
          <p:spPr>
            <a:xfrm>
              <a:off x="3711321" y="3429380"/>
              <a:ext cx="720090" cy="1287780"/>
            </a:xfrm>
            <a:custGeom>
              <a:avLst/>
              <a:gdLst/>
              <a:ahLst/>
              <a:cxnLst/>
              <a:rect l="l" t="t" r="r" b="b"/>
              <a:pathLst>
                <a:path w="720089" h="1287779" extrusionOk="0">
                  <a:moveTo>
                    <a:pt x="0" y="0"/>
                  </a:moveTo>
                  <a:lnTo>
                    <a:pt x="360045" y="0"/>
                  </a:lnTo>
                  <a:lnTo>
                    <a:pt x="720090" y="643890"/>
                  </a:lnTo>
                  <a:lnTo>
                    <a:pt x="360045" y="1287780"/>
                  </a:lnTo>
                  <a:lnTo>
                    <a:pt x="0" y="1287780"/>
                  </a:lnTo>
                  <a:lnTo>
                    <a:pt x="360045" y="64389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375" cap="flat" cmpd="sng">
              <a:solidFill>
                <a:srgbClr val="4D5E5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dk1"/>
                </a:solidFill>
                <a:latin typeface="Lucida Sans" panose="020B0602030504020204" pitchFamily="34" charset="0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544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8" name="Google Shape;128;p10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0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10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" name="Google Shape;133;p10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PRÁTICAS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Google Shape;166;p7">
            <a:extLst>
              <a:ext uri="{FF2B5EF4-FFF2-40B4-BE49-F238E27FC236}">
                <a16:creationId xmlns:a16="http://schemas.microsoft.com/office/drawing/2014/main" id="{0DCDFDD0-FD93-3937-9194-933256AAC622}"/>
              </a:ext>
            </a:extLst>
          </p:cNvPr>
          <p:cNvSpPr txBox="1">
            <a:spLocks/>
          </p:cNvSpPr>
          <p:nvPr/>
        </p:nvSpPr>
        <p:spPr>
          <a:xfrm>
            <a:off x="710337" y="1017144"/>
            <a:ext cx="10975385" cy="113364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spcFirstLastPara="1" wrap="square" lIns="0" tIns="2540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2075" marR="83185" indent="-1269" algn="just">
              <a:lnSpc>
                <a:spcPct val="180000"/>
              </a:lnSpc>
            </a:pPr>
            <a:r>
              <a:rPr lang="en-US" sz="2000" b="1" dirty="0" err="1">
                <a:latin typeface="Lucida Sans" panose="020B0602030504020204" pitchFamily="34" charset="0"/>
                <a:sym typeface="Arial"/>
              </a:rPr>
              <a:t>Proposta</a:t>
            </a:r>
            <a:r>
              <a:rPr lang="en-US" sz="2000" b="1" dirty="0">
                <a:latin typeface="Lucida Sans" panose="020B0602030504020204" pitchFamily="34" charset="0"/>
                <a:sym typeface="Arial"/>
              </a:rPr>
              <a:t> de Valor</a:t>
            </a:r>
            <a:r>
              <a:rPr lang="en-US" sz="2000" dirty="0">
                <a:latin typeface="Lucida Sans" panose="020B0602030504020204" pitchFamily="34" charset="0"/>
              </a:rPr>
              <a:t>: </a:t>
            </a:r>
            <a:r>
              <a:rPr lang="en-US" sz="2000" dirty="0" err="1">
                <a:latin typeface="Lucida Sans" panose="020B0602030504020204" pitchFamily="34" charset="0"/>
              </a:rPr>
              <a:t>destacar</a:t>
            </a:r>
            <a:r>
              <a:rPr lang="en-US" sz="2000" dirty="0">
                <a:latin typeface="Lucida Sans" panose="020B0602030504020204" pitchFamily="34" charset="0"/>
              </a:rPr>
              <a:t> </a:t>
            </a:r>
            <a:r>
              <a:rPr lang="en-US" sz="2000" dirty="0" err="1">
                <a:latin typeface="Lucida Sans" panose="020B0602030504020204" pitchFamily="34" charset="0"/>
              </a:rPr>
              <a:t>os</a:t>
            </a:r>
            <a:r>
              <a:rPr lang="en-US" sz="2000" dirty="0">
                <a:latin typeface="Lucida Sans" panose="020B0602030504020204" pitchFamily="34" charset="0"/>
              </a:rPr>
              <a:t> </a:t>
            </a:r>
            <a:r>
              <a:rPr lang="en-US" sz="2000" dirty="0" err="1">
                <a:latin typeface="Lucida Sans" panose="020B0602030504020204" pitchFamily="34" charset="0"/>
              </a:rPr>
              <a:t>benefícios</a:t>
            </a:r>
            <a:r>
              <a:rPr lang="en-US" sz="2000" dirty="0">
                <a:latin typeface="Lucida Sans" panose="020B0602030504020204" pitchFamily="34" charset="0"/>
              </a:rPr>
              <a:t> que </a:t>
            </a:r>
            <a:r>
              <a:rPr lang="en-US" sz="2000" dirty="0" err="1">
                <a:latin typeface="Lucida Sans" panose="020B0602030504020204" pitchFamily="34" charset="0"/>
              </a:rPr>
              <a:t>podem</a:t>
            </a:r>
            <a:r>
              <a:rPr lang="en-US" sz="2000" dirty="0">
                <a:latin typeface="Lucida Sans" panose="020B0602030504020204" pitchFamily="34" charset="0"/>
              </a:rPr>
              <a:t> ser </a:t>
            </a:r>
            <a:r>
              <a:rPr lang="en-US" sz="2000" dirty="0" err="1">
                <a:latin typeface="Lucida Sans" panose="020B0602030504020204" pitchFamily="34" charset="0"/>
              </a:rPr>
              <a:t>gerados</a:t>
            </a:r>
            <a:r>
              <a:rPr lang="en-US" sz="2000" dirty="0">
                <a:latin typeface="Lucida Sans" panose="020B0602030504020204" pitchFamily="34" charset="0"/>
              </a:rPr>
              <a:t> com a </a:t>
            </a:r>
            <a:r>
              <a:rPr lang="en-US" sz="2000" dirty="0" err="1">
                <a:latin typeface="Lucida Sans" panose="020B0602030504020204" pitchFamily="34" charset="0"/>
              </a:rPr>
              <a:t>solução</a:t>
            </a:r>
            <a:r>
              <a:rPr lang="en-US" sz="2000" dirty="0">
                <a:latin typeface="Lucida Sans" panose="020B0602030504020204" pitchFamily="34" charset="0"/>
              </a:rPr>
              <a:t>  </a:t>
            </a:r>
            <a:r>
              <a:rPr lang="en-US" sz="2000" dirty="0" err="1">
                <a:latin typeface="Lucida Sans" panose="020B0602030504020204" pitchFamily="34" charset="0"/>
              </a:rPr>
              <a:t>idealizada</a:t>
            </a:r>
            <a:r>
              <a:rPr lang="en-US" sz="2000" dirty="0">
                <a:latin typeface="Lucida Sans" panose="020B0602030504020204" pitchFamily="34" charset="0"/>
              </a:rPr>
              <a:t> e </a:t>
            </a:r>
            <a:r>
              <a:rPr lang="en-US" sz="2000" dirty="0" err="1">
                <a:latin typeface="Lucida Sans" panose="020B0602030504020204" pitchFamily="34" charset="0"/>
              </a:rPr>
              <a:t>entender</a:t>
            </a:r>
            <a:r>
              <a:rPr lang="en-US" sz="2000" dirty="0">
                <a:latin typeface="Lucida Sans" panose="020B0602030504020204" pitchFamily="34" charset="0"/>
              </a:rPr>
              <a:t> quais </a:t>
            </a:r>
            <a:r>
              <a:rPr lang="en-US" sz="2000" dirty="0" err="1">
                <a:latin typeface="Lucida Sans" panose="020B0602030504020204" pitchFamily="34" charset="0"/>
              </a:rPr>
              <a:t>seriam</a:t>
            </a:r>
            <a:r>
              <a:rPr lang="en-US" sz="2000" dirty="0">
                <a:latin typeface="Lucida Sans" panose="020B0602030504020204" pitchFamily="34" charset="0"/>
              </a:rPr>
              <a:t> as partes </a:t>
            </a:r>
            <a:r>
              <a:rPr lang="en-US" sz="2000" dirty="0" err="1">
                <a:latin typeface="Lucida Sans" panose="020B0602030504020204" pitchFamily="34" charset="0"/>
              </a:rPr>
              <a:t>interessadas</a:t>
            </a:r>
            <a:r>
              <a:rPr lang="en-US" sz="2000" dirty="0">
                <a:latin typeface="Lucida Sans" panose="020B0602030504020204" pitchFamily="34" charset="0"/>
              </a:rPr>
              <a:t> </a:t>
            </a:r>
            <a:r>
              <a:rPr lang="en-US" sz="2000" dirty="0" err="1">
                <a:latin typeface="Lucida Sans" panose="020B0602030504020204" pitchFamily="34" charset="0"/>
              </a:rPr>
              <a:t>na</a:t>
            </a:r>
            <a:r>
              <a:rPr lang="en-US" sz="2000" dirty="0">
                <a:latin typeface="Lucida Sans" panose="020B0602030504020204" pitchFamily="34" charset="0"/>
              </a:rPr>
              <a:t> </a:t>
            </a:r>
            <a:r>
              <a:rPr lang="en-US" sz="2000" dirty="0" err="1">
                <a:latin typeface="Lucida Sans" panose="020B0602030504020204" pitchFamily="34" charset="0"/>
              </a:rPr>
              <a:t>solução</a:t>
            </a:r>
            <a:r>
              <a:rPr lang="en-US" sz="2000" dirty="0">
                <a:latin typeface="Lucida Sans" panose="020B0602030504020204" pitchFamily="34" charset="0"/>
              </a:rPr>
              <a:t> (stakeholders).</a:t>
            </a:r>
            <a:endParaRPr lang="pt-BR" sz="2000" dirty="0">
              <a:latin typeface="Lucida Sans" panose="020B0602030504020204" pitchFamily="34" charset="0"/>
            </a:endParaRPr>
          </a:p>
        </p:txBody>
      </p:sp>
      <p:sp>
        <p:nvSpPr>
          <p:cNvPr id="3" name="Google Shape;181;p8">
            <a:extLst>
              <a:ext uri="{FF2B5EF4-FFF2-40B4-BE49-F238E27FC236}">
                <a16:creationId xmlns:a16="http://schemas.microsoft.com/office/drawing/2014/main" id="{A5D7A2DE-3A5B-DD59-306D-DF013F7A1289}"/>
              </a:ext>
            </a:extLst>
          </p:cNvPr>
          <p:cNvSpPr txBox="1"/>
          <p:nvPr/>
        </p:nvSpPr>
        <p:spPr>
          <a:xfrm>
            <a:off x="710337" y="2381223"/>
            <a:ext cx="4785841" cy="487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Descrição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 do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projeto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					</a:t>
            </a: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100" dirty="0">
              <a:solidFill>
                <a:srgbClr val="252525"/>
              </a:solidFill>
              <a:latin typeface="Lucida Sans" panose="020B0602030504020204" pitchFamily="34" charset="0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Público-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alvo</a:t>
            </a:r>
            <a:endParaRPr sz="2100" dirty="0">
              <a:solidFill>
                <a:schemeClr val="dk1"/>
              </a:solidFill>
              <a:latin typeface="Lucida Sans" panose="020B0602030504020204" pitchFamily="34" charset="0"/>
              <a:sym typeface="Arial"/>
            </a:endParaRPr>
          </a:p>
          <a:p>
            <a:pPr marL="0" marR="0" lvl="0" indent="0" algn="l" rtl="0">
              <a:spcBef>
                <a:spcPts val="5"/>
              </a:spcBef>
              <a:spcAft>
                <a:spcPts val="0"/>
              </a:spcAft>
              <a:buNone/>
            </a:pPr>
            <a:endParaRPr lang="pt-BR" sz="2100" dirty="0">
              <a:solidFill>
                <a:srgbClr val="252525"/>
              </a:solidFill>
              <a:latin typeface="Lucida Sans" panose="020B0602030504020204" pitchFamily="34" charset="0"/>
              <a:sym typeface="Arial"/>
            </a:endParaRPr>
          </a:p>
          <a:p>
            <a:pPr marL="0" marR="0" lvl="0" indent="0" algn="l" rtl="0">
              <a:spcBef>
                <a:spcPts val="5"/>
              </a:spcBef>
              <a:spcAft>
                <a:spcPts val="0"/>
              </a:spcAft>
              <a:buNone/>
            </a:pPr>
            <a:endParaRPr sz="2100" dirty="0">
              <a:solidFill>
                <a:srgbClr val="252525"/>
              </a:solidFill>
              <a:latin typeface="Lucida Sans" panose="020B0602030504020204" pitchFamily="34" charset="0"/>
              <a:sym typeface="Arial"/>
            </a:endParaRPr>
          </a:p>
          <a:p>
            <a:pPr marL="0" marR="0" lvl="0" indent="0" algn="l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Partes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interessadas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  (stakeholders)</a:t>
            </a:r>
            <a:endParaRPr lang="en-US" sz="2100" dirty="0">
              <a:solidFill>
                <a:schemeClr val="dk1"/>
              </a:solidFill>
              <a:latin typeface="Lucida Sans" panose="020B060203050402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lang="pt-BR" sz="2100" dirty="0">
              <a:solidFill>
                <a:schemeClr val="dk1"/>
              </a:solidFill>
              <a:latin typeface="Lucida Sans" panose="020B060203050402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Lucida Sans" panose="020B0602030504020204" pitchFamily="34" charset="0"/>
              <a:sym typeface="Arial"/>
            </a:endParaRPr>
          </a:p>
          <a:p>
            <a:pPr marL="12700" marR="1917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Benefícios a serem  alcançados para as partes interessadas</a:t>
            </a:r>
            <a:endParaRPr lang="pt-BR" dirty="0">
              <a:latin typeface="Lucida Sans" panose="020B0602030504020204" pitchFamily="34" charset="0"/>
            </a:endParaRPr>
          </a:p>
          <a:p>
            <a:pPr marL="12700" marR="1917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2100" dirty="0">
              <a:solidFill>
                <a:srgbClr val="252525"/>
              </a:solidFill>
              <a:latin typeface="Lucida Sans" panose="020B0602030504020204" pitchFamily="34" charset="0"/>
              <a:sym typeface="Arial"/>
            </a:endParaRPr>
          </a:p>
          <a:p>
            <a:pPr marL="12700" marR="1917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rgbClr val="252525"/>
              </a:solidFill>
              <a:latin typeface="Lucida Sans" panose="020B0602030504020204" pitchFamily="34" charset="0"/>
              <a:sym typeface="Arial"/>
            </a:endParaRPr>
          </a:p>
          <a:p>
            <a:pPr marL="12700" marR="1917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Conexões</a:t>
            </a:r>
            <a:r>
              <a:rPr lang="en-US" sz="2100" b="1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 com a </a:t>
            </a:r>
            <a:r>
              <a:rPr lang="en-US" sz="2100" b="1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comunidade</a:t>
            </a:r>
            <a:endParaRPr lang="en-US" sz="2100" b="1" dirty="0">
              <a:solidFill>
                <a:schemeClr val="dk1"/>
              </a:solidFill>
              <a:latin typeface="Lucida Sans" panose="020B060203050402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Lucida Sans" panose="020B0602030504020204" pitchFamily="34" charset="0"/>
              <a:sym typeface="Arial"/>
            </a:endParaRPr>
          </a:p>
        </p:txBody>
      </p:sp>
      <p:sp>
        <p:nvSpPr>
          <p:cNvPr id="4" name="Google Shape;182;p8">
            <a:extLst>
              <a:ext uri="{FF2B5EF4-FFF2-40B4-BE49-F238E27FC236}">
                <a16:creationId xmlns:a16="http://schemas.microsoft.com/office/drawing/2014/main" id="{607570E4-7154-5CC5-400D-BBD055D5FA82}"/>
              </a:ext>
            </a:extLst>
          </p:cNvPr>
          <p:cNvSpPr txBox="1">
            <a:spLocks/>
          </p:cNvSpPr>
          <p:nvPr/>
        </p:nvSpPr>
        <p:spPr>
          <a:xfrm>
            <a:off x="6958343" y="2270876"/>
            <a:ext cx="4727379" cy="472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/>
            <a:r>
              <a:rPr lang="pt-BR" sz="2100" dirty="0">
                <a:latin typeface="Lucida Sans" panose="020B0602030504020204" pitchFamily="34" charset="0"/>
              </a:rPr>
              <a:t>Qual a proposta?</a:t>
            </a:r>
            <a:endParaRPr lang="pt-BR" dirty="0">
              <a:latin typeface="Lucida Sans" panose="020B0602030504020204" pitchFamily="34" charset="0"/>
            </a:endParaRPr>
          </a:p>
          <a:p>
            <a:pPr>
              <a:spcBef>
                <a:spcPts val="5"/>
              </a:spcBef>
            </a:pPr>
            <a:endParaRPr lang="pt-BR" sz="2100" dirty="0">
              <a:latin typeface="Lucida Sans" panose="020B0602030504020204" pitchFamily="34" charset="0"/>
            </a:endParaRPr>
          </a:p>
          <a:p>
            <a:pPr marL="12700" marR="243840"/>
            <a:r>
              <a:rPr lang="pt-BR" sz="2100" dirty="0">
                <a:latin typeface="Lucida Sans" panose="020B0602030504020204" pitchFamily="34" charset="0"/>
              </a:rPr>
              <a:t>Quem será seu potencial  consumidor?</a:t>
            </a:r>
            <a:endParaRPr lang="pt-BR" dirty="0">
              <a:latin typeface="Lucida Sans" panose="020B0602030504020204" pitchFamily="34" charset="0"/>
            </a:endParaRPr>
          </a:p>
          <a:p>
            <a:pPr>
              <a:spcBef>
                <a:spcPts val="5"/>
              </a:spcBef>
            </a:pPr>
            <a:endParaRPr lang="pt-BR" sz="2100" dirty="0">
              <a:latin typeface="Lucida Sans" panose="020B0602030504020204" pitchFamily="34" charset="0"/>
            </a:endParaRPr>
          </a:p>
          <a:p>
            <a:pPr marL="12700" marR="257175">
              <a:lnSpc>
                <a:spcPct val="136666"/>
              </a:lnSpc>
            </a:pPr>
            <a:r>
              <a:rPr lang="pt-BR" sz="2100" dirty="0">
                <a:latin typeface="Lucida Sans" panose="020B0602030504020204" pitchFamily="34" charset="0"/>
              </a:rPr>
              <a:t>Quem impactará ou será  impactado pela solução?</a:t>
            </a:r>
          </a:p>
          <a:p>
            <a:pPr marL="12700" marR="257175">
              <a:lnSpc>
                <a:spcPct val="136666"/>
              </a:lnSpc>
            </a:pPr>
            <a:endParaRPr lang="pt-BR" sz="2100" dirty="0">
              <a:latin typeface="Lucida Sans" panose="020B0602030504020204" pitchFamily="34" charset="0"/>
            </a:endParaRPr>
          </a:p>
          <a:p>
            <a:pPr marL="12700" marR="257175">
              <a:lnSpc>
                <a:spcPct val="136666"/>
              </a:lnSpc>
            </a:pPr>
            <a:r>
              <a:rPr lang="pt-BR" sz="2100" dirty="0">
                <a:latin typeface="Lucida Sans" panose="020B0602030504020204" pitchFamily="34" charset="0"/>
              </a:rPr>
              <a:t>Qual o valor que a solução  proporcionará?</a:t>
            </a:r>
            <a:endParaRPr lang="pt-BR" dirty="0">
              <a:latin typeface="Lucida Sans" panose="020B0602030504020204" pitchFamily="34" charset="0"/>
            </a:endParaRPr>
          </a:p>
          <a:p>
            <a:pPr marL="12700" marR="257175">
              <a:lnSpc>
                <a:spcPct val="136666"/>
              </a:lnSpc>
            </a:pPr>
            <a:endParaRPr lang="pt-BR" sz="2100" dirty="0">
              <a:latin typeface="Lucida Sans" panose="020B0602030504020204" pitchFamily="34" charset="0"/>
            </a:endParaRPr>
          </a:p>
          <a:p>
            <a:pPr marL="12700" marR="257175">
              <a:lnSpc>
                <a:spcPct val="136666"/>
              </a:lnSpc>
            </a:pPr>
            <a:r>
              <a:rPr lang="pt-BR" sz="2100" b="1" dirty="0">
                <a:latin typeface="Lucida Sans" panose="020B0602030504020204" pitchFamily="34" charset="0"/>
              </a:rPr>
              <a:t>Caráter extensionista</a:t>
            </a:r>
            <a:endParaRPr lang="pt-BR" dirty="0">
              <a:latin typeface="Lucida Sans" panose="020B0602030504020204" pitchFamily="34" charset="0"/>
            </a:endParaRPr>
          </a:p>
        </p:txBody>
      </p:sp>
      <p:grpSp>
        <p:nvGrpSpPr>
          <p:cNvPr id="5" name="Google Shape;183;p8">
            <a:extLst>
              <a:ext uri="{FF2B5EF4-FFF2-40B4-BE49-F238E27FC236}">
                <a16:creationId xmlns:a16="http://schemas.microsoft.com/office/drawing/2014/main" id="{39D83447-4638-AAB5-E900-38A5F3B61DD3}"/>
              </a:ext>
            </a:extLst>
          </p:cNvPr>
          <p:cNvGrpSpPr/>
          <p:nvPr/>
        </p:nvGrpSpPr>
        <p:grpSpPr>
          <a:xfrm>
            <a:off x="5777948" y="3841723"/>
            <a:ext cx="720090" cy="1287780"/>
            <a:chOff x="4089272" y="3374516"/>
            <a:chExt cx="720090" cy="1287780"/>
          </a:xfrm>
        </p:grpSpPr>
        <p:sp>
          <p:nvSpPr>
            <p:cNvPr id="6" name="Google Shape;184;p8">
              <a:extLst>
                <a:ext uri="{FF2B5EF4-FFF2-40B4-BE49-F238E27FC236}">
                  <a16:creationId xmlns:a16="http://schemas.microsoft.com/office/drawing/2014/main" id="{1289845A-7086-46EC-49BA-F73888DCEAF4}"/>
                </a:ext>
              </a:extLst>
            </p:cNvPr>
            <p:cNvSpPr/>
            <p:nvPr/>
          </p:nvSpPr>
          <p:spPr>
            <a:xfrm>
              <a:off x="4089272" y="3374516"/>
              <a:ext cx="720090" cy="1287780"/>
            </a:xfrm>
            <a:custGeom>
              <a:avLst/>
              <a:gdLst/>
              <a:ahLst/>
              <a:cxnLst/>
              <a:rect l="l" t="t" r="r" b="b"/>
              <a:pathLst>
                <a:path w="720089" h="1287779" extrusionOk="0">
                  <a:moveTo>
                    <a:pt x="360045" y="0"/>
                  </a:moveTo>
                  <a:lnTo>
                    <a:pt x="0" y="0"/>
                  </a:lnTo>
                  <a:lnTo>
                    <a:pt x="360045" y="643890"/>
                  </a:lnTo>
                  <a:lnTo>
                    <a:pt x="0" y="1287780"/>
                  </a:lnTo>
                  <a:lnTo>
                    <a:pt x="360045" y="1287780"/>
                  </a:lnTo>
                  <a:lnTo>
                    <a:pt x="720090" y="643890"/>
                  </a:lnTo>
                  <a:lnTo>
                    <a:pt x="360045" y="0"/>
                  </a:lnTo>
                  <a:close/>
                </a:path>
              </a:pathLst>
            </a:custGeom>
            <a:solidFill>
              <a:srgbClr val="BADFE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dk1"/>
                </a:solidFill>
                <a:latin typeface="Lucida Sans" panose="020B0602030504020204" pitchFamily="34" charset="0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85;p8">
              <a:extLst>
                <a:ext uri="{FF2B5EF4-FFF2-40B4-BE49-F238E27FC236}">
                  <a16:creationId xmlns:a16="http://schemas.microsoft.com/office/drawing/2014/main" id="{27F3A167-AB75-39CB-B941-604221A0B4F2}"/>
                </a:ext>
              </a:extLst>
            </p:cNvPr>
            <p:cNvSpPr/>
            <p:nvPr/>
          </p:nvSpPr>
          <p:spPr>
            <a:xfrm>
              <a:off x="4089272" y="3374516"/>
              <a:ext cx="720090" cy="1287780"/>
            </a:xfrm>
            <a:custGeom>
              <a:avLst/>
              <a:gdLst/>
              <a:ahLst/>
              <a:cxnLst/>
              <a:rect l="l" t="t" r="r" b="b"/>
              <a:pathLst>
                <a:path w="720089" h="1287779" extrusionOk="0">
                  <a:moveTo>
                    <a:pt x="0" y="0"/>
                  </a:moveTo>
                  <a:lnTo>
                    <a:pt x="360045" y="0"/>
                  </a:lnTo>
                  <a:lnTo>
                    <a:pt x="720090" y="643890"/>
                  </a:lnTo>
                  <a:lnTo>
                    <a:pt x="360045" y="1287780"/>
                  </a:lnTo>
                  <a:lnTo>
                    <a:pt x="0" y="1287780"/>
                  </a:lnTo>
                  <a:lnTo>
                    <a:pt x="360045" y="64389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375" cap="flat" cmpd="sng">
              <a:solidFill>
                <a:srgbClr val="4D5E5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dk1"/>
                </a:solidFill>
                <a:latin typeface="Lucida Sans" panose="020B0602030504020204" pitchFamily="34" charset="0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1809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0" name="Google Shape;140;p11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1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11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11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PRÁTICAS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Google Shape;166;p7">
            <a:extLst>
              <a:ext uri="{FF2B5EF4-FFF2-40B4-BE49-F238E27FC236}">
                <a16:creationId xmlns:a16="http://schemas.microsoft.com/office/drawing/2014/main" id="{A6CC41D4-3FD6-88F1-CA25-C04EA26ACFB9}"/>
              </a:ext>
            </a:extLst>
          </p:cNvPr>
          <p:cNvSpPr txBox="1">
            <a:spLocks/>
          </p:cNvSpPr>
          <p:nvPr/>
        </p:nvSpPr>
        <p:spPr>
          <a:xfrm>
            <a:off x="710337" y="1017144"/>
            <a:ext cx="10975385" cy="16876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spcFirstLastPara="1" wrap="square" lIns="0" tIns="2540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2075" marR="83185" indent="-1269" algn="just">
              <a:lnSpc>
                <a:spcPct val="180000"/>
              </a:lnSpc>
            </a:pPr>
            <a:r>
              <a:rPr lang="en-US" sz="2000" b="1" dirty="0" err="1">
                <a:latin typeface="Lucida Sans" panose="020B0602030504020204" pitchFamily="34" charset="0"/>
                <a:sym typeface="Arial"/>
              </a:rPr>
              <a:t>Análise</a:t>
            </a:r>
            <a:r>
              <a:rPr lang="en-US" sz="2000" b="1" dirty="0">
                <a:latin typeface="Lucida Sans" panose="020B0602030504020204" pitchFamily="34" charset="0"/>
                <a:sym typeface="Arial"/>
              </a:rPr>
              <a:t> de </a:t>
            </a:r>
            <a:r>
              <a:rPr lang="en-US" sz="2000" b="1" dirty="0" err="1">
                <a:latin typeface="Lucida Sans" panose="020B0602030504020204" pitchFamily="34" charset="0"/>
                <a:sym typeface="Arial"/>
              </a:rPr>
              <a:t>Viabilidade</a:t>
            </a:r>
            <a:r>
              <a:rPr lang="en-US" sz="2000" b="1" dirty="0">
                <a:latin typeface="Lucida Sans" panose="020B0602030504020204" pitchFamily="34" charset="0"/>
                <a:sym typeface="Arial"/>
              </a:rPr>
              <a:t>: </a:t>
            </a:r>
            <a:r>
              <a:rPr lang="en-US" sz="2000" dirty="0" err="1">
                <a:latin typeface="Lucida Sans" panose="020B0602030504020204" pitchFamily="34" charset="0"/>
              </a:rPr>
              <a:t>estimular</a:t>
            </a:r>
            <a:r>
              <a:rPr lang="en-US" sz="2000" dirty="0">
                <a:latin typeface="Lucida Sans" panose="020B0602030504020204" pitchFamily="34" charset="0"/>
              </a:rPr>
              <a:t> a </a:t>
            </a:r>
            <a:r>
              <a:rPr lang="en-US" sz="2000" dirty="0" err="1">
                <a:latin typeface="Lucida Sans" panose="020B0602030504020204" pitchFamily="34" charset="0"/>
              </a:rPr>
              <a:t>visão</a:t>
            </a:r>
            <a:r>
              <a:rPr lang="en-US" sz="2000" dirty="0">
                <a:latin typeface="Lucida Sans" panose="020B0602030504020204" pitchFamily="34" charset="0"/>
              </a:rPr>
              <a:t> </a:t>
            </a:r>
            <a:r>
              <a:rPr lang="en-US" sz="2000" dirty="0" err="1">
                <a:latin typeface="Lucida Sans" panose="020B0602030504020204" pitchFamily="34" charset="0"/>
              </a:rPr>
              <a:t>crítica</a:t>
            </a:r>
            <a:r>
              <a:rPr lang="en-US" sz="2000" dirty="0">
                <a:latin typeface="Lucida Sans" panose="020B0602030504020204" pitchFamily="34" charset="0"/>
              </a:rPr>
              <a:t> do </a:t>
            </a:r>
            <a:r>
              <a:rPr lang="en-US" sz="2000" dirty="0" err="1">
                <a:latin typeface="Lucida Sans" panose="020B0602030504020204" pitchFamily="34" charset="0"/>
              </a:rPr>
              <a:t>aluno</a:t>
            </a:r>
            <a:r>
              <a:rPr lang="en-US" sz="2000" dirty="0">
                <a:latin typeface="Lucida Sans" panose="020B0602030504020204" pitchFamily="34" charset="0"/>
              </a:rPr>
              <a:t> </a:t>
            </a:r>
            <a:r>
              <a:rPr lang="en-US" sz="2000" dirty="0" err="1">
                <a:latin typeface="Lucida Sans" panose="020B0602030504020204" pitchFamily="34" charset="0"/>
              </a:rPr>
              <a:t>quanto</a:t>
            </a:r>
            <a:r>
              <a:rPr lang="en-US" sz="2000" dirty="0">
                <a:latin typeface="Lucida Sans" panose="020B0602030504020204" pitchFamily="34" charset="0"/>
              </a:rPr>
              <a:t> a </a:t>
            </a:r>
            <a:r>
              <a:rPr lang="en-US" sz="2000" dirty="0" err="1">
                <a:latin typeface="Lucida Sans" panose="020B0602030504020204" pitchFamily="34" charset="0"/>
              </a:rPr>
              <a:t>viabilidade</a:t>
            </a:r>
            <a:r>
              <a:rPr lang="en-US" sz="2000" dirty="0">
                <a:latin typeface="Lucida Sans" panose="020B0602030504020204" pitchFamily="34" charset="0"/>
              </a:rPr>
              <a:t> </a:t>
            </a:r>
            <a:r>
              <a:rPr lang="en-US" sz="2000" dirty="0" err="1">
                <a:latin typeface="Lucida Sans" panose="020B0602030504020204" pitchFamily="34" charset="0"/>
              </a:rPr>
              <a:t>técnica</a:t>
            </a:r>
            <a:r>
              <a:rPr lang="en-US" sz="2000" dirty="0">
                <a:latin typeface="Lucida Sans" panose="020B0602030504020204" pitchFamily="34" charset="0"/>
              </a:rPr>
              <a:t> e  </a:t>
            </a:r>
            <a:r>
              <a:rPr lang="en-US" sz="2000" dirty="0" err="1">
                <a:latin typeface="Lucida Sans" panose="020B0602030504020204" pitchFamily="34" charset="0"/>
              </a:rPr>
              <a:t>econômica</a:t>
            </a:r>
            <a:r>
              <a:rPr lang="en-US" sz="2000" dirty="0">
                <a:latin typeface="Lucida Sans" panose="020B0602030504020204" pitchFamily="34" charset="0"/>
              </a:rPr>
              <a:t> da </a:t>
            </a:r>
            <a:r>
              <a:rPr lang="en-US" sz="2000" dirty="0" err="1">
                <a:latin typeface="Lucida Sans" panose="020B0602030504020204" pitchFamily="34" charset="0"/>
              </a:rPr>
              <a:t>solução</a:t>
            </a:r>
            <a:r>
              <a:rPr lang="en-US" sz="2000" dirty="0">
                <a:latin typeface="Lucida Sans" panose="020B0602030504020204" pitchFamily="34" charset="0"/>
              </a:rPr>
              <a:t> </a:t>
            </a:r>
            <a:r>
              <a:rPr lang="en-US" sz="2000" dirty="0" err="1">
                <a:latin typeface="Lucida Sans" panose="020B0602030504020204" pitchFamily="34" charset="0"/>
              </a:rPr>
              <a:t>proposta</a:t>
            </a:r>
            <a:r>
              <a:rPr lang="en-US" sz="2000" dirty="0">
                <a:latin typeface="Lucida Sans" panose="020B0602030504020204" pitchFamily="34" charset="0"/>
              </a:rPr>
              <a:t>, </a:t>
            </a:r>
            <a:r>
              <a:rPr lang="en-US" sz="2000" dirty="0" err="1">
                <a:latin typeface="Lucida Sans" panose="020B0602030504020204" pitchFamily="34" charset="0"/>
              </a:rPr>
              <a:t>estimulando</a:t>
            </a:r>
            <a:r>
              <a:rPr lang="en-US" sz="2000" dirty="0">
                <a:latin typeface="Lucida Sans" panose="020B0602030504020204" pitchFamily="34" charset="0"/>
              </a:rPr>
              <a:t> a equipe a </a:t>
            </a:r>
            <a:r>
              <a:rPr lang="en-US" sz="2000" dirty="0" err="1">
                <a:latin typeface="Lucida Sans" panose="020B0602030504020204" pitchFamily="34" charset="0"/>
              </a:rPr>
              <a:t>exercitar</a:t>
            </a:r>
            <a:r>
              <a:rPr lang="en-US" sz="2000" dirty="0">
                <a:latin typeface="Lucida Sans" panose="020B0602030504020204" pitchFamily="34" charset="0"/>
              </a:rPr>
              <a:t> a </a:t>
            </a:r>
            <a:r>
              <a:rPr lang="en-US" sz="2000" dirty="0" err="1">
                <a:latin typeface="Lucida Sans" panose="020B0602030504020204" pitchFamily="34" charset="0"/>
              </a:rPr>
              <a:t>correção</a:t>
            </a:r>
            <a:r>
              <a:rPr lang="en-US" sz="2000" dirty="0">
                <a:latin typeface="Lucida Sans" panose="020B0602030504020204" pitchFamily="34" charset="0"/>
              </a:rPr>
              <a:t> entre </a:t>
            </a:r>
            <a:r>
              <a:rPr lang="en-US" sz="2000" dirty="0" err="1">
                <a:latin typeface="Lucida Sans" panose="020B0602030504020204" pitchFamily="34" charset="0"/>
              </a:rPr>
              <a:t>custo</a:t>
            </a:r>
            <a:r>
              <a:rPr lang="en-US" sz="2000" dirty="0">
                <a:latin typeface="Lucida Sans" panose="020B0602030504020204" pitchFamily="34" charset="0"/>
              </a:rPr>
              <a:t>  e </a:t>
            </a:r>
            <a:r>
              <a:rPr lang="en-US" sz="2000" dirty="0" err="1">
                <a:latin typeface="Lucida Sans" panose="020B0602030504020204" pitchFamily="34" charset="0"/>
              </a:rPr>
              <a:t>esforço</a:t>
            </a:r>
            <a:r>
              <a:rPr lang="en-US" sz="2000" dirty="0">
                <a:latin typeface="Lucida Sans" panose="020B0602030504020204" pitchFamily="34" charset="0"/>
              </a:rPr>
              <a:t>.</a:t>
            </a:r>
            <a:endParaRPr lang="pt-BR" sz="2000" dirty="0">
              <a:latin typeface="Lucida Sans" panose="020B0602030504020204" pitchFamily="34" charset="0"/>
            </a:endParaRPr>
          </a:p>
        </p:txBody>
      </p:sp>
      <p:sp>
        <p:nvSpPr>
          <p:cNvPr id="3" name="Google Shape;192;p9">
            <a:extLst>
              <a:ext uri="{FF2B5EF4-FFF2-40B4-BE49-F238E27FC236}">
                <a16:creationId xmlns:a16="http://schemas.microsoft.com/office/drawing/2014/main" id="{1C870D54-1C9F-9528-C280-2CED17C635DC}"/>
              </a:ext>
            </a:extLst>
          </p:cNvPr>
          <p:cNvSpPr txBox="1"/>
          <p:nvPr/>
        </p:nvSpPr>
        <p:spPr>
          <a:xfrm>
            <a:off x="2010695" y="3494061"/>
            <a:ext cx="1511300" cy="33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Viabilidade</a:t>
            </a:r>
            <a:endParaRPr sz="2100" dirty="0">
              <a:solidFill>
                <a:schemeClr val="dk1"/>
              </a:solidFill>
              <a:latin typeface="Lucida Sans" panose="020B0602030504020204" pitchFamily="34" charset="0"/>
              <a:sym typeface="Arial"/>
            </a:endParaRPr>
          </a:p>
        </p:txBody>
      </p:sp>
      <p:sp>
        <p:nvSpPr>
          <p:cNvPr id="4" name="Google Shape;193;p9">
            <a:extLst>
              <a:ext uri="{FF2B5EF4-FFF2-40B4-BE49-F238E27FC236}">
                <a16:creationId xmlns:a16="http://schemas.microsoft.com/office/drawing/2014/main" id="{5CD1ECEA-D15B-6B40-61C5-08E0044DB29C}"/>
              </a:ext>
            </a:extLst>
          </p:cNvPr>
          <p:cNvSpPr txBox="1"/>
          <p:nvPr/>
        </p:nvSpPr>
        <p:spPr>
          <a:xfrm>
            <a:off x="2010695" y="4725076"/>
            <a:ext cx="1209675" cy="33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Mercado</a:t>
            </a:r>
            <a:endParaRPr sz="2100" dirty="0">
              <a:solidFill>
                <a:schemeClr val="dk1"/>
              </a:solidFill>
              <a:latin typeface="Lucida Sans" panose="020B0602030504020204" pitchFamily="34" charset="0"/>
              <a:sym typeface="Arial"/>
            </a:endParaRPr>
          </a:p>
        </p:txBody>
      </p:sp>
      <p:sp>
        <p:nvSpPr>
          <p:cNvPr id="5" name="Google Shape;194;p9">
            <a:extLst>
              <a:ext uri="{FF2B5EF4-FFF2-40B4-BE49-F238E27FC236}">
                <a16:creationId xmlns:a16="http://schemas.microsoft.com/office/drawing/2014/main" id="{02492C30-7792-C60F-AB73-994A9EA10521}"/>
              </a:ext>
            </a:extLst>
          </p:cNvPr>
          <p:cNvSpPr txBox="1"/>
          <p:nvPr/>
        </p:nvSpPr>
        <p:spPr>
          <a:xfrm>
            <a:off x="2010695" y="6053259"/>
            <a:ext cx="1311910" cy="33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Recursos</a:t>
            </a:r>
            <a:endParaRPr sz="2100" dirty="0">
              <a:solidFill>
                <a:schemeClr val="dk1"/>
              </a:solidFill>
              <a:latin typeface="Lucida Sans" panose="020B0602030504020204" pitchFamily="34" charset="0"/>
              <a:sym typeface="Arial"/>
            </a:endParaRPr>
          </a:p>
        </p:txBody>
      </p:sp>
      <p:sp>
        <p:nvSpPr>
          <p:cNvPr id="6" name="Google Shape;195;p9">
            <a:extLst>
              <a:ext uri="{FF2B5EF4-FFF2-40B4-BE49-F238E27FC236}">
                <a16:creationId xmlns:a16="http://schemas.microsoft.com/office/drawing/2014/main" id="{43175DC5-3DE5-CDE3-BD81-FC54F06223FC}"/>
              </a:ext>
            </a:extLst>
          </p:cNvPr>
          <p:cNvSpPr txBox="1"/>
          <p:nvPr/>
        </p:nvSpPr>
        <p:spPr>
          <a:xfrm>
            <a:off x="5718875" y="3170896"/>
            <a:ext cx="4985021" cy="98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Quais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informações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demonstram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  a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viabilidade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técnica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,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financeira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  e de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negócio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 da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proposta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?</a:t>
            </a:r>
            <a:endParaRPr sz="2100" dirty="0">
              <a:solidFill>
                <a:schemeClr val="dk1"/>
              </a:solidFill>
              <a:latin typeface="Lucida Sans" panose="020B0602030504020204" pitchFamily="34" charset="0"/>
              <a:sym typeface="Arial"/>
            </a:endParaRPr>
          </a:p>
        </p:txBody>
      </p:sp>
      <p:sp>
        <p:nvSpPr>
          <p:cNvPr id="7" name="Google Shape;196;p9">
            <a:extLst>
              <a:ext uri="{FF2B5EF4-FFF2-40B4-BE49-F238E27FC236}">
                <a16:creationId xmlns:a16="http://schemas.microsoft.com/office/drawing/2014/main" id="{F8E48FDE-0885-D88E-4AB0-3B934C31A716}"/>
              </a:ext>
            </a:extLst>
          </p:cNvPr>
          <p:cNvSpPr txBox="1"/>
          <p:nvPr/>
        </p:nvSpPr>
        <p:spPr>
          <a:xfrm>
            <a:off x="5718876" y="4409491"/>
            <a:ext cx="4804474" cy="98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Qual o mercado que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será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 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atingido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?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Já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existem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 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concorrentes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?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Quem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são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eles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 e  o que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oferecem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?</a:t>
            </a:r>
            <a:endParaRPr sz="2100" dirty="0">
              <a:solidFill>
                <a:schemeClr val="dk1"/>
              </a:solidFill>
              <a:latin typeface="Lucida Sans" panose="020B0602030504020204" pitchFamily="34" charset="0"/>
              <a:sym typeface="Arial"/>
            </a:endParaRPr>
          </a:p>
        </p:txBody>
      </p:sp>
      <p:sp>
        <p:nvSpPr>
          <p:cNvPr id="8" name="Google Shape;197;p9">
            <a:extLst>
              <a:ext uri="{FF2B5EF4-FFF2-40B4-BE49-F238E27FC236}">
                <a16:creationId xmlns:a16="http://schemas.microsoft.com/office/drawing/2014/main" id="{809CFC94-BC80-018F-3DB5-B707B9F4F91E}"/>
              </a:ext>
            </a:extLst>
          </p:cNvPr>
          <p:cNvSpPr txBox="1"/>
          <p:nvPr/>
        </p:nvSpPr>
        <p:spPr>
          <a:xfrm>
            <a:off x="5718875" y="5891361"/>
            <a:ext cx="5097541" cy="659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Quais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seriam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os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recursos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 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necessários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 para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viabilizar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 o  </a:t>
            </a:r>
            <a:r>
              <a:rPr lang="en-US" sz="2100" dirty="0" err="1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projeto</a:t>
            </a:r>
            <a:r>
              <a:rPr lang="en-US" sz="2100" dirty="0">
                <a:solidFill>
                  <a:srgbClr val="252525"/>
                </a:solidFill>
                <a:latin typeface="Lucida Sans" panose="020B0602030504020204" pitchFamily="34" charset="0"/>
                <a:sym typeface="Arial"/>
              </a:rPr>
              <a:t>?</a:t>
            </a:r>
            <a:endParaRPr sz="2100" dirty="0">
              <a:solidFill>
                <a:schemeClr val="dk1"/>
              </a:solidFill>
              <a:latin typeface="Lucida Sans" panose="020B0602030504020204" pitchFamily="34" charset="0"/>
              <a:sym typeface="Arial"/>
            </a:endParaRPr>
          </a:p>
        </p:txBody>
      </p:sp>
      <p:grpSp>
        <p:nvGrpSpPr>
          <p:cNvPr id="9" name="Google Shape;198;p9">
            <a:extLst>
              <a:ext uri="{FF2B5EF4-FFF2-40B4-BE49-F238E27FC236}">
                <a16:creationId xmlns:a16="http://schemas.microsoft.com/office/drawing/2014/main" id="{AC49F33F-518A-F19A-2330-B6C4FF3AA142}"/>
              </a:ext>
            </a:extLst>
          </p:cNvPr>
          <p:cNvGrpSpPr/>
          <p:nvPr/>
        </p:nvGrpSpPr>
        <p:grpSpPr>
          <a:xfrm>
            <a:off x="4310254" y="4313210"/>
            <a:ext cx="720090" cy="1287780"/>
            <a:chOff x="3585590" y="3374516"/>
            <a:chExt cx="720090" cy="1287780"/>
          </a:xfrm>
        </p:grpSpPr>
        <p:sp>
          <p:nvSpPr>
            <p:cNvPr id="10" name="Google Shape;199;p9">
              <a:extLst>
                <a:ext uri="{FF2B5EF4-FFF2-40B4-BE49-F238E27FC236}">
                  <a16:creationId xmlns:a16="http://schemas.microsoft.com/office/drawing/2014/main" id="{219CC7F7-FCBC-29EF-7FA1-81A3C9FF0F28}"/>
                </a:ext>
              </a:extLst>
            </p:cNvPr>
            <p:cNvSpPr/>
            <p:nvPr/>
          </p:nvSpPr>
          <p:spPr>
            <a:xfrm>
              <a:off x="3585590" y="3374516"/>
              <a:ext cx="720090" cy="1287780"/>
            </a:xfrm>
            <a:custGeom>
              <a:avLst/>
              <a:gdLst/>
              <a:ahLst/>
              <a:cxnLst/>
              <a:rect l="l" t="t" r="r" b="b"/>
              <a:pathLst>
                <a:path w="720089" h="1287779" extrusionOk="0">
                  <a:moveTo>
                    <a:pt x="360045" y="0"/>
                  </a:moveTo>
                  <a:lnTo>
                    <a:pt x="0" y="0"/>
                  </a:lnTo>
                  <a:lnTo>
                    <a:pt x="360045" y="643890"/>
                  </a:lnTo>
                  <a:lnTo>
                    <a:pt x="0" y="1287780"/>
                  </a:lnTo>
                  <a:lnTo>
                    <a:pt x="360045" y="1287780"/>
                  </a:lnTo>
                  <a:lnTo>
                    <a:pt x="720090" y="643890"/>
                  </a:lnTo>
                  <a:lnTo>
                    <a:pt x="360045" y="0"/>
                  </a:lnTo>
                  <a:close/>
                </a:path>
              </a:pathLst>
            </a:custGeom>
            <a:solidFill>
              <a:srgbClr val="BADFE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dk1"/>
                </a:solidFill>
                <a:latin typeface="Lucida Sans" panose="020B0602030504020204" pitchFamily="34" charset="0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00;p9">
              <a:extLst>
                <a:ext uri="{FF2B5EF4-FFF2-40B4-BE49-F238E27FC236}">
                  <a16:creationId xmlns:a16="http://schemas.microsoft.com/office/drawing/2014/main" id="{1558E924-7642-B403-9EE0-4601E190AB4B}"/>
                </a:ext>
              </a:extLst>
            </p:cNvPr>
            <p:cNvSpPr/>
            <p:nvPr/>
          </p:nvSpPr>
          <p:spPr>
            <a:xfrm>
              <a:off x="3585590" y="3374516"/>
              <a:ext cx="720090" cy="1287780"/>
            </a:xfrm>
            <a:custGeom>
              <a:avLst/>
              <a:gdLst/>
              <a:ahLst/>
              <a:cxnLst/>
              <a:rect l="l" t="t" r="r" b="b"/>
              <a:pathLst>
                <a:path w="720089" h="1287779" extrusionOk="0">
                  <a:moveTo>
                    <a:pt x="0" y="0"/>
                  </a:moveTo>
                  <a:lnTo>
                    <a:pt x="360045" y="0"/>
                  </a:lnTo>
                  <a:lnTo>
                    <a:pt x="720090" y="643890"/>
                  </a:lnTo>
                  <a:lnTo>
                    <a:pt x="360045" y="1287780"/>
                  </a:lnTo>
                  <a:lnTo>
                    <a:pt x="0" y="1287780"/>
                  </a:lnTo>
                  <a:lnTo>
                    <a:pt x="360045" y="64389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375" cap="flat" cmpd="sng">
              <a:solidFill>
                <a:srgbClr val="4D5E5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dk1"/>
                </a:solidFill>
                <a:latin typeface="Lucida Sans" panose="020B0602030504020204" pitchFamily="34" charset="0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2350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8" name="Google Shape;5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475" y="2696013"/>
            <a:ext cx="7391400" cy="10096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3530"/>
              </a:srgbClr>
            </a:outerShdw>
          </a:effectLst>
        </p:spPr>
      </p:pic>
      <p:pic>
        <p:nvPicPr>
          <p:cNvPr id="59" name="Google Shape;59;p8" descr="Screenshot 2025-04-01 at 08.51.4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8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p8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" name="Google Shape;63;p8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PRÁTICAS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" name="Google Shape;64;p8"/>
          <p:cNvSpPr txBox="1"/>
          <p:nvPr/>
        </p:nvSpPr>
        <p:spPr>
          <a:xfrm>
            <a:off x="1549831" y="571272"/>
            <a:ext cx="9906000" cy="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Orientações gerais do Projeto Integrador</a:t>
            </a:r>
            <a:endParaRPr sz="2400" b="0" i="0" u="none" strike="noStrike" cap="none">
              <a:solidFill>
                <a:srgbClr val="26262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65" name="Google Shape;65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2473" y="1516680"/>
            <a:ext cx="1810003" cy="847843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3529"/>
              </a:srgbClr>
            </a:outerShdw>
          </a:effectLst>
        </p:spPr>
      </p:pic>
      <p:cxnSp>
        <p:nvCxnSpPr>
          <p:cNvPr id="66" name="Google Shape;66;p8"/>
          <p:cNvCxnSpPr/>
          <p:nvPr/>
        </p:nvCxnSpPr>
        <p:spPr>
          <a:xfrm rot="10800000">
            <a:off x="2710665" y="2092744"/>
            <a:ext cx="1656184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</p:cxnSp>
      <p:pic>
        <p:nvPicPr>
          <p:cNvPr id="67" name="Google Shape;67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2473" y="4119023"/>
            <a:ext cx="5045075" cy="2383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8"/>
          <p:cNvCxnSpPr/>
          <p:nvPr/>
        </p:nvCxnSpPr>
        <p:spPr>
          <a:xfrm rot="10800000">
            <a:off x="6600142" y="3248783"/>
            <a:ext cx="165630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</p:cxnSp>
      <p:pic>
        <p:nvPicPr>
          <p:cNvPr id="69" name="Google Shape;69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13485" y="4188506"/>
            <a:ext cx="1428750" cy="117157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cxnSp>
        <p:nvCxnSpPr>
          <p:cNvPr id="70" name="Google Shape;70;p8"/>
          <p:cNvCxnSpPr/>
          <p:nvPr/>
        </p:nvCxnSpPr>
        <p:spPr>
          <a:xfrm rot="10800000">
            <a:off x="9911979" y="5222989"/>
            <a:ext cx="165630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6" name="Google Shape;76;p22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2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22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22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22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PRÁTICAS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22"/>
          <p:cNvSpPr txBox="1"/>
          <p:nvPr/>
        </p:nvSpPr>
        <p:spPr>
          <a:xfrm>
            <a:off x="1559091" y="994656"/>
            <a:ext cx="9361040" cy="4149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Composição das atividades da 1ª etapa</a:t>
            </a:r>
            <a:endParaRPr sz="14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>
              <a:solidFill>
                <a:srgbClr val="26262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0" i="0" u="none" strike="noStrike" cap="none">
                <a:solidFill>
                  <a:srgbClr val="262626"/>
                </a:solidFill>
                <a:highlight>
                  <a:srgbClr val="FFCC99"/>
                </a:highlight>
                <a:latin typeface="Lucida Sans"/>
                <a:ea typeface="Lucida Sans"/>
                <a:cs typeface="Lucida Sans"/>
                <a:sym typeface="Lucida Sans"/>
              </a:rPr>
              <a:t>10 questões:</a:t>
            </a:r>
            <a:r>
              <a:rPr lang="pt-BR" sz="2200" b="0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 40% da nota da 1ª entrega (individual)</a:t>
            </a:r>
            <a:endParaRPr sz="14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26262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0" i="0" u="none" strike="noStrike" cap="none">
                <a:solidFill>
                  <a:srgbClr val="262626"/>
                </a:solidFill>
                <a:highlight>
                  <a:srgbClr val="FFCC99"/>
                </a:highlight>
                <a:latin typeface="Lucida Sans"/>
                <a:ea typeface="Lucida Sans"/>
                <a:cs typeface="Lucida Sans"/>
                <a:sym typeface="Lucida Sans"/>
              </a:rPr>
              <a:t>Projeto (Definição do Tema, Proposta de Valor e Análise de Viabilidade):</a:t>
            </a:r>
            <a:r>
              <a:rPr lang="pt-BR" sz="2200" b="0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 60% da nota da 1ª entrega (em grupo)</a:t>
            </a:r>
            <a:endParaRPr sz="1800" b="0" i="0" u="none" strike="noStrike" cap="none">
              <a:solidFill>
                <a:srgbClr val="26262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342900" marR="0" lvl="0" indent="-2667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None/>
            </a:pPr>
            <a:endParaRPr sz="2400" b="0" i="0" u="none" strike="noStrike" cap="none">
              <a:solidFill>
                <a:srgbClr val="26262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2" name="Google Shape;82;p22"/>
          <p:cNvSpPr/>
          <p:nvPr/>
        </p:nvSpPr>
        <p:spPr>
          <a:xfrm>
            <a:off x="1559091" y="1858752"/>
            <a:ext cx="9361040" cy="3456384"/>
          </a:xfrm>
          <a:prstGeom prst="rect">
            <a:avLst/>
          </a:prstGeom>
          <a:noFill/>
          <a:ln w="25400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3" name="Google Shape;83;p22"/>
          <p:cNvSpPr txBox="1"/>
          <p:nvPr/>
        </p:nvSpPr>
        <p:spPr>
          <a:xfrm>
            <a:off x="1559091" y="5546941"/>
            <a:ext cx="936104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A pontuação obtida na </a:t>
            </a:r>
            <a:r>
              <a:rPr lang="pt-BR" sz="2000" b="0" i="0" u="none" strike="noStrike" cap="none">
                <a:solidFill>
                  <a:srgbClr val="262626"/>
                </a:solidFill>
                <a:highlight>
                  <a:srgbClr val="FFCC99"/>
                </a:highlight>
                <a:latin typeface="Lucida Sans"/>
                <a:ea typeface="Lucida Sans"/>
                <a:cs typeface="Lucida Sans"/>
                <a:sym typeface="Lucida Sans"/>
              </a:rPr>
              <a:t>1ª etapa</a:t>
            </a:r>
            <a:r>
              <a:rPr lang="pt-BR" sz="2000" b="0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 equivale a </a:t>
            </a:r>
            <a:r>
              <a:rPr lang="pt-BR" sz="2000" b="0" i="0" u="none" strike="noStrike" cap="none">
                <a:solidFill>
                  <a:srgbClr val="262626"/>
                </a:solidFill>
                <a:highlight>
                  <a:srgbClr val="FFCC99"/>
                </a:highlight>
                <a:latin typeface="Lucida Sans"/>
                <a:ea typeface="Lucida Sans"/>
                <a:cs typeface="Lucida Sans"/>
                <a:sym typeface="Lucida Sans"/>
              </a:rPr>
              <a:t>40% da Média Final</a:t>
            </a:r>
            <a:r>
              <a:rPr lang="pt-BR" sz="2000" b="0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 do Projeto Integrador.</a:t>
            </a:r>
            <a:endParaRPr sz="2000" b="0" i="0" u="none" strike="noStrike" cap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9" name="Google Shape;89;p9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9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9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9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PRÁTICAS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4" name="Google Shape;9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09594" y="5234588"/>
            <a:ext cx="5839640" cy="533474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3529"/>
              </a:srgbClr>
            </a:outerShdw>
          </a:effectLst>
        </p:spPr>
      </p:pic>
      <p:sp>
        <p:nvSpPr>
          <p:cNvPr id="95" name="Google Shape;95;p9"/>
          <p:cNvSpPr txBox="1"/>
          <p:nvPr/>
        </p:nvSpPr>
        <p:spPr>
          <a:xfrm>
            <a:off x="1649082" y="943526"/>
            <a:ext cx="9906000" cy="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Elaboração e entrega do projeto</a:t>
            </a:r>
            <a:endParaRPr sz="2400" b="0" i="0" u="none" strike="noStrike" cap="none">
              <a:solidFill>
                <a:srgbClr val="26262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96" name="Google Shape;96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9594" y="2858324"/>
            <a:ext cx="1810003" cy="847843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3529"/>
              </a:srgbClr>
            </a:outerShdw>
          </a:effectLst>
        </p:spPr>
      </p:pic>
      <p:cxnSp>
        <p:nvCxnSpPr>
          <p:cNvPr id="97" name="Google Shape;97;p9"/>
          <p:cNvCxnSpPr/>
          <p:nvPr/>
        </p:nvCxnSpPr>
        <p:spPr>
          <a:xfrm rot="10800000">
            <a:off x="3937786" y="3434388"/>
            <a:ext cx="1656184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</p:cxnSp>
      <p:cxnSp>
        <p:nvCxnSpPr>
          <p:cNvPr id="98" name="Google Shape;98;p9"/>
          <p:cNvCxnSpPr/>
          <p:nvPr/>
        </p:nvCxnSpPr>
        <p:spPr>
          <a:xfrm rot="10800000">
            <a:off x="7754210" y="5486296"/>
            <a:ext cx="1656184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</p:cxnSp>
      <p:pic>
        <p:nvPicPr>
          <p:cNvPr id="99" name="Google Shape;99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9600" y="4026213"/>
            <a:ext cx="7391400" cy="10096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3530"/>
              </a:srgbClr>
            </a:outerShdw>
          </a:effectLst>
        </p:spPr>
      </p:pic>
      <p:cxnSp>
        <p:nvCxnSpPr>
          <p:cNvPr id="100" name="Google Shape;100;p9"/>
          <p:cNvCxnSpPr/>
          <p:nvPr/>
        </p:nvCxnSpPr>
        <p:spPr>
          <a:xfrm rot="10800000">
            <a:off x="7570279" y="4580325"/>
            <a:ext cx="165630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6" name="Google Shape;106;p10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0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10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p10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PRÁTICAS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1" name="Google Shape;111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9671" y="1683863"/>
            <a:ext cx="5839640" cy="533474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3529"/>
              </a:srgbClr>
            </a:outerShdw>
          </a:effectLst>
        </p:spPr>
      </p:pic>
      <p:sp>
        <p:nvSpPr>
          <p:cNvPr id="112" name="Google Shape;112;p10"/>
          <p:cNvSpPr txBox="1"/>
          <p:nvPr/>
        </p:nvSpPr>
        <p:spPr>
          <a:xfrm>
            <a:off x="1413175" y="545528"/>
            <a:ext cx="9906000" cy="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Elaboração e entrega do projeto</a:t>
            </a:r>
            <a:endParaRPr sz="2400" b="0" i="0" u="none" strike="noStrike" cap="none">
              <a:solidFill>
                <a:srgbClr val="26262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113" name="Google Shape;113;p10"/>
          <p:cNvCxnSpPr/>
          <p:nvPr/>
        </p:nvCxnSpPr>
        <p:spPr>
          <a:xfrm rot="10800000">
            <a:off x="7374287" y="1935571"/>
            <a:ext cx="1656184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</p:cxnSp>
      <p:sp>
        <p:nvSpPr>
          <p:cNvPr id="114" name="Google Shape;114;p10"/>
          <p:cNvSpPr txBox="1"/>
          <p:nvPr/>
        </p:nvSpPr>
        <p:spPr>
          <a:xfrm>
            <a:off x="1829671" y="2508903"/>
            <a:ext cx="9090460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1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Importante!</a:t>
            </a:r>
            <a:endParaRPr sz="14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6262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▪"/>
            </a:pPr>
            <a:r>
              <a:rPr lang="pt-BR" sz="1800" b="0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O link de entrega será disponibilizado alguns dias antes da data da entrega. Um integrante realiza a entrega pelo </a:t>
            </a:r>
            <a:r>
              <a:rPr lang="pt-BR" sz="1800" b="1" i="0" u="none" strike="noStrike" cap="none">
                <a:solidFill>
                  <a:srgbClr val="262626"/>
                </a:solidFill>
                <a:highlight>
                  <a:srgbClr val="FFCC99"/>
                </a:highlight>
                <a:latin typeface="Lucida Sans"/>
                <a:ea typeface="Lucida Sans"/>
                <a:cs typeface="Lucida Sans"/>
                <a:sym typeface="Lucida Sans"/>
              </a:rPr>
              <a:t>grupo.</a:t>
            </a:r>
            <a:endParaRPr sz="1800" b="0" i="0" u="none" strike="noStrike" cap="none">
              <a:solidFill>
                <a:srgbClr val="26262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6262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▪"/>
            </a:pPr>
            <a:r>
              <a:rPr lang="pt-BR" sz="1800" b="0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Quantidade máxima de slides (1ª entrega):</a:t>
            </a:r>
            <a:endParaRPr sz="14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6262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Courier New"/>
              <a:buChar char="o"/>
            </a:pPr>
            <a:r>
              <a:rPr lang="pt-BR" sz="1800" b="0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Projeto e integrantes – 1 slide</a:t>
            </a:r>
            <a:endParaRPr sz="14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Courier New"/>
              <a:buChar char="o"/>
            </a:pPr>
            <a:r>
              <a:rPr lang="pt-BR" sz="1800" b="0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Definição do Tema – 1 a 2 slides</a:t>
            </a:r>
            <a:endParaRPr sz="14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Courier New"/>
              <a:buChar char="o"/>
            </a:pPr>
            <a:r>
              <a:rPr lang="pt-BR" sz="1800" b="0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Proposta de Valor – 1 a 2 slides</a:t>
            </a:r>
            <a:endParaRPr sz="14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Courier New"/>
              <a:buChar char="o"/>
            </a:pPr>
            <a:r>
              <a:rPr lang="pt-BR" sz="1800" b="0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Análise de Viabilidade – 1 a 2 slides</a:t>
            </a:r>
            <a:endParaRPr sz="14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6262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▪"/>
            </a:pPr>
            <a:r>
              <a:rPr lang="pt-BR" sz="1800" b="0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Para entregar, </a:t>
            </a:r>
            <a:r>
              <a:rPr lang="pt-BR" sz="1800" b="1" i="0" u="none" strike="noStrike" cap="none">
                <a:solidFill>
                  <a:srgbClr val="262626"/>
                </a:solidFill>
                <a:highlight>
                  <a:srgbClr val="FFFF00"/>
                </a:highlight>
                <a:latin typeface="Lucida Sans"/>
                <a:ea typeface="Lucida Sans"/>
                <a:cs typeface="Lucida Sans"/>
                <a:sym typeface="Lucida Sans"/>
              </a:rPr>
              <a:t>não esqueça de salvar a apresentação em formato PDF.</a:t>
            </a:r>
            <a:endParaRPr sz="1800" b="0" i="0" u="none" strike="noStrike" cap="none">
              <a:solidFill>
                <a:srgbClr val="262626"/>
              </a:solidFill>
              <a:highlight>
                <a:srgbClr val="FFFF00"/>
              </a:highlight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"/>
          <p:cNvSpPr/>
          <p:nvPr/>
        </p:nvSpPr>
        <p:spPr>
          <a:xfrm>
            <a:off x="-57166" y="-38100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0" name="Google Shape;120;p11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1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11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" name="Google Shape;124;p11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PRÁTICAS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p11"/>
          <p:cNvSpPr txBox="1"/>
          <p:nvPr/>
        </p:nvSpPr>
        <p:spPr>
          <a:xfrm>
            <a:off x="1286359" y="759403"/>
            <a:ext cx="9906000" cy="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Como acessar as questões?</a:t>
            </a:r>
            <a:endParaRPr sz="2400" b="0" i="0" u="none" strike="noStrike" cap="none">
              <a:solidFill>
                <a:srgbClr val="26262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6" name="Google Shape;126;p11"/>
          <p:cNvSpPr txBox="1"/>
          <p:nvPr/>
        </p:nvSpPr>
        <p:spPr>
          <a:xfrm>
            <a:off x="1694129" y="4783138"/>
            <a:ext cx="909046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2400" b="1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Importante!</a:t>
            </a:r>
            <a:endParaRPr sz="2400" b="0" i="0" u="none" strike="noStrike" cap="non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1" i="0" u="none" strike="noStrike" cap="none">
              <a:solidFill>
                <a:srgbClr val="26262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As questões deverão ser feitas </a:t>
            </a:r>
            <a:r>
              <a:rPr lang="pt-BR" sz="2400" b="1" i="0" u="none" strike="noStrike" cap="none">
                <a:solidFill>
                  <a:srgbClr val="262626"/>
                </a:solidFill>
                <a:highlight>
                  <a:srgbClr val="FFCC99"/>
                </a:highlight>
                <a:latin typeface="Lucida Sans"/>
                <a:ea typeface="Lucida Sans"/>
                <a:cs typeface="Lucida Sans"/>
                <a:sym typeface="Lucida Sans"/>
              </a:rPr>
              <a:t>individualmente</a:t>
            </a:r>
            <a:r>
              <a:rPr lang="pt-BR" sz="2400" b="0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.</a:t>
            </a:r>
            <a:endParaRPr sz="2400" b="1" i="0" u="none" strike="noStrike" cap="none">
              <a:solidFill>
                <a:srgbClr val="26262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800" b="0" i="0" u="none" strike="noStrike" cap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27" name="Google Shape;12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62037" y="1813292"/>
            <a:ext cx="1428750" cy="117157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cxnSp>
        <p:nvCxnSpPr>
          <p:cNvPr id="128" name="Google Shape;128;p11"/>
          <p:cNvCxnSpPr/>
          <p:nvPr/>
        </p:nvCxnSpPr>
        <p:spPr>
          <a:xfrm rot="10800000">
            <a:off x="3260647" y="2847775"/>
            <a:ext cx="1656184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</p:cxnSp>
      <p:pic>
        <p:nvPicPr>
          <p:cNvPr id="129" name="Google Shape;129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62037" y="3652510"/>
            <a:ext cx="6219825" cy="60007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cxnSp>
        <p:nvCxnSpPr>
          <p:cNvPr id="130" name="Google Shape;130;p11"/>
          <p:cNvCxnSpPr/>
          <p:nvPr/>
        </p:nvCxnSpPr>
        <p:spPr>
          <a:xfrm rot="10800000">
            <a:off x="7460516" y="3972032"/>
            <a:ext cx="3168352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3000" dir="5400000" rotWithShape="0">
              <a:srgbClr val="000000">
                <a:alpha val="33725"/>
              </a:srgbClr>
            </a:outerShdw>
          </a:effectLst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/>
          <p:nvPr/>
        </p:nvSpPr>
        <p:spPr>
          <a:xfrm>
            <a:off x="0" y="-328164"/>
            <a:ext cx="12476510" cy="7186164"/>
          </a:xfrm>
          <a:prstGeom prst="rect">
            <a:avLst/>
          </a:prstGeom>
          <a:solidFill>
            <a:srgbClr val="F5F5F5"/>
          </a:solidFill>
          <a:ln w="25400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6" name="Google Shape;136;p14" descr="Screenshot 2025-04-01 at 08.51.4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0131" y="5570742"/>
            <a:ext cx="1395498" cy="14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/>
          <p:nvPr/>
        </p:nvSpPr>
        <p:spPr>
          <a:xfrm>
            <a:off x="-889000" y="-38100"/>
            <a:ext cx="13708021" cy="510361"/>
          </a:xfrm>
          <a:prstGeom prst="rect">
            <a:avLst/>
          </a:prstGeom>
          <a:solidFill>
            <a:srgbClr val="1B4582"/>
          </a:solidFill>
          <a:ln w="25400" cap="flat" cmpd="sng">
            <a:solidFill>
              <a:srgbClr val="1B4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344319" y="124250"/>
            <a:ext cx="515185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SENAC EAD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-482600" y="475158"/>
            <a:ext cx="13590475" cy="70370"/>
          </a:xfrm>
          <a:prstGeom prst="rect">
            <a:avLst/>
          </a:prstGeom>
          <a:solidFill>
            <a:srgbClr val="E0923C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3026872" y="46479"/>
            <a:ext cx="9288757" cy="27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pt-BR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PROJETO INTEGRADOR – DIAGNÓSTICO DE SOLUÇÕES DE TECNOLOGIA DA INFORMAÇÃO - PRÁTICAS EXTENSIONISTAS</a:t>
            </a:r>
            <a:endParaRPr sz="1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3395000" y="2318026"/>
            <a:ext cx="6069994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4000" b="1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Dúvidas?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4000" b="1" i="0" u="none" strike="noStrike" cap="none">
              <a:solidFill>
                <a:srgbClr val="262626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4000" b="1" i="0" u="none" strike="noStrike" cap="none">
                <a:solidFill>
                  <a:srgbClr val="262626"/>
                </a:solidFill>
                <a:latin typeface="Lucida Sans"/>
                <a:ea typeface="Lucida Sans"/>
                <a:cs typeface="Lucida Sans"/>
                <a:sym typeface="Lucida Sans"/>
              </a:rPr>
              <a:t>Obrigada!</a:t>
            </a:r>
            <a:endParaRPr sz="1800" b="0" i="0" u="none" strike="noStrike" cap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42" name="Google Shape;142;p14" descr="Girassol estrutura de tópico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90299" y="4634133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2A4BA-1A09-3D3D-C04E-9FC748B21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C3F03CF-74EF-6F36-D852-081E2F1DA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618" y="2714739"/>
            <a:ext cx="11380764" cy="1170576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014A8E"/>
                </a:solidFill>
                <a:latin typeface="Helvetica" panose="020B0604020202020204" pitchFamily="34" charset="0"/>
              </a:rPr>
              <a:t>Projeto Integrador I</a:t>
            </a:r>
            <a:endParaRPr lang="pt-BR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671B2C26-6218-E583-75B9-DB5B57ACB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3606" y="4286164"/>
            <a:ext cx="9584788" cy="730810"/>
          </a:xfrm>
        </p:spPr>
        <p:txBody>
          <a:bodyPr>
            <a:noAutofit/>
          </a:bodyPr>
          <a:lstStyle/>
          <a:p>
            <a:r>
              <a:rPr lang="pt-BR" dirty="0"/>
              <a:t>Professor: Marlon Cavalcante Maynart</a:t>
            </a:r>
          </a:p>
          <a:p>
            <a:r>
              <a:rPr lang="pt-BR" sz="2800" dirty="0">
                <a:hlinkClick r:id="rId3"/>
              </a:rPr>
              <a:t>marlon.cmaynart@sp.senac.br</a:t>
            </a:r>
            <a:r>
              <a:rPr lang="pt-BR" sz="2800" dirty="0"/>
              <a:t> </a:t>
            </a:r>
          </a:p>
        </p:txBody>
      </p:sp>
      <p:pic>
        <p:nvPicPr>
          <p:cNvPr id="3" name="Imagem 2" descr="Homem sorrindo pousando para foto&#10;&#10;Descrição gerada automaticamente">
            <a:extLst>
              <a:ext uri="{FF2B5EF4-FFF2-40B4-BE49-F238E27FC236}">
                <a16:creationId xmlns:a16="http://schemas.microsoft.com/office/drawing/2014/main" id="{B5B192EA-1E4B-819A-298B-E1431F4FCA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651" y="4175534"/>
            <a:ext cx="798904" cy="1198256"/>
          </a:xfrm>
          <a:prstGeom prst="rect">
            <a:avLst/>
          </a:prstGeom>
        </p:spPr>
      </p:pic>
      <p:pic>
        <p:nvPicPr>
          <p:cNvPr id="6" name="Picture 35">
            <a:extLst>
              <a:ext uri="{FF2B5EF4-FFF2-40B4-BE49-F238E27FC236}">
                <a16:creationId xmlns:a16="http://schemas.microsoft.com/office/drawing/2014/main" id="{16CD4965-034E-AE53-EB58-18DDBAAAB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2400" y="283621"/>
            <a:ext cx="1733694" cy="17412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16" descr="http://bestreviewnews.com/wp-content/uploads/2013/09/Investigation.jpg">
            <a:extLst>
              <a:ext uri="{FF2B5EF4-FFF2-40B4-BE49-F238E27FC236}">
                <a16:creationId xmlns:a16="http://schemas.microsoft.com/office/drawing/2014/main" id="{A6710E5E-3030-D8DE-FF49-FEFAE8B53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2"/>
          <a:stretch>
            <a:fillRect/>
          </a:stretch>
        </p:blipFill>
        <p:spPr bwMode="auto">
          <a:xfrm>
            <a:off x="10345757" y="254441"/>
            <a:ext cx="1623505" cy="157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http://t1.gstatic.com/images?q=tbn:ANd9GcTSB-D1ROElEePh_5heKm-a3pbiXYAHKtR5T9hzmU9VcUNYCAA&amp;t=1&amp;h=192&amp;w=193&amp;usg=__yWKZMPBzv691jpcFL954W2nKsak=">
            <a:extLst>
              <a:ext uri="{FF2B5EF4-FFF2-40B4-BE49-F238E27FC236}">
                <a16:creationId xmlns:a16="http://schemas.microsoft.com/office/drawing/2014/main" id="{1D8EB0C6-21F2-3E97-2204-C9CA4B79C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49" r="8116" b="16940"/>
          <a:stretch>
            <a:fillRect/>
          </a:stretch>
        </p:blipFill>
        <p:spPr bwMode="auto">
          <a:xfrm>
            <a:off x="8692144" y="1324475"/>
            <a:ext cx="1476375" cy="151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693D3C0-894E-5276-E134-85D3DA7C2324}"/>
              </a:ext>
            </a:extLst>
          </p:cNvPr>
          <p:cNvSpPr txBox="1"/>
          <p:nvPr/>
        </p:nvSpPr>
        <p:spPr>
          <a:xfrm>
            <a:off x="3839386" y="6211669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Web04 – 09.03.2026</a:t>
            </a:r>
          </a:p>
        </p:txBody>
      </p:sp>
    </p:spTree>
    <p:extLst>
      <p:ext uri="{BB962C8B-B14F-4D97-AF65-F5344CB8AC3E}">
        <p14:creationId xmlns:p14="http://schemas.microsoft.com/office/powerpoint/2010/main" val="11664977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5" descr="Screenshot 2025-03-26 at 12.56.5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350" y="-2331"/>
            <a:ext cx="12230101" cy="686266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/>
        </p:nvSpPr>
        <p:spPr>
          <a:xfrm>
            <a:off x="838622" y="469029"/>
            <a:ext cx="2728741" cy="53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889"/>
              </a:buClr>
              <a:buSzPts val="3100"/>
              <a:buFont typeface="Arial"/>
              <a:buNone/>
            </a:pPr>
            <a:r>
              <a:rPr lang="pt-BR" sz="3100" b="1" i="0" u="none" strike="noStrike" cap="none">
                <a:solidFill>
                  <a:srgbClr val="1C4889"/>
                </a:solidFill>
                <a:latin typeface="Arial"/>
                <a:ea typeface="Arial"/>
                <a:cs typeface="Arial"/>
                <a:sym typeface="Arial"/>
              </a:rPr>
              <a:t>CALENDÁRIO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15" descr="capa_EAD contracapa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872</Words>
  <Application>Microsoft Office PowerPoint</Application>
  <PresentationFormat>Widescreen</PresentationFormat>
  <Paragraphs>136</Paragraphs>
  <Slides>27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7" baseType="lpstr">
      <vt:lpstr>Helvetica Neue</vt:lpstr>
      <vt:lpstr>Arial</vt:lpstr>
      <vt:lpstr>Inter</vt:lpstr>
      <vt:lpstr>Inter Bold</vt:lpstr>
      <vt:lpstr>Helvetica</vt:lpstr>
      <vt:lpstr>Noto Sans Symbols</vt:lpstr>
      <vt:lpstr>Calibri</vt:lpstr>
      <vt:lpstr>Lucida Sans</vt:lpstr>
      <vt:lpstr>Courier New</vt:lpstr>
      <vt:lpstr>Office Theme</vt:lpstr>
      <vt:lpstr>WEBCONFERÊNCIA Projeto Integrador | 1ª entrega</vt:lpstr>
      <vt:lpstr>Projeto Integrador 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Projeto Integrador I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Debora Richter Brolio</dc:creator>
  <cp:lastModifiedBy>Marlon Cavalcante Maynart</cp:lastModifiedBy>
  <cp:revision>2</cp:revision>
  <dcterms:modified xsi:type="dcterms:W3CDTF">2026-03-09T15:33:37Z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0x010100D2CEC6658E5EC8499BD3E852DE1E0604</vt:lpwstr>
  </property>
</Properties>
</file>