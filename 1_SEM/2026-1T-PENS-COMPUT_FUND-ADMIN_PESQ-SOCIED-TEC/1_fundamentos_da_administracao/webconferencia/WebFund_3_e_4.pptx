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sldIdLst>
    <p:sldId id="298" r:id="rId5"/>
    <p:sldId id="325" r:id="rId6"/>
    <p:sldId id="326" r:id="rId7"/>
    <p:sldId id="332" r:id="rId8"/>
    <p:sldId id="333" r:id="rId9"/>
    <p:sldId id="329" r:id="rId10"/>
    <p:sldId id="334" r:id="rId11"/>
    <p:sldId id="330" r:id="rId12"/>
    <p:sldId id="335" r:id="rId13"/>
    <p:sldId id="315" r:id="rId14"/>
    <p:sldId id="336" r:id="rId15"/>
    <p:sldId id="337" r:id="rId16"/>
    <p:sldId id="338" r:id="rId17"/>
    <p:sldId id="339" r:id="rId18"/>
    <p:sldId id="340" r:id="rId19"/>
    <p:sldId id="341" r:id="rId20"/>
    <p:sldId id="342" r:id="rId21"/>
    <p:sldId id="343" r:id="rId22"/>
    <p:sldId id="344" r:id="rId23"/>
    <p:sldId id="331" r:id="rId24"/>
    <p:sldId id="345" r:id="rId25"/>
    <p:sldId id="346" r:id="rId26"/>
  </p:sldIdLst>
  <p:sldSz cx="9144000" cy="6858000" type="screen4x3"/>
  <p:notesSz cx="6858000" cy="9144000"/>
  <p:custDataLst>
    <p:tags r:id="rId28"/>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AAB8D5-95F1-E764-D543-D104C7B7764E}" v="7" dt="2025-11-10T22:56:00.804"/>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Estilo Claro 1 - Ênfase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83" autoAdjust="0"/>
  </p:normalViewPr>
  <p:slideViewPr>
    <p:cSldViewPr>
      <p:cViewPr varScale="1">
        <p:scale>
          <a:sx n="65" d="100"/>
          <a:sy n="65" d="100"/>
        </p:scale>
        <p:origin x="66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lmara Cristiane Gomes" userId="S::silmara.cgomes@sp.senac.br::c18ed8b1-30ab-4227-bb94-24578034ab2f" providerId="AD" clId="Web-{15AAB8D5-95F1-E764-D543-D104C7B7764E}"/>
    <pc:docChg chg="modSld">
      <pc:chgData name="Silmara Cristiane Gomes" userId="S::silmara.cgomes@sp.senac.br::c18ed8b1-30ab-4227-bb94-24578034ab2f" providerId="AD" clId="Web-{15AAB8D5-95F1-E764-D543-D104C7B7764E}" dt="2025-11-10T22:55:59.367" v="1" actId="20577"/>
      <pc:docMkLst>
        <pc:docMk/>
      </pc:docMkLst>
      <pc:sldChg chg="modSp">
        <pc:chgData name="Silmara Cristiane Gomes" userId="S::silmara.cgomes@sp.senac.br::c18ed8b1-30ab-4227-bb94-24578034ab2f" providerId="AD" clId="Web-{15AAB8D5-95F1-E764-D543-D104C7B7764E}" dt="2025-11-10T22:55:59.367" v="1" actId="20577"/>
        <pc:sldMkLst>
          <pc:docMk/>
          <pc:sldMk cId="1563586949" sldId="336"/>
        </pc:sldMkLst>
        <pc:spChg chg="mod">
          <ac:chgData name="Silmara Cristiane Gomes" userId="S::silmara.cgomes@sp.senac.br::c18ed8b1-30ab-4227-bb94-24578034ab2f" providerId="AD" clId="Web-{15AAB8D5-95F1-E764-D543-D104C7B7764E}" dt="2025-11-10T22:55:59.367" v="1" actId="20577"/>
          <ac:spMkLst>
            <pc:docMk/>
            <pc:sldMk cId="1563586949" sldId="33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72A037-7541-41AD-B154-52522D86A5EF}" type="datetimeFigureOut">
              <a:rPr lang="pt-BR" smtClean="0"/>
              <a:t>10/11/2025</a:t>
            </a:fld>
            <a:endParaRPr lang="pt-BR" dirty="0"/>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dirty="0"/>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BFDCB2-7140-45F5-B0BB-25F223B15788}" type="slidenum">
              <a:rPr lang="pt-BR" smtClean="0"/>
              <a:t>‹nº›</a:t>
            </a:fld>
            <a:endParaRPr lang="pt-BR" dirty="0"/>
          </a:p>
        </p:txBody>
      </p:sp>
    </p:spTree>
    <p:extLst>
      <p:ext uri="{BB962C8B-B14F-4D97-AF65-F5344CB8AC3E}">
        <p14:creationId xmlns:p14="http://schemas.microsoft.com/office/powerpoint/2010/main" val="85773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tags" Target="../tags/tag9.xml"/><Relationship Id="rId7"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9"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tags" Target="../tags/tag15.xml"/><Relationship Id="rId7"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9"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5.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11" name="Rectangle 22"/>
          <p:cNvSpPr/>
          <p:nvPr userDrawn="1">
            <p:custDataLst>
              <p:tags r:id="rId1"/>
            </p:custDataLst>
          </p:nvPr>
        </p:nvSpPr>
        <p:spPr bwMode="auto">
          <a:xfrm>
            <a:off x="0" y="2949588"/>
            <a:ext cx="9144000" cy="2356326"/>
          </a:xfrm>
          <a:prstGeom prst="rect">
            <a:avLst/>
          </a:prstGeom>
          <a:solidFill>
            <a:schemeClr val="accent1">
              <a:lumMod val="20000"/>
              <a:lumOff val="80000"/>
              <a:alpha val="86000"/>
            </a:schemeClr>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rgbClr val="FF6600"/>
              </a:solidFill>
              <a:effectLst/>
              <a:latin typeface="Arial" charset="0"/>
            </a:endParaRPr>
          </a:p>
        </p:txBody>
      </p:sp>
      <p:sp>
        <p:nvSpPr>
          <p:cNvPr id="15" name="Rectangle 3"/>
          <p:cNvSpPr/>
          <p:nvPr userDrawn="1">
            <p:custDataLst>
              <p:tags r:id="rId2"/>
            </p:custDataLst>
          </p:nvPr>
        </p:nvSpPr>
        <p:spPr bwMode="auto">
          <a:xfrm>
            <a:off x="0" y="5305914"/>
            <a:ext cx="9144000" cy="1265312"/>
          </a:xfrm>
          <a:prstGeom prst="rect">
            <a:avLst/>
          </a:prstGeom>
          <a:solidFill>
            <a:schemeClr val="accent6">
              <a:lumMod val="75000"/>
            </a:schemeClr>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rgbClr val="FF6600"/>
              </a:solidFill>
              <a:effectLst/>
              <a:latin typeface="Arial" charset="0"/>
            </a:endParaRPr>
          </a:p>
        </p:txBody>
      </p:sp>
      <p:sp>
        <p:nvSpPr>
          <p:cNvPr id="18" name="Rectangle 8"/>
          <p:cNvSpPr/>
          <p:nvPr userDrawn="1">
            <p:custDataLst>
              <p:tags r:id="rId3"/>
            </p:custDataLst>
          </p:nvPr>
        </p:nvSpPr>
        <p:spPr bwMode="auto">
          <a:xfrm>
            <a:off x="0" y="5305914"/>
            <a:ext cx="9144000" cy="1552085"/>
          </a:xfrm>
          <a:prstGeom prst="rect">
            <a:avLst/>
          </a:prstGeom>
          <a:solidFill>
            <a:schemeClr val="accent6">
              <a:lumMod val="75000"/>
              <a:alpha val="27000"/>
            </a:schemeClr>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accent6">
                  <a:lumMod val="50000"/>
                </a:schemeClr>
              </a:solidFill>
              <a:effectLst/>
              <a:latin typeface="Arial" charset="0"/>
            </a:endParaRPr>
          </a:p>
        </p:txBody>
      </p:sp>
      <p:cxnSp>
        <p:nvCxnSpPr>
          <p:cNvPr id="20" name="Straight Connector 4"/>
          <p:cNvCxnSpPr/>
          <p:nvPr userDrawn="1"/>
        </p:nvCxnSpPr>
        <p:spPr bwMode="auto">
          <a:xfrm flipH="1">
            <a:off x="0" y="5305914"/>
            <a:ext cx="9144000" cy="0"/>
          </a:xfrm>
          <a:prstGeom prst="line">
            <a:avLst/>
          </a:prstGeom>
          <a:solidFill>
            <a:srgbClr val="FFFFFF"/>
          </a:solidFill>
          <a:ln w="3175" cap="rnd" cmpd="sng" algn="ctr">
            <a:solidFill>
              <a:schemeClr val="tx2">
                <a:lumMod val="75000"/>
              </a:schemeClr>
            </a:solidFill>
            <a:prstDash val="solid"/>
            <a:round/>
            <a:headEnd type="none" w="med" len="med"/>
            <a:tailEnd type="none"/>
          </a:ln>
          <a:effectLst/>
        </p:spPr>
      </p:cxnSp>
      <p:cxnSp>
        <p:nvCxnSpPr>
          <p:cNvPr id="22" name="Straight Connector 7"/>
          <p:cNvCxnSpPr/>
          <p:nvPr userDrawn="1"/>
        </p:nvCxnSpPr>
        <p:spPr bwMode="auto">
          <a:xfrm flipH="1">
            <a:off x="0" y="6584108"/>
            <a:ext cx="9144000" cy="0"/>
          </a:xfrm>
          <a:prstGeom prst="line">
            <a:avLst/>
          </a:prstGeom>
          <a:solidFill>
            <a:srgbClr val="FFFFFF"/>
          </a:solidFill>
          <a:ln w="12700" cap="rnd" cmpd="sng" algn="ctr">
            <a:solidFill>
              <a:schemeClr val="accent6">
                <a:lumMod val="50000"/>
              </a:schemeClr>
            </a:solidFill>
            <a:prstDash val="solid"/>
            <a:round/>
            <a:headEnd type="none" w="med" len="med"/>
            <a:tailEnd type="none"/>
          </a:ln>
          <a:effectLst/>
        </p:spPr>
      </p:cxnSp>
      <p:cxnSp>
        <p:nvCxnSpPr>
          <p:cNvPr id="23" name="Straight Connector 20"/>
          <p:cNvCxnSpPr/>
          <p:nvPr userDrawn="1"/>
        </p:nvCxnSpPr>
        <p:spPr bwMode="auto">
          <a:xfrm flipH="1">
            <a:off x="0" y="2322525"/>
            <a:ext cx="9144000" cy="0"/>
          </a:xfrm>
          <a:prstGeom prst="line">
            <a:avLst/>
          </a:prstGeom>
          <a:solidFill>
            <a:srgbClr val="FFFFFF"/>
          </a:solidFill>
          <a:ln w="3175" cap="rnd" cmpd="sng" algn="ctr">
            <a:solidFill>
              <a:schemeClr val="accent1">
                <a:lumMod val="40000"/>
                <a:lumOff val="60000"/>
              </a:schemeClr>
            </a:solidFill>
            <a:prstDash val="solid"/>
            <a:round/>
            <a:headEnd type="none" w="med" len="med"/>
            <a:tailEnd type="none"/>
          </a:ln>
          <a:effectLst/>
        </p:spPr>
      </p:cxnSp>
      <p:cxnSp>
        <p:nvCxnSpPr>
          <p:cNvPr id="24" name="Straight Connector 23"/>
          <p:cNvCxnSpPr/>
          <p:nvPr userDrawn="1"/>
        </p:nvCxnSpPr>
        <p:spPr bwMode="auto">
          <a:xfrm flipH="1">
            <a:off x="0" y="2955172"/>
            <a:ext cx="9144000" cy="0"/>
          </a:xfrm>
          <a:prstGeom prst="line">
            <a:avLst/>
          </a:prstGeom>
          <a:solidFill>
            <a:srgbClr val="FFFFFF"/>
          </a:solidFill>
          <a:ln w="3175" cap="rnd" cmpd="sng" algn="ctr">
            <a:solidFill>
              <a:schemeClr val="accent6">
                <a:lumMod val="75000"/>
              </a:schemeClr>
            </a:solidFill>
            <a:prstDash val="solid"/>
            <a:round/>
            <a:headEnd type="none" w="med" len="med"/>
            <a:tailEnd type="none"/>
          </a:ln>
          <a:effectLst/>
        </p:spPr>
      </p:cxnSp>
      <p:sp>
        <p:nvSpPr>
          <p:cNvPr id="26" name="Rectangle 12"/>
          <p:cNvSpPr/>
          <p:nvPr userDrawn="1">
            <p:custDataLst>
              <p:tags r:id="rId4"/>
            </p:custDataLst>
          </p:nvPr>
        </p:nvSpPr>
        <p:spPr bwMode="auto">
          <a:xfrm>
            <a:off x="0" y="6571226"/>
            <a:ext cx="9144000" cy="286773"/>
          </a:xfrm>
          <a:prstGeom prst="rect">
            <a:avLst/>
          </a:prstGeom>
          <a:solidFill>
            <a:srgbClr val="144D8D"/>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rgbClr val="FF6600"/>
              </a:solidFill>
              <a:effectLst/>
              <a:latin typeface="Arial" charset="0"/>
            </a:endParaRPr>
          </a:p>
        </p:txBody>
      </p:sp>
      <p:pic>
        <p:nvPicPr>
          <p:cNvPr id="27" name="Imagem 1"/>
          <p:cNvPicPr>
            <a:picLocks noChangeAspect="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3494191" y="751851"/>
            <a:ext cx="1794811" cy="1051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Espaço Reservado para Texto 9"/>
          <p:cNvSpPr>
            <a:spLocks noGrp="1"/>
          </p:cNvSpPr>
          <p:nvPr>
            <p:ph type="body" sz="quarter" idx="14" hasCustomPrompt="1"/>
            <p:custDataLst>
              <p:tags r:id="rId5"/>
            </p:custDataLst>
          </p:nvPr>
        </p:nvSpPr>
        <p:spPr>
          <a:xfrm>
            <a:off x="468313" y="5661025"/>
            <a:ext cx="7848600" cy="432271"/>
          </a:xfrm>
        </p:spPr>
        <p:txBody>
          <a:bodyPr>
            <a:normAutofit/>
          </a:bodyPr>
          <a:lstStyle>
            <a:lvl1pPr marL="0" indent="0">
              <a:buNone/>
              <a:defRPr lang="pt-BR" sz="1800" kern="1200" dirty="0">
                <a:solidFill>
                  <a:srgbClr val="FFC776"/>
                </a:solidFill>
                <a:latin typeface="Calibri"/>
                <a:ea typeface="+mj-ea"/>
                <a:cs typeface="Calibri"/>
              </a:defRPr>
            </a:lvl1pPr>
          </a:lstStyle>
          <a:p>
            <a:pPr marL="0" lvl="0" indent="0" algn="ctr" defTabSz="914400" rtl="0" eaLnBrk="1" latinLnBrk="0" hangingPunct="1">
              <a:spcBef>
                <a:spcPct val="20000"/>
              </a:spcBef>
              <a:buFont typeface="Arial" pitchFamily="34" charset="0"/>
              <a:buNone/>
            </a:pPr>
            <a:r>
              <a:rPr lang="pt-BR" dirty="0"/>
              <a:t>Clique para editar o nome do professor</a:t>
            </a:r>
          </a:p>
        </p:txBody>
      </p:sp>
      <p:sp>
        <p:nvSpPr>
          <p:cNvPr id="30" name="Subtítulo 2"/>
          <p:cNvSpPr>
            <a:spLocks noGrp="1"/>
          </p:cNvSpPr>
          <p:nvPr>
            <p:ph type="subTitle" idx="1" hasCustomPrompt="1"/>
            <p:custDataLst>
              <p:tags r:id="rId6"/>
            </p:custDataLst>
          </p:nvPr>
        </p:nvSpPr>
        <p:spPr>
          <a:xfrm>
            <a:off x="1371600" y="3429000"/>
            <a:ext cx="6400800" cy="1752600"/>
          </a:xfrm>
        </p:spPr>
        <p:txBody>
          <a:bodyPr>
            <a:normAutofit/>
          </a:bodyPr>
          <a:lstStyle>
            <a:lvl1pPr marL="0" indent="0" algn="ctr">
              <a:buNone/>
              <a:defRPr lang="pt-BR" sz="4000" b="1" kern="1200" dirty="0">
                <a:solidFill>
                  <a:srgbClr val="144D8D"/>
                </a:solidFill>
                <a:latin typeface="Calibri"/>
                <a:ea typeface="+mj-ea"/>
                <a:cs typeface="Calibri"/>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dirty="0"/>
              <a:t>Clique para editar o estilo do título mestre</a:t>
            </a:r>
          </a:p>
        </p:txBody>
      </p:sp>
    </p:spTree>
    <p:extLst>
      <p:ext uri="{BB962C8B-B14F-4D97-AF65-F5344CB8AC3E}">
        <p14:creationId xmlns:p14="http://schemas.microsoft.com/office/powerpoint/2010/main" val="3020671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Slide de título">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pic>
        <p:nvPicPr>
          <p:cNvPr id="19" name="Imagem 1"/>
          <p:cNvPicPr>
            <a:picLocks noChangeAspect="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3494191" y="751851"/>
            <a:ext cx="1794811" cy="1051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Rectangle 22"/>
          <p:cNvSpPr/>
          <p:nvPr userDrawn="1">
            <p:custDataLst>
              <p:tags r:id="rId1"/>
            </p:custDataLst>
          </p:nvPr>
        </p:nvSpPr>
        <p:spPr bwMode="auto">
          <a:xfrm>
            <a:off x="0" y="3377642"/>
            <a:ext cx="9144000" cy="1909186"/>
          </a:xfrm>
          <a:prstGeom prst="rect">
            <a:avLst/>
          </a:prstGeom>
          <a:solidFill>
            <a:schemeClr val="accent1">
              <a:lumMod val="20000"/>
              <a:lumOff val="80000"/>
              <a:alpha val="86000"/>
            </a:schemeClr>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rgbClr val="FF6600"/>
              </a:solidFill>
              <a:effectLst/>
              <a:latin typeface="Arial" charset="0"/>
            </a:endParaRPr>
          </a:p>
        </p:txBody>
      </p:sp>
      <p:sp>
        <p:nvSpPr>
          <p:cNvPr id="30" name="Rectangle 3"/>
          <p:cNvSpPr/>
          <p:nvPr userDrawn="1">
            <p:custDataLst>
              <p:tags r:id="rId2"/>
            </p:custDataLst>
          </p:nvPr>
        </p:nvSpPr>
        <p:spPr bwMode="auto">
          <a:xfrm>
            <a:off x="0" y="5305914"/>
            <a:ext cx="9144000" cy="1265312"/>
          </a:xfrm>
          <a:prstGeom prst="rect">
            <a:avLst/>
          </a:prstGeom>
          <a:solidFill>
            <a:schemeClr val="accent6">
              <a:lumMod val="75000"/>
            </a:schemeClr>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rgbClr val="FF6600"/>
              </a:solidFill>
              <a:effectLst/>
              <a:latin typeface="Arial" charset="0"/>
            </a:endParaRPr>
          </a:p>
        </p:txBody>
      </p:sp>
      <p:sp>
        <p:nvSpPr>
          <p:cNvPr id="31" name="Rectangle 8"/>
          <p:cNvSpPr/>
          <p:nvPr userDrawn="1">
            <p:custDataLst>
              <p:tags r:id="rId3"/>
            </p:custDataLst>
          </p:nvPr>
        </p:nvSpPr>
        <p:spPr bwMode="auto">
          <a:xfrm>
            <a:off x="0" y="5305914"/>
            <a:ext cx="9144000" cy="1552085"/>
          </a:xfrm>
          <a:prstGeom prst="rect">
            <a:avLst/>
          </a:prstGeom>
          <a:solidFill>
            <a:schemeClr val="accent6">
              <a:lumMod val="75000"/>
              <a:alpha val="27000"/>
            </a:schemeClr>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accent6">
                  <a:lumMod val="50000"/>
                </a:schemeClr>
              </a:solidFill>
              <a:effectLst/>
              <a:latin typeface="Arial" charset="0"/>
            </a:endParaRPr>
          </a:p>
        </p:txBody>
      </p:sp>
      <p:cxnSp>
        <p:nvCxnSpPr>
          <p:cNvPr id="32" name="Straight Connector 4"/>
          <p:cNvCxnSpPr/>
          <p:nvPr userDrawn="1"/>
        </p:nvCxnSpPr>
        <p:spPr bwMode="auto">
          <a:xfrm flipH="1">
            <a:off x="0" y="5305914"/>
            <a:ext cx="9144000" cy="0"/>
          </a:xfrm>
          <a:prstGeom prst="line">
            <a:avLst/>
          </a:prstGeom>
          <a:solidFill>
            <a:srgbClr val="FFFFFF"/>
          </a:solidFill>
          <a:ln w="3175" cap="rnd" cmpd="sng" algn="ctr">
            <a:solidFill>
              <a:schemeClr val="tx2">
                <a:lumMod val="75000"/>
              </a:schemeClr>
            </a:solidFill>
            <a:prstDash val="solid"/>
            <a:round/>
            <a:headEnd type="none" w="med" len="med"/>
            <a:tailEnd type="none"/>
          </a:ln>
          <a:effectLst/>
        </p:spPr>
      </p:cxnSp>
      <p:cxnSp>
        <p:nvCxnSpPr>
          <p:cNvPr id="34" name="Straight Connector 7"/>
          <p:cNvCxnSpPr/>
          <p:nvPr userDrawn="1"/>
        </p:nvCxnSpPr>
        <p:spPr bwMode="auto">
          <a:xfrm flipH="1">
            <a:off x="0" y="6584108"/>
            <a:ext cx="9144000" cy="0"/>
          </a:xfrm>
          <a:prstGeom prst="line">
            <a:avLst/>
          </a:prstGeom>
          <a:solidFill>
            <a:srgbClr val="FFFFFF"/>
          </a:solidFill>
          <a:ln w="12700" cap="rnd" cmpd="sng" algn="ctr">
            <a:solidFill>
              <a:schemeClr val="accent6">
                <a:lumMod val="50000"/>
              </a:schemeClr>
            </a:solidFill>
            <a:prstDash val="solid"/>
            <a:round/>
            <a:headEnd type="none" w="med" len="med"/>
            <a:tailEnd type="none"/>
          </a:ln>
          <a:effectLst/>
        </p:spPr>
      </p:cxnSp>
      <p:cxnSp>
        <p:nvCxnSpPr>
          <p:cNvPr id="35" name="Straight Connector 20"/>
          <p:cNvCxnSpPr/>
          <p:nvPr userDrawn="1"/>
        </p:nvCxnSpPr>
        <p:spPr bwMode="auto">
          <a:xfrm flipH="1">
            <a:off x="0" y="2699428"/>
            <a:ext cx="9144000" cy="0"/>
          </a:xfrm>
          <a:prstGeom prst="line">
            <a:avLst/>
          </a:prstGeom>
          <a:solidFill>
            <a:srgbClr val="FFFFFF"/>
          </a:solidFill>
          <a:ln w="3175" cap="rnd" cmpd="sng" algn="ctr">
            <a:solidFill>
              <a:schemeClr val="accent1">
                <a:lumMod val="40000"/>
                <a:lumOff val="60000"/>
              </a:schemeClr>
            </a:solidFill>
            <a:prstDash val="solid"/>
            <a:round/>
            <a:headEnd type="none" w="med" len="med"/>
            <a:tailEnd type="none"/>
          </a:ln>
          <a:effectLst/>
        </p:spPr>
      </p:cxnSp>
      <p:cxnSp>
        <p:nvCxnSpPr>
          <p:cNvPr id="36" name="Straight Connector 23"/>
          <p:cNvCxnSpPr/>
          <p:nvPr userDrawn="1"/>
        </p:nvCxnSpPr>
        <p:spPr bwMode="auto">
          <a:xfrm flipH="1">
            <a:off x="0" y="3369604"/>
            <a:ext cx="9144000" cy="0"/>
          </a:xfrm>
          <a:prstGeom prst="line">
            <a:avLst/>
          </a:prstGeom>
          <a:solidFill>
            <a:srgbClr val="FFFFFF"/>
          </a:solidFill>
          <a:ln w="3175" cap="rnd" cmpd="sng" algn="ctr">
            <a:solidFill>
              <a:schemeClr val="accent6">
                <a:lumMod val="75000"/>
              </a:schemeClr>
            </a:solidFill>
            <a:prstDash val="solid"/>
            <a:round/>
            <a:headEnd type="none" w="med" len="med"/>
            <a:tailEnd type="none"/>
          </a:ln>
          <a:effectLst/>
        </p:spPr>
      </p:cxnSp>
      <p:sp>
        <p:nvSpPr>
          <p:cNvPr id="39" name="Rectangle 12"/>
          <p:cNvSpPr/>
          <p:nvPr userDrawn="1">
            <p:custDataLst>
              <p:tags r:id="rId4"/>
            </p:custDataLst>
          </p:nvPr>
        </p:nvSpPr>
        <p:spPr bwMode="auto">
          <a:xfrm>
            <a:off x="0" y="6571226"/>
            <a:ext cx="9144000" cy="286773"/>
          </a:xfrm>
          <a:prstGeom prst="rect">
            <a:avLst/>
          </a:prstGeom>
          <a:solidFill>
            <a:srgbClr val="144D8D"/>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rgbClr val="FF6600"/>
              </a:solidFill>
              <a:effectLst/>
              <a:latin typeface="Arial" charset="0"/>
            </a:endParaRPr>
          </a:p>
        </p:txBody>
      </p:sp>
      <p:sp>
        <p:nvSpPr>
          <p:cNvPr id="40" name="Subtítulo 2"/>
          <p:cNvSpPr>
            <a:spLocks noGrp="1"/>
          </p:cNvSpPr>
          <p:nvPr>
            <p:ph type="subTitle" idx="1" hasCustomPrompt="1"/>
            <p:custDataLst>
              <p:tags r:id="rId5"/>
            </p:custDataLst>
          </p:nvPr>
        </p:nvSpPr>
        <p:spPr>
          <a:xfrm>
            <a:off x="1371600" y="3692624"/>
            <a:ext cx="6400800" cy="1752600"/>
          </a:xfrm>
        </p:spPr>
        <p:txBody>
          <a:bodyPr>
            <a:normAutofit/>
          </a:bodyPr>
          <a:lstStyle>
            <a:lvl1pPr marL="0" indent="0" algn="ctr">
              <a:buNone/>
              <a:defRPr lang="pt-BR" sz="4000" b="1" kern="1200" dirty="0">
                <a:solidFill>
                  <a:srgbClr val="144D8D"/>
                </a:solidFill>
                <a:latin typeface="Calibri"/>
                <a:ea typeface="+mj-ea"/>
                <a:cs typeface="Calibri"/>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dirty="0"/>
              <a:t>Clique para editar o estilo do título mestre</a:t>
            </a:r>
          </a:p>
        </p:txBody>
      </p:sp>
      <p:sp>
        <p:nvSpPr>
          <p:cNvPr id="41" name="Espaço Reservado para Texto 9"/>
          <p:cNvSpPr>
            <a:spLocks noGrp="1"/>
          </p:cNvSpPr>
          <p:nvPr>
            <p:ph type="body" sz="quarter" idx="14" hasCustomPrompt="1"/>
            <p:custDataLst>
              <p:tags r:id="rId6"/>
            </p:custDataLst>
          </p:nvPr>
        </p:nvSpPr>
        <p:spPr>
          <a:xfrm>
            <a:off x="468313" y="5661025"/>
            <a:ext cx="7848600" cy="432271"/>
          </a:xfrm>
        </p:spPr>
        <p:txBody>
          <a:bodyPr>
            <a:normAutofit/>
          </a:bodyPr>
          <a:lstStyle>
            <a:lvl1pPr marL="0" indent="0">
              <a:buNone/>
              <a:defRPr lang="pt-BR" sz="1800" kern="1200" dirty="0">
                <a:solidFill>
                  <a:srgbClr val="FFC776"/>
                </a:solidFill>
                <a:latin typeface="Calibri"/>
                <a:ea typeface="+mj-ea"/>
                <a:cs typeface="Calibri"/>
              </a:defRPr>
            </a:lvl1pPr>
          </a:lstStyle>
          <a:p>
            <a:pPr marL="0" lvl="0" indent="0" algn="ctr" defTabSz="914400" rtl="0" eaLnBrk="1" latinLnBrk="0" hangingPunct="1">
              <a:spcBef>
                <a:spcPct val="20000"/>
              </a:spcBef>
              <a:buFont typeface="Arial" pitchFamily="34" charset="0"/>
              <a:buNone/>
            </a:pPr>
            <a:r>
              <a:rPr lang="pt-BR" dirty="0"/>
              <a:t>Clique para editar o nome do professor</a:t>
            </a:r>
          </a:p>
        </p:txBody>
      </p:sp>
    </p:spTree>
    <p:extLst>
      <p:ext uri="{BB962C8B-B14F-4D97-AF65-F5344CB8AC3E}">
        <p14:creationId xmlns:p14="http://schemas.microsoft.com/office/powerpoint/2010/main" val="13175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lide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9189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mente título">
    <p:spTree>
      <p:nvGrpSpPr>
        <p:cNvPr id="1" name=""/>
        <p:cNvGrpSpPr/>
        <p:nvPr/>
      </p:nvGrpSpPr>
      <p:grpSpPr>
        <a:xfrm>
          <a:off x="0" y="0"/>
          <a:ext cx="0" cy="0"/>
          <a:chOff x="0" y="0"/>
          <a:chExt cx="0" cy="0"/>
        </a:xfrm>
      </p:grpSpPr>
      <p:sp>
        <p:nvSpPr>
          <p:cNvPr id="2" name="Título 1"/>
          <p:cNvSpPr>
            <a:spLocks noGrp="1"/>
          </p:cNvSpPr>
          <p:nvPr>
            <p:ph type="title"/>
            <p:custDataLst>
              <p:tags r:id="rId1"/>
            </p:custDataLst>
          </p:nvPr>
        </p:nvSpPr>
        <p:spPr>
          <a:xfrm>
            <a:off x="3012572" y="274638"/>
            <a:ext cx="5626968" cy="418058"/>
          </a:xfrm>
        </p:spPr>
        <p:txBody>
          <a:bodyPr>
            <a:normAutofit/>
          </a:bodyPr>
          <a:lstStyle>
            <a:lvl1pPr marL="0" algn="r" defTabSz="457200" rtl="0" eaLnBrk="1" latinLnBrk="0" hangingPunct="1">
              <a:spcBef>
                <a:spcPct val="0"/>
              </a:spcBef>
              <a:buNone/>
              <a:defRPr lang="pt-BR" sz="3100" b="1" kern="1200" dirty="0">
                <a:solidFill>
                  <a:schemeClr val="accent6">
                    <a:lumMod val="75000"/>
                  </a:schemeClr>
                </a:solidFill>
                <a:latin typeface="Calibri"/>
                <a:ea typeface="+mj-ea"/>
                <a:cs typeface="Calibri"/>
              </a:defRPr>
            </a:lvl1pPr>
          </a:lstStyle>
          <a:p>
            <a:r>
              <a:rPr lang="pt-BR" dirty="0"/>
              <a:t>Clique para editar o título mestre</a:t>
            </a:r>
          </a:p>
        </p:txBody>
      </p:sp>
      <p:sp>
        <p:nvSpPr>
          <p:cNvPr id="5" name="Espaço Reservado para Número de Slide 4"/>
          <p:cNvSpPr>
            <a:spLocks noGrp="1"/>
          </p:cNvSpPr>
          <p:nvPr>
            <p:ph type="sldNum" sz="quarter" idx="12"/>
            <p:custDataLst>
              <p:tags r:id="rId2"/>
            </p:custDataLst>
          </p:nvPr>
        </p:nvSpPr>
        <p:spPr>
          <a:xfrm>
            <a:off x="7031032" y="6135446"/>
            <a:ext cx="2133600" cy="365125"/>
          </a:xfrm>
        </p:spPr>
        <p:txBody>
          <a:bodyPr/>
          <a:lstStyle>
            <a:lvl1pPr>
              <a:defRPr lang="pt-BR" sz="1800" kern="1200" smtClean="0">
                <a:solidFill>
                  <a:schemeClr val="accent1">
                    <a:lumMod val="40000"/>
                    <a:lumOff val="60000"/>
                  </a:schemeClr>
                </a:solidFill>
                <a:latin typeface="+mn-lt"/>
                <a:ea typeface="+mn-ea"/>
                <a:cs typeface="+mn-cs"/>
              </a:defRPr>
            </a:lvl1pPr>
          </a:lstStyle>
          <a:p>
            <a:fld id="{40C52AAA-52BA-4E9F-ACEC-F67C74DBBBA3}" type="slidenum">
              <a:rPr lang="pt-BR" smtClean="0"/>
              <a:pPr/>
              <a:t>‹nº›</a:t>
            </a:fld>
            <a:endParaRPr lang="pt-BR" dirty="0"/>
          </a:p>
        </p:txBody>
      </p:sp>
      <p:sp>
        <p:nvSpPr>
          <p:cNvPr id="4" name="Espaço Reservado para Texto 3"/>
          <p:cNvSpPr>
            <a:spLocks noGrp="1"/>
          </p:cNvSpPr>
          <p:nvPr>
            <p:ph type="body" sz="quarter" idx="13"/>
            <p:custDataLst>
              <p:tags r:id="rId3"/>
            </p:custDataLst>
          </p:nvPr>
        </p:nvSpPr>
        <p:spPr>
          <a:xfrm>
            <a:off x="530003" y="1052736"/>
            <a:ext cx="8109538" cy="4392487"/>
          </a:xfr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pic>
        <p:nvPicPr>
          <p:cNvPr id="9" name="Imagem 1"/>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383726" y="156881"/>
            <a:ext cx="877948" cy="514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Straight Connector 11"/>
          <p:cNvCxnSpPr/>
          <p:nvPr userDrawn="1"/>
        </p:nvCxnSpPr>
        <p:spPr bwMode="auto">
          <a:xfrm flipH="1">
            <a:off x="5589917" y="631422"/>
            <a:ext cx="3554084" cy="0"/>
          </a:xfrm>
          <a:prstGeom prst="line">
            <a:avLst/>
          </a:prstGeom>
          <a:solidFill>
            <a:srgbClr val="FFFFFF"/>
          </a:solidFill>
          <a:ln w="3175" cap="rnd" cmpd="sng" algn="ctr">
            <a:solidFill>
              <a:schemeClr val="accent1">
                <a:lumMod val="40000"/>
                <a:lumOff val="60000"/>
              </a:schemeClr>
            </a:solidFill>
            <a:prstDash val="solid"/>
            <a:round/>
            <a:headEnd type="none" w="med" len="med"/>
            <a:tailEnd type="none"/>
          </a:ln>
          <a:effectLst/>
        </p:spPr>
      </p:cxnSp>
    </p:spTree>
    <p:extLst>
      <p:ext uri="{BB962C8B-B14F-4D97-AF65-F5344CB8AC3E}">
        <p14:creationId xmlns:p14="http://schemas.microsoft.com/office/powerpoint/2010/main" val="370916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cxnSp>
        <p:nvCxnSpPr>
          <p:cNvPr id="5" name="Straight Connector 11"/>
          <p:cNvCxnSpPr/>
          <p:nvPr userDrawn="1"/>
        </p:nvCxnSpPr>
        <p:spPr bwMode="auto">
          <a:xfrm flipH="1">
            <a:off x="5055419" y="631422"/>
            <a:ext cx="4088581" cy="0"/>
          </a:xfrm>
          <a:prstGeom prst="line">
            <a:avLst/>
          </a:prstGeom>
          <a:solidFill>
            <a:srgbClr val="FFFFFF"/>
          </a:solidFill>
          <a:ln w="3175" cap="rnd" cmpd="sng" algn="ctr">
            <a:solidFill>
              <a:schemeClr val="accent1">
                <a:lumMod val="40000"/>
                <a:lumOff val="60000"/>
              </a:schemeClr>
            </a:solidFill>
            <a:prstDash val="solid"/>
            <a:round/>
            <a:headEnd type="none" w="med" len="med"/>
            <a:tailEnd type="none"/>
          </a:ln>
          <a:effectLst/>
        </p:spPr>
      </p:cxnSp>
      <p:sp>
        <p:nvSpPr>
          <p:cNvPr id="9" name="Espaço Reservado para Número de Slide 4"/>
          <p:cNvSpPr>
            <a:spLocks noGrp="1"/>
          </p:cNvSpPr>
          <p:nvPr>
            <p:ph type="sldNum" sz="quarter" idx="12"/>
          </p:nvPr>
        </p:nvSpPr>
        <p:spPr>
          <a:xfrm>
            <a:off x="7031032" y="6135446"/>
            <a:ext cx="2133600" cy="365125"/>
          </a:xfrm>
        </p:spPr>
        <p:txBody>
          <a:bodyPr/>
          <a:lstStyle>
            <a:lvl1pPr>
              <a:defRPr lang="pt-BR" sz="1800" kern="1200" smtClean="0">
                <a:solidFill>
                  <a:schemeClr val="accent1">
                    <a:lumMod val="40000"/>
                    <a:lumOff val="60000"/>
                  </a:schemeClr>
                </a:solidFill>
                <a:latin typeface="+mn-lt"/>
                <a:ea typeface="+mn-ea"/>
                <a:cs typeface="+mn-cs"/>
              </a:defRPr>
            </a:lvl1pPr>
          </a:lstStyle>
          <a:p>
            <a:fld id="{40C52AAA-52BA-4E9F-ACEC-F67C74DBBBA3}" type="slidenum">
              <a:rPr lang="pt-BR" smtClean="0"/>
              <a:pPr/>
              <a:t>‹nº›</a:t>
            </a:fld>
            <a:endParaRPr lang="pt-BR" dirty="0"/>
          </a:p>
        </p:txBody>
      </p:sp>
      <p:pic>
        <p:nvPicPr>
          <p:cNvPr id="8" name="Imagem 1"/>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83726" y="156881"/>
            <a:ext cx="877948" cy="514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5601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cSld name="Cabeçalho da Seção">
    <p:spTree>
      <p:nvGrpSpPr>
        <p:cNvPr id="1" name=""/>
        <p:cNvGrpSpPr/>
        <p:nvPr/>
      </p:nvGrpSpPr>
      <p:grpSpPr>
        <a:xfrm>
          <a:off x="0" y="0"/>
          <a:ext cx="0" cy="0"/>
          <a:chOff x="0" y="0"/>
          <a:chExt cx="0" cy="0"/>
        </a:xfrm>
      </p:grpSpPr>
      <p:pic>
        <p:nvPicPr>
          <p:cNvPr id="4" name="Imagem 1"/>
          <p:cNvPicPr>
            <a:picLocks noChangeAspect="1"/>
          </p:cNvPicPr>
          <p:nvPr userDrawn="1"/>
        </p:nvPicPr>
        <p:blipFill>
          <a:blip r:embed="rId2" cstate="print"/>
          <a:srcRect/>
          <a:stretch>
            <a:fillRect/>
          </a:stretch>
        </p:blipFill>
        <p:spPr bwMode="auto">
          <a:xfrm>
            <a:off x="8172451" y="6215063"/>
            <a:ext cx="900113" cy="527050"/>
          </a:xfrm>
          <a:prstGeom prst="rect">
            <a:avLst/>
          </a:prstGeom>
          <a:noFill/>
          <a:ln w="9525">
            <a:noFill/>
            <a:miter lim="800000"/>
            <a:headEnd/>
            <a:tailEnd/>
          </a:ln>
        </p:spPr>
      </p:pic>
      <p:sp>
        <p:nvSpPr>
          <p:cNvPr id="2" name="Título 1"/>
          <p:cNvSpPr>
            <a:spLocks noGrp="1"/>
          </p:cNvSpPr>
          <p:nvPr>
            <p:ph type="title"/>
          </p:nvPr>
        </p:nvSpPr>
        <p:spPr>
          <a:xfrm>
            <a:off x="722313" y="4406902"/>
            <a:ext cx="7772400" cy="1362075"/>
          </a:xfrm>
        </p:spPr>
        <p:txBody>
          <a:bodyPr anchor="t"/>
          <a:lstStyle>
            <a:lvl1pPr algn="l">
              <a:defRPr sz="3000" b="1" cap="all"/>
            </a:lvl1pPr>
          </a:lstStyle>
          <a:p>
            <a:r>
              <a:rPr lang="pt-BR"/>
              <a:t>Clique para editar 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pt-BR"/>
              <a:t>Clique para editar o texto mestre</a:t>
            </a:r>
          </a:p>
        </p:txBody>
      </p:sp>
      <p:sp>
        <p:nvSpPr>
          <p:cNvPr id="5" name="Rectangle 4"/>
          <p:cNvSpPr>
            <a:spLocks noGrp="1" noChangeArrowheads="1"/>
          </p:cNvSpPr>
          <p:nvPr>
            <p:ph type="dt" sz="half" idx="10"/>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endParaRPr lang="pt-BR">
              <a:solidFill>
                <a:srgbClr val="000000"/>
              </a:solidFill>
            </a:endParaRPr>
          </a:p>
        </p:txBody>
      </p:sp>
      <p:sp>
        <p:nvSpPr>
          <p:cNvPr id="6" name="Rectangle 5"/>
          <p:cNvSpPr>
            <a:spLocks noGrp="1" noChangeArrowheads="1"/>
          </p:cNvSpPr>
          <p:nvPr>
            <p:ph type="ftr" sz="quarter" idx="1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endParaRPr lang="pt-BR">
              <a:solidFill>
                <a:srgbClr val="000000"/>
              </a:solidFill>
            </a:endParaRPr>
          </a:p>
        </p:txBody>
      </p:sp>
      <p:sp>
        <p:nvSpPr>
          <p:cNvPr id="7" name="Rectangle 6"/>
          <p:cNvSpPr>
            <a:spLocks noGrp="1" noChangeArrowheads="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lvl1pPr>
          </a:lstStyle>
          <a:p>
            <a:pPr>
              <a:defRPr/>
            </a:pPr>
            <a:fld id="{DF7D5541-FFC0-4DB6-AF7F-B5786F76AFD7}" type="slidenum">
              <a:rPr lang="pt-BR">
                <a:solidFill>
                  <a:srgbClr val="000000"/>
                </a:solidFill>
              </a:rPr>
              <a:pPr>
                <a:defRPr/>
              </a:pPr>
              <a:t>‹nº›</a:t>
            </a:fld>
            <a:endParaRPr lang="pt-BR">
              <a:solidFill>
                <a:srgbClr val="000000"/>
              </a:solidFill>
            </a:endParaRPr>
          </a:p>
        </p:txBody>
      </p:sp>
    </p:spTree>
    <p:extLst>
      <p:ext uri="{BB962C8B-B14F-4D97-AF65-F5344CB8AC3E}">
        <p14:creationId xmlns:p14="http://schemas.microsoft.com/office/powerpoint/2010/main" val="2679434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tags" Target="../tags/tag6.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5.xml"/><Relationship Id="rId5" Type="http://schemas.openxmlformats.org/officeDocument/2006/relationships/slideLayout" Target="../slideLayouts/slideLayout5.xml"/><Relationship Id="rId10"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Espaço Reservado para Título 1"/>
          <p:cNvSpPr>
            <a:spLocks noGrp="1"/>
          </p:cNvSpPr>
          <p:nvPr>
            <p:ph type="title"/>
            <p:custDataLst>
              <p:tags r:id="rId8"/>
            </p:custDataLst>
          </p:nvPr>
        </p:nvSpPr>
        <p:spPr>
          <a:xfrm>
            <a:off x="457200" y="274638"/>
            <a:ext cx="8229600" cy="1143000"/>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custDataLst>
              <p:tags r:id="rId9"/>
            </p:custDataLst>
          </p:nvPr>
        </p:nvSpPr>
        <p:spPr>
          <a:xfrm>
            <a:off x="457200" y="1600200"/>
            <a:ext cx="8229600" cy="4525963"/>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custDataLst>
              <p:tags r:id="rId10"/>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pt-BR" dirty="0"/>
          </a:p>
        </p:txBody>
      </p:sp>
      <p:sp>
        <p:nvSpPr>
          <p:cNvPr id="5" name="Espaço Reservado para Rodapé 4"/>
          <p:cNvSpPr>
            <a:spLocks noGrp="1"/>
          </p:cNvSpPr>
          <p:nvPr>
            <p:ph type="ftr" sz="quarter" idx="3"/>
            <p:custDataLst>
              <p:tags r:id="rId11"/>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dirty="0"/>
          </a:p>
        </p:txBody>
      </p:sp>
      <p:sp>
        <p:nvSpPr>
          <p:cNvPr id="6" name="Espaço Reservado para Número de Slide 5"/>
          <p:cNvSpPr>
            <a:spLocks noGrp="1"/>
          </p:cNvSpPr>
          <p:nvPr>
            <p:ph type="sldNum" sz="quarter" idx="4"/>
            <p:custDataLst>
              <p:tags r:id="rId12"/>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C52AAA-52BA-4E9F-ACEC-F67C74DBBBA3}" type="slidenum">
              <a:rPr lang="pt-BR" smtClean="0"/>
              <a:t>‹nº›</a:t>
            </a:fld>
            <a:endParaRPr lang="pt-BR" dirty="0"/>
          </a:p>
        </p:txBody>
      </p:sp>
    </p:spTree>
    <p:extLst>
      <p:ext uri="{BB962C8B-B14F-4D97-AF65-F5344CB8AC3E}">
        <p14:creationId xmlns:p14="http://schemas.microsoft.com/office/powerpoint/2010/main" val="4093952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4" r:id="rId4"/>
    <p:sldLayoutId id="2147483655" r:id="rId5"/>
    <p:sldLayoutId id="2147483658" r:id="rId6"/>
  </p:sldLayoutIdLst>
  <p:hf hdr="0" ftr="0" dt="0"/>
  <p:txStyles>
    <p:titleStyle>
      <a:lvl1pPr algn="ctr" defTabSz="914400" rtl="0" eaLnBrk="1" latinLnBrk="0" hangingPunct="1">
        <a:spcBef>
          <a:spcPct val="0"/>
        </a:spcBef>
        <a:buNone/>
        <a:defRPr sz="4400" b="0" i="0" u="none"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2"/>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b="0" i="0" u="none" kern="1200">
          <a:solidFill>
            <a:schemeClr val="tx2"/>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tângulo 6"/>
          <p:cNvSpPr/>
          <p:nvPr/>
        </p:nvSpPr>
        <p:spPr>
          <a:xfrm>
            <a:off x="611560" y="2853704"/>
            <a:ext cx="7169728" cy="1431739"/>
          </a:xfrm>
          <a:prstGeom prst="rect">
            <a:avLst/>
          </a:prstGeom>
        </p:spPr>
        <p:txBody>
          <a:bodyPr wrap="square">
            <a:spAutoFit/>
          </a:bodyPr>
          <a:lstStyle/>
          <a:p>
            <a:pPr algn="ctr" fontAlgn="base">
              <a:lnSpc>
                <a:spcPct val="107000"/>
              </a:lnSpc>
              <a:spcBef>
                <a:spcPct val="0"/>
              </a:spcBef>
              <a:spcAft>
                <a:spcPts val="600"/>
              </a:spcAft>
            </a:pPr>
            <a:endParaRPr lang="pt-BR" sz="2400" b="1" dirty="0">
              <a:solidFill>
                <a:srgbClr val="002060"/>
              </a:solidFill>
              <a:latin typeface="Calibri Light" panose="020F0302020204030204" pitchFamily="34" charset="0"/>
              <a:ea typeface="Calibri" panose="020F0502020204030204" pitchFamily="34" charset="0"/>
              <a:cs typeface="Times New Roman" panose="02020603050405020304" pitchFamily="18" charset="0"/>
            </a:endParaRPr>
          </a:p>
          <a:p>
            <a:pPr algn="ctr" fontAlgn="base">
              <a:lnSpc>
                <a:spcPct val="107000"/>
              </a:lnSpc>
              <a:spcBef>
                <a:spcPct val="0"/>
              </a:spcBef>
              <a:spcAft>
                <a:spcPts val="600"/>
              </a:spcAft>
            </a:pPr>
            <a:r>
              <a:rPr lang="pt-BR" sz="2400" b="1" dirty="0">
                <a:solidFill>
                  <a:srgbClr val="002060"/>
                </a:solidFill>
                <a:latin typeface="Calibri Light" panose="020F0302020204030204" pitchFamily="34" charset="0"/>
                <a:ea typeface="Calibri" panose="020F0502020204030204" pitchFamily="34" charset="0"/>
                <a:cs typeface="Times New Roman" panose="02020603050405020304" pitchFamily="18" charset="0"/>
              </a:rPr>
              <a:t>Fundamentos da Administração</a:t>
            </a:r>
          </a:p>
          <a:p>
            <a:pPr algn="ctr" fontAlgn="base">
              <a:lnSpc>
                <a:spcPct val="107000"/>
              </a:lnSpc>
              <a:spcBef>
                <a:spcPct val="0"/>
              </a:spcBef>
              <a:spcAft>
                <a:spcPts val="600"/>
              </a:spcAft>
            </a:pPr>
            <a:r>
              <a:rPr lang="pt-BR" sz="2400" b="1" dirty="0">
                <a:solidFill>
                  <a:srgbClr val="002060"/>
                </a:solidFill>
                <a:latin typeface="Calibri Light" panose="020F0302020204030204" pitchFamily="34" charset="0"/>
                <a:ea typeface="Calibri" panose="020F0502020204030204" pitchFamily="34" charset="0"/>
                <a:cs typeface="Times New Roman" panose="02020603050405020304" pitchFamily="18" charset="0"/>
              </a:rPr>
              <a:t>Professora Dra. Silmara Gomes</a:t>
            </a:r>
          </a:p>
        </p:txBody>
      </p:sp>
      <p:pic>
        <p:nvPicPr>
          <p:cNvPr id="8" name="Picture 2" descr="http://www.go.senac.br/bancodeoportunidades/assets/img/logo-senac-70-anos.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 r="39709" b="-13178"/>
          <a:stretch/>
        </p:blipFill>
        <p:spPr bwMode="auto">
          <a:xfrm>
            <a:off x="2699792" y="998434"/>
            <a:ext cx="3279905" cy="1855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6846864"/>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2</a:t>
            </a:fld>
            <a:endParaRPr lang="pt-BR" dirty="0"/>
          </a:p>
        </p:txBody>
      </p:sp>
      <p:sp>
        <p:nvSpPr>
          <p:cNvPr id="3" name="Retângulo 2"/>
          <p:cNvSpPr/>
          <p:nvPr/>
        </p:nvSpPr>
        <p:spPr>
          <a:xfrm>
            <a:off x="683568" y="1196752"/>
            <a:ext cx="7848872" cy="369332"/>
          </a:xfrm>
          <a:prstGeom prst="rect">
            <a:avLst/>
          </a:prstGeom>
        </p:spPr>
        <p:txBody>
          <a:bodyPr wrap="square">
            <a:spAutoFit/>
          </a:bodyPr>
          <a:lstStyle/>
          <a:p>
            <a:pPr algn="ctr"/>
            <a:r>
              <a:rPr lang="pt-BR" b="1" dirty="0"/>
              <a:t>Pós Segunda Guerra Mundial: teorias e implementações </a:t>
            </a:r>
            <a:endParaRPr lang="pt-BR" dirty="0"/>
          </a:p>
        </p:txBody>
      </p:sp>
      <p:sp>
        <p:nvSpPr>
          <p:cNvPr id="4" name="Retângulo 3"/>
          <p:cNvSpPr/>
          <p:nvPr/>
        </p:nvSpPr>
        <p:spPr>
          <a:xfrm>
            <a:off x="683568" y="1888129"/>
            <a:ext cx="7344816" cy="1200329"/>
          </a:xfrm>
          <a:prstGeom prst="rect">
            <a:avLst/>
          </a:prstGeom>
        </p:spPr>
        <p:txBody>
          <a:bodyPr wrap="square">
            <a:spAutoFit/>
          </a:bodyPr>
          <a:lstStyle/>
          <a:p>
            <a:r>
              <a:rPr lang="pt-BR" dirty="0"/>
              <a:t>No pós Segunda Guerra Mundial, uma nova perspectiva de gestão se fez necessária. É fato que o que movimenta o pensamento administrativo são as mudanças sociais em consonância com as questões econômicas e tecnológicas e essas fazem com que as formas de gestão evoluam. </a:t>
            </a:r>
          </a:p>
        </p:txBody>
      </p:sp>
    </p:spTree>
    <p:extLst>
      <p:ext uri="{BB962C8B-B14F-4D97-AF65-F5344CB8AC3E}">
        <p14:creationId xmlns:p14="http://schemas.microsoft.com/office/powerpoint/2010/main" val="2908903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Número de Slide 3"/>
          <p:cNvSpPr>
            <a:spLocks noGrp="1"/>
          </p:cNvSpPr>
          <p:nvPr>
            <p:ph type="sldNum" sz="quarter" idx="12"/>
          </p:nvPr>
        </p:nvSpPr>
        <p:spPr/>
        <p:txBody>
          <a:bodyPr/>
          <a:lstStyle/>
          <a:p>
            <a:pPr>
              <a:defRPr/>
            </a:pPr>
            <a:fld id="{DF7D5541-FFC0-4DB6-AF7F-B5786F76AFD7}" type="slidenum">
              <a:rPr lang="pt-BR" smtClean="0">
                <a:solidFill>
                  <a:srgbClr val="000000"/>
                </a:solidFill>
              </a:rPr>
              <a:pPr>
                <a:defRPr/>
              </a:pPr>
              <a:t>3</a:t>
            </a:fld>
            <a:endParaRPr lang="pt-BR">
              <a:solidFill>
                <a:srgbClr val="000000"/>
              </a:solidFill>
            </a:endParaRPr>
          </a:p>
        </p:txBody>
      </p:sp>
      <p:sp>
        <p:nvSpPr>
          <p:cNvPr id="5" name="Retângulo 4"/>
          <p:cNvSpPr/>
          <p:nvPr/>
        </p:nvSpPr>
        <p:spPr>
          <a:xfrm>
            <a:off x="179512" y="980728"/>
            <a:ext cx="8640960" cy="646331"/>
          </a:xfrm>
          <a:prstGeom prst="rect">
            <a:avLst/>
          </a:prstGeom>
        </p:spPr>
        <p:txBody>
          <a:bodyPr wrap="square">
            <a:spAutoFit/>
          </a:bodyPr>
          <a:lstStyle/>
          <a:p>
            <a:endParaRPr lang="pt-BR" dirty="0"/>
          </a:p>
          <a:p>
            <a:pPr algn="ctr"/>
            <a:r>
              <a:rPr lang="pt-BR" b="1" dirty="0"/>
              <a:t>Teorias sobre motivação </a:t>
            </a:r>
            <a:endParaRPr lang="pt-BR" dirty="0"/>
          </a:p>
        </p:txBody>
      </p:sp>
      <p:sp>
        <p:nvSpPr>
          <p:cNvPr id="2" name="Retângulo 1"/>
          <p:cNvSpPr/>
          <p:nvPr/>
        </p:nvSpPr>
        <p:spPr>
          <a:xfrm>
            <a:off x="899592" y="1916832"/>
            <a:ext cx="7776864" cy="2862322"/>
          </a:xfrm>
          <a:prstGeom prst="rect">
            <a:avLst/>
          </a:prstGeom>
        </p:spPr>
        <p:txBody>
          <a:bodyPr wrap="square">
            <a:spAutoFit/>
          </a:bodyPr>
          <a:lstStyle/>
          <a:p>
            <a:r>
              <a:rPr lang="pt-BR" dirty="0"/>
              <a:t>Ao longo dos anos, desenvolveu-se inúmeras teorias sobre motivação, e comumente são organizadas em três nichos: </a:t>
            </a:r>
          </a:p>
          <a:p>
            <a:r>
              <a:rPr lang="pt-BR" b="1" dirty="0"/>
              <a:t>Teorias de Conteúdo</a:t>
            </a:r>
            <a:r>
              <a:rPr lang="pt-BR" dirty="0"/>
              <a:t>: procuram entender “o que” motiva o indivíduo a executar determinada atividade ou assumir determinada responsabilidade. </a:t>
            </a:r>
          </a:p>
          <a:p>
            <a:r>
              <a:rPr lang="pt-BR" b="1" dirty="0"/>
              <a:t>Teorias de Processo</a:t>
            </a:r>
            <a:r>
              <a:rPr lang="pt-BR" dirty="0"/>
              <a:t>: buscam compreender “como” acontece o processo de motivação no indivíduo, entendendo assim seus caminhos. </a:t>
            </a:r>
          </a:p>
          <a:p>
            <a:r>
              <a:rPr lang="pt-BR" b="1" dirty="0"/>
              <a:t>Teorias de Reforço</a:t>
            </a:r>
            <a:r>
              <a:rPr lang="pt-BR" dirty="0"/>
              <a:t>: no momento, tem apenas uma teoria de reforço que é a do Skinner e essa defende que o reforço ou punição pode fazer com que o indivíduo continue com uma ação ou deixe de fazê-la, ou seja, incentivo ou não ao comportamento impacta na maneira de agir.</a:t>
            </a:r>
          </a:p>
        </p:txBody>
      </p:sp>
    </p:spTree>
    <p:extLst>
      <p:ext uri="{BB962C8B-B14F-4D97-AF65-F5344CB8AC3E}">
        <p14:creationId xmlns:p14="http://schemas.microsoft.com/office/powerpoint/2010/main" val="41783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4</a:t>
            </a:fld>
            <a:endParaRPr lang="pt-BR" dirty="0"/>
          </a:p>
        </p:txBody>
      </p:sp>
      <p:pic>
        <p:nvPicPr>
          <p:cNvPr id="3" name="Imagem 2"/>
          <p:cNvPicPr>
            <a:picLocks noChangeAspect="1"/>
          </p:cNvPicPr>
          <p:nvPr/>
        </p:nvPicPr>
        <p:blipFill>
          <a:blip r:embed="rId2"/>
          <a:stretch>
            <a:fillRect/>
          </a:stretch>
        </p:blipFill>
        <p:spPr>
          <a:xfrm>
            <a:off x="1619672" y="1536798"/>
            <a:ext cx="6120680" cy="3922857"/>
          </a:xfrm>
          <a:prstGeom prst="rect">
            <a:avLst/>
          </a:prstGeom>
        </p:spPr>
      </p:pic>
      <p:sp>
        <p:nvSpPr>
          <p:cNvPr id="4" name="Retângulo 3"/>
          <p:cNvSpPr/>
          <p:nvPr/>
        </p:nvSpPr>
        <p:spPr>
          <a:xfrm>
            <a:off x="1187624" y="829571"/>
            <a:ext cx="7704856" cy="369332"/>
          </a:xfrm>
          <a:prstGeom prst="rect">
            <a:avLst/>
          </a:prstGeom>
        </p:spPr>
        <p:txBody>
          <a:bodyPr wrap="square">
            <a:spAutoFit/>
          </a:bodyPr>
          <a:lstStyle/>
          <a:p>
            <a:r>
              <a:rPr lang="pt-BR" dirty="0">
                <a:solidFill>
                  <a:srgbClr val="000000"/>
                </a:solidFill>
                <a:latin typeface="Roboto Light"/>
              </a:rPr>
              <a:t>A hierarquia das necessidades de Maslow foi divulgada em 1954. </a:t>
            </a:r>
            <a:endParaRPr lang="pt-BR" dirty="0"/>
          </a:p>
        </p:txBody>
      </p:sp>
    </p:spTree>
    <p:extLst>
      <p:ext uri="{BB962C8B-B14F-4D97-AF65-F5344CB8AC3E}">
        <p14:creationId xmlns:p14="http://schemas.microsoft.com/office/powerpoint/2010/main" val="883809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5</a:t>
            </a:fld>
            <a:endParaRPr lang="pt-BR" dirty="0"/>
          </a:p>
        </p:txBody>
      </p:sp>
      <p:pic>
        <p:nvPicPr>
          <p:cNvPr id="3" name="Imagem 2"/>
          <p:cNvPicPr>
            <a:picLocks noChangeAspect="1"/>
          </p:cNvPicPr>
          <p:nvPr/>
        </p:nvPicPr>
        <p:blipFill>
          <a:blip r:embed="rId2"/>
          <a:stretch>
            <a:fillRect/>
          </a:stretch>
        </p:blipFill>
        <p:spPr>
          <a:xfrm>
            <a:off x="2555776" y="1196752"/>
            <a:ext cx="4326909" cy="4016137"/>
          </a:xfrm>
          <a:prstGeom prst="rect">
            <a:avLst/>
          </a:prstGeom>
        </p:spPr>
      </p:pic>
    </p:spTree>
    <p:extLst>
      <p:ext uri="{BB962C8B-B14F-4D97-AF65-F5344CB8AC3E}">
        <p14:creationId xmlns:p14="http://schemas.microsoft.com/office/powerpoint/2010/main" val="2149425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6</a:t>
            </a:fld>
            <a:endParaRPr lang="pt-BR" dirty="0"/>
          </a:p>
        </p:txBody>
      </p:sp>
      <p:sp>
        <p:nvSpPr>
          <p:cNvPr id="4" name="Retângulo 3"/>
          <p:cNvSpPr/>
          <p:nvPr/>
        </p:nvSpPr>
        <p:spPr>
          <a:xfrm>
            <a:off x="467544" y="1412776"/>
            <a:ext cx="8064896" cy="4247317"/>
          </a:xfrm>
          <a:prstGeom prst="rect">
            <a:avLst/>
          </a:prstGeom>
        </p:spPr>
        <p:txBody>
          <a:bodyPr wrap="square">
            <a:spAutoFit/>
          </a:bodyPr>
          <a:lstStyle/>
          <a:p>
            <a:endParaRPr lang="pt-BR" dirty="0"/>
          </a:p>
          <a:p>
            <a:r>
              <a:rPr lang="pt-BR" b="1" dirty="0" err="1"/>
              <a:t>Toyotismo</a:t>
            </a:r>
            <a:r>
              <a:rPr lang="pt-BR" b="1" dirty="0"/>
              <a:t> </a:t>
            </a:r>
            <a:endParaRPr lang="pt-BR" dirty="0"/>
          </a:p>
          <a:p>
            <a:pPr lvl="0" algn="just">
              <a:defRPr/>
            </a:pPr>
            <a:endParaRPr lang="pt-BR" dirty="0"/>
          </a:p>
          <a:p>
            <a:pPr lvl="0" algn="just">
              <a:defRPr/>
            </a:pPr>
            <a:r>
              <a:rPr lang="pt-BR" dirty="0"/>
              <a:t>Sistema Toyota de Produção foi desenvolvido nos anos 1950 por </a:t>
            </a:r>
            <a:r>
              <a:rPr lang="pt-BR" dirty="0" err="1"/>
              <a:t>Eiji</a:t>
            </a:r>
            <a:r>
              <a:rPr lang="pt-BR" dirty="0"/>
              <a:t> </a:t>
            </a:r>
            <a:r>
              <a:rPr lang="pt-BR" dirty="0" err="1"/>
              <a:t>Toyoda</a:t>
            </a:r>
            <a:r>
              <a:rPr lang="pt-BR" dirty="0"/>
              <a:t>, da família proprietária da empresa Toyota, e por </a:t>
            </a:r>
            <a:r>
              <a:rPr lang="pt-BR" dirty="0" err="1"/>
              <a:t>Taiichi</a:t>
            </a:r>
            <a:r>
              <a:rPr lang="pt-BR" dirty="0"/>
              <a:t> </a:t>
            </a:r>
            <a:r>
              <a:rPr lang="pt-BR" dirty="0" err="1"/>
              <a:t>Ohno</a:t>
            </a:r>
            <a:r>
              <a:rPr lang="pt-BR" dirty="0"/>
              <a:t> na época vice-presidente executivo de produção da Toyota. Após uma visita às fábricas Ford, nos Estados Unidos, eles identificaram que o ponto que era mais marcante no ocidente, a exuberância e a grandiosidade dos processos e produções, para o oriente parecia um problema </a:t>
            </a:r>
          </a:p>
          <a:p>
            <a:pPr lvl="0" algn="just">
              <a:defRPr/>
            </a:pPr>
            <a:endParaRPr lang="pt-BR" dirty="0"/>
          </a:p>
          <a:p>
            <a:pPr lvl="0" algn="just">
              <a:defRPr/>
            </a:pPr>
            <a:endParaRPr lang="pt-BR" dirty="0"/>
          </a:p>
          <a:p>
            <a:pPr lvl="0" algn="just">
              <a:defRPr/>
            </a:pPr>
            <a:r>
              <a:rPr lang="pt-BR" dirty="0"/>
              <a:t>O Sistema Toyota de Produção defende a necessidade de buscar o mínimo de defeito e a fabricação com qualidade, sendo esses são os pilares centrais do sistema. A ênfase está na foco a ampliação da busca pela qualidade e em sua aplicação como filosofia. </a:t>
            </a:r>
          </a:p>
        </p:txBody>
      </p:sp>
    </p:spTree>
    <p:extLst>
      <p:ext uri="{BB962C8B-B14F-4D97-AF65-F5344CB8AC3E}">
        <p14:creationId xmlns:p14="http://schemas.microsoft.com/office/powerpoint/2010/main" val="3870080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7</a:t>
            </a:fld>
            <a:endParaRPr lang="pt-BR" dirty="0"/>
          </a:p>
        </p:txBody>
      </p:sp>
      <p:sp>
        <p:nvSpPr>
          <p:cNvPr id="3" name="Retângulo 2"/>
          <p:cNvSpPr/>
          <p:nvPr/>
        </p:nvSpPr>
        <p:spPr>
          <a:xfrm>
            <a:off x="683568" y="1700808"/>
            <a:ext cx="8208912" cy="1754326"/>
          </a:xfrm>
          <a:prstGeom prst="rect">
            <a:avLst/>
          </a:prstGeom>
        </p:spPr>
        <p:txBody>
          <a:bodyPr wrap="square">
            <a:spAutoFit/>
          </a:bodyPr>
          <a:lstStyle/>
          <a:p>
            <a:r>
              <a:rPr lang="pt-BR" dirty="0">
                <a:solidFill>
                  <a:srgbClr val="000000"/>
                </a:solidFill>
                <a:latin typeface="Roboto Light"/>
              </a:rPr>
              <a:t>O sistema traz o foco na produção enxuta ou </a:t>
            </a:r>
            <a:r>
              <a:rPr lang="pt-BR" i="1" dirty="0" err="1">
                <a:solidFill>
                  <a:srgbClr val="000000"/>
                </a:solidFill>
                <a:latin typeface="Roboto Light"/>
              </a:rPr>
              <a:t>lean</a:t>
            </a:r>
            <a:r>
              <a:rPr lang="pt-BR" i="1" dirty="0">
                <a:solidFill>
                  <a:srgbClr val="000000"/>
                </a:solidFill>
                <a:latin typeface="Roboto Light"/>
              </a:rPr>
              <a:t> </a:t>
            </a:r>
            <a:r>
              <a:rPr lang="pt-BR" i="1" dirty="0" err="1">
                <a:solidFill>
                  <a:srgbClr val="000000"/>
                </a:solidFill>
                <a:latin typeface="Roboto Light"/>
              </a:rPr>
              <a:t>manufacturing</a:t>
            </a:r>
            <a:r>
              <a:rPr lang="pt-BR" i="1" dirty="0">
                <a:solidFill>
                  <a:srgbClr val="000000"/>
                </a:solidFill>
                <a:latin typeface="Roboto Light"/>
              </a:rPr>
              <a:t>, </a:t>
            </a:r>
            <a:r>
              <a:rPr lang="pt-BR" dirty="0">
                <a:solidFill>
                  <a:srgbClr val="000000"/>
                </a:solidFill>
                <a:latin typeface="Roboto Light"/>
              </a:rPr>
              <a:t>que significa uma inversão relativa à produção. Enquanto no ocidente se entendia que ter variedade de oferta era positivo, a produção enxuta, ou puxada, significa a produção guiada pelo cliente. O produto é fabricado depois que o cliente compra, diminuindo os estoques e possibilitando uma produção mais assertiva. </a:t>
            </a:r>
            <a:endParaRPr lang="pt-BR" dirty="0"/>
          </a:p>
        </p:txBody>
      </p:sp>
    </p:spTree>
    <p:extLst>
      <p:ext uri="{BB962C8B-B14F-4D97-AF65-F5344CB8AC3E}">
        <p14:creationId xmlns:p14="http://schemas.microsoft.com/office/powerpoint/2010/main" val="760323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8</a:t>
            </a:fld>
            <a:endParaRPr lang="pt-BR" dirty="0"/>
          </a:p>
        </p:txBody>
      </p:sp>
      <p:sp>
        <p:nvSpPr>
          <p:cNvPr id="3" name="Retângulo 2"/>
          <p:cNvSpPr/>
          <p:nvPr/>
        </p:nvSpPr>
        <p:spPr>
          <a:xfrm>
            <a:off x="647056" y="548680"/>
            <a:ext cx="8496944" cy="5632311"/>
          </a:xfrm>
          <a:prstGeom prst="rect">
            <a:avLst/>
          </a:prstGeom>
        </p:spPr>
        <p:txBody>
          <a:bodyPr wrap="square">
            <a:spAutoFit/>
          </a:bodyPr>
          <a:lstStyle/>
          <a:p>
            <a:endParaRPr lang="pt-BR" dirty="0"/>
          </a:p>
          <a:p>
            <a:r>
              <a:rPr lang="pt-BR" b="1" dirty="0"/>
              <a:t>Pensamento enxuto aplicado à tecnologia </a:t>
            </a:r>
          </a:p>
          <a:p>
            <a:endParaRPr lang="pt-BR" b="1" dirty="0"/>
          </a:p>
          <a:p>
            <a:r>
              <a:rPr lang="pt-BR" dirty="0"/>
              <a:t>O pensamento enxuto é uma filosofia que foca no fluxo do valor para o cliente objetivando a máximo eficiência utilizando o mínimo de recursos possíveis. </a:t>
            </a:r>
          </a:p>
          <a:p>
            <a:endParaRPr lang="pt-BR" dirty="0"/>
          </a:p>
          <a:p>
            <a:r>
              <a:rPr lang="pt-BR" dirty="0"/>
              <a:t>Existem cinco princípios que alicerçam o pensamento enxuto, são eles: </a:t>
            </a:r>
          </a:p>
          <a:p>
            <a:r>
              <a:rPr lang="pt-BR" b="1" dirty="0"/>
              <a:t>Valor</a:t>
            </a:r>
            <a:r>
              <a:rPr lang="pt-BR" dirty="0"/>
              <a:t>: compreender o que é valoroso para o seu cliente; é o cliente que define o que tem valor para ele; </a:t>
            </a:r>
          </a:p>
          <a:p>
            <a:r>
              <a:rPr lang="pt-BR" b="1" dirty="0"/>
              <a:t>Fluxo de valor</a:t>
            </a:r>
            <a:r>
              <a:rPr lang="pt-BR" dirty="0"/>
              <a:t>: nesta fase, é necessário mapear todo o fluxo de valor, identificando os processos envolvidos e como cada um deles agrega valor ao cliente; </a:t>
            </a:r>
          </a:p>
          <a:p>
            <a:r>
              <a:rPr lang="pt-BR" b="1" dirty="0"/>
              <a:t>Fluxo contínuo</a:t>
            </a:r>
            <a:r>
              <a:rPr lang="pt-BR" dirty="0"/>
              <a:t>: esta etapa organiza o fluxo dos processos para garantir que tenha desperdício com espera ou transporte; o fluxo deve ser contínuo; </a:t>
            </a:r>
          </a:p>
          <a:p>
            <a:r>
              <a:rPr lang="pt-BR" b="1" dirty="0"/>
              <a:t>Produção puxada</a:t>
            </a:r>
            <a:r>
              <a:rPr lang="pt-BR" dirty="0"/>
              <a:t>: a produção puxada é uma produção que procura trabalhar sem estoque, sendo acionada pela demanda; </a:t>
            </a:r>
          </a:p>
          <a:p>
            <a:r>
              <a:rPr lang="pt-BR" b="1" dirty="0" err="1"/>
              <a:t>Kaizen</a:t>
            </a:r>
            <a:r>
              <a:rPr lang="pt-BR" dirty="0"/>
              <a:t>: é o foco na melhoria contínua, a busca pela perfeição. Após determinar o valor, estabelecer o fluxo de valor, definir o fluxo contínuo, priorizar a produção puxada, o último passo é a busca por limpeza, trabalho padronizado e melhoria na qualidade do produto. </a:t>
            </a:r>
          </a:p>
          <a:p>
            <a:endParaRPr lang="pt-BR" dirty="0"/>
          </a:p>
        </p:txBody>
      </p:sp>
    </p:spTree>
    <p:extLst>
      <p:ext uri="{BB962C8B-B14F-4D97-AF65-F5344CB8AC3E}">
        <p14:creationId xmlns:p14="http://schemas.microsoft.com/office/powerpoint/2010/main" val="3683344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9</a:t>
            </a:fld>
            <a:endParaRPr lang="pt-BR" dirty="0"/>
          </a:p>
        </p:txBody>
      </p:sp>
      <p:sp>
        <p:nvSpPr>
          <p:cNvPr id="3" name="Retângulo 2"/>
          <p:cNvSpPr/>
          <p:nvPr/>
        </p:nvSpPr>
        <p:spPr>
          <a:xfrm>
            <a:off x="467544" y="1124744"/>
            <a:ext cx="8280920" cy="3508653"/>
          </a:xfrm>
          <a:prstGeom prst="rect">
            <a:avLst/>
          </a:prstGeom>
        </p:spPr>
        <p:txBody>
          <a:bodyPr wrap="square">
            <a:spAutoFit/>
          </a:bodyPr>
          <a:lstStyle/>
          <a:p>
            <a:endParaRPr lang="pt-BR" sz="2000" dirty="0">
              <a:solidFill>
                <a:srgbClr val="000000"/>
              </a:solidFill>
              <a:latin typeface="Calibri" panose="020F0502020204030204" pitchFamily="34" charset="0"/>
              <a:cs typeface="Calibri" panose="020F0502020204030204" pitchFamily="34" charset="0"/>
            </a:endParaRPr>
          </a:p>
          <a:p>
            <a:r>
              <a:rPr lang="pt-BR" sz="2000" b="1" dirty="0">
                <a:solidFill>
                  <a:srgbClr val="565555"/>
                </a:solidFill>
                <a:latin typeface="Calibri" panose="020F0502020204030204" pitchFamily="34" charset="0"/>
                <a:cs typeface="Calibri" panose="020F0502020204030204" pitchFamily="34" charset="0"/>
              </a:rPr>
              <a:t>MVP − Produto viável mínimo </a:t>
            </a:r>
          </a:p>
          <a:p>
            <a:endParaRPr lang="pt-BR" sz="2000" dirty="0">
              <a:solidFill>
                <a:srgbClr val="565555"/>
              </a:solidFill>
              <a:latin typeface="Roboto Condensed"/>
            </a:endParaRPr>
          </a:p>
          <a:p>
            <a:pPr algn="just"/>
            <a:r>
              <a:rPr lang="pt-BR" dirty="0"/>
              <a:t>Fruto do pensamento enxuto e do sistema Toyota, surgiu o conceito de produto viável mínimo (MVP). O MVP é a ideia de um produto viável mínimo é entregar a versão mais simples de um produto que pode ser lançada com a quantidade mínima de investimento. </a:t>
            </a:r>
          </a:p>
          <a:p>
            <a:pPr algn="just"/>
            <a:endParaRPr lang="pt-BR" dirty="0">
              <a:solidFill>
                <a:srgbClr val="000000"/>
              </a:solidFill>
              <a:latin typeface="Roboto Light"/>
            </a:endParaRPr>
          </a:p>
          <a:p>
            <a:pPr algn="just"/>
            <a:endParaRPr lang="pt-BR" dirty="0">
              <a:solidFill>
                <a:srgbClr val="000000"/>
              </a:solidFill>
              <a:latin typeface="Roboto Light"/>
            </a:endParaRPr>
          </a:p>
          <a:p>
            <a:pPr algn="just"/>
            <a:r>
              <a:rPr lang="pt-BR" dirty="0"/>
              <a:t>O objetivo é apresentar o produto mínimo e ajustá-lo com base no feedback de um grupo de consumidores, facilitando a melhoria contínua do produto sem perder o tempo de lançamento </a:t>
            </a:r>
          </a:p>
        </p:txBody>
      </p:sp>
    </p:spTree>
    <p:extLst>
      <p:ext uri="{BB962C8B-B14F-4D97-AF65-F5344CB8AC3E}">
        <p14:creationId xmlns:p14="http://schemas.microsoft.com/office/powerpoint/2010/main" val="65671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10</a:t>
            </a:fld>
            <a:endParaRPr lang="pt-BR" dirty="0"/>
          </a:p>
        </p:txBody>
      </p:sp>
      <p:sp>
        <p:nvSpPr>
          <p:cNvPr id="4" name="Retângulo 3"/>
          <p:cNvSpPr/>
          <p:nvPr/>
        </p:nvSpPr>
        <p:spPr>
          <a:xfrm>
            <a:off x="539552" y="1340768"/>
            <a:ext cx="7920880" cy="3693319"/>
          </a:xfrm>
          <a:prstGeom prst="rect">
            <a:avLst/>
          </a:prstGeom>
        </p:spPr>
        <p:txBody>
          <a:bodyPr wrap="square">
            <a:spAutoFit/>
          </a:bodyPr>
          <a:lstStyle/>
          <a:p>
            <a:pPr algn="just"/>
            <a:r>
              <a:rPr lang="pt-BR" dirty="0">
                <a:highlight>
                  <a:srgbClr val="FFFF00"/>
                </a:highlight>
              </a:rPr>
              <a:t>Não consta no material formal. Não cai na prova</a:t>
            </a:r>
          </a:p>
          <a:p>
            <a:pPr algn="just"/>
            <a:endParaRPr lang="pt-BR" dirty="0"/>
          </a:p>
          <a:p>
            <a:pPr algn="just"/>
            <a:r>
              <a:rPr lang="pt-BR" dirty="0"/>
              <a:t>A metodologia OKR se baseia em um ciclo contínuo de definição, acompanhamento e revisão de objetivos e resultados-chave. Esse ciclo pode ser dividido em cinco etapas principais: definir objetivos, estabelecer os resultados-chave, comunicar e alinhar, monitorar o progresso e revisar e aprender.</a:t>
            </a:r>
          </a:p>
          <a:p>
            <a:pPr algn="just"/>
            <a:endParaRPr lang="pt-BR" dirty="0"/>
          </a:p>
          <a:p>
            <a:pPr algn="just"/>
            <a:endParaRPr lang="pt-BR" dirty="0"/>
          </a:p>
          <a:p>
            <a:pPr algn="just"/>
            <a:r>
              <a:rPr lang="pt-BR" dirty="0"/>
              <a:t>Alguns elementos importantes do framework incluem: a definição das metas SMART (específicas, mensuráveis, atingíveis, relevantes e com prazo determinado), o </a:t>
            </a:r>
            <a:r>
              <a:rPr lang="pt-BR" dirty="0" err="1"/>
              <a:t>cascateamento</a:t>
            </a:r>
            <a:r>
              <a:rPr lang="pt-BR" dirty="0"/>
              <a:t> dos </a:t>
            </a:r>
            <a:r>
              <a:rPr lang="pt-BR" dirty="0" err="1"/>
              <a:t>OKRs</a:t>
            </a:r>
            <a:r>
              <a:rPr lang="pt-BR" dirty="0"/>
              <a:t>, isto é, podem ser desdobrados em diferentes níveis da organização, desde os objetivos estratégicos da instituição até os objetivos individuais de cada colaborador, monitoramento e avaliação, cultura e feedback. </a:t>
            </a:r>
          </a:p>
        </p:txBody>
      </p:sp>
    </p:spTree>
    <p:extLst>
      <p:ext uri="{BB962C8B-B14F-4D97-AF65-F5344CB8AC3E}">
        <p14:creationId xmlns:p14="http://schemas.microsoft.com/office/powerpoint/2010/main" val="2440307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11</a:t>
            </a:fld>
            <a:endParaRPr lang="pt-BR" dirty="0"/>
          </a:p>
        </p:txBody>
      </p:sp>
      <p:sp>
        <p:nvSpPr>
          <p:cNvPr id="3" name="Retângulo 2"/>
          <p:cNvSpPr/>
          <p:nvPr/>
        </p:nvSpPr>
        <p:spPr>
          <a:xfrm>
            <a:off x="755576" y="1268760"/>
            <a:ext cx="8136904" cy="2862322"/>
          </a:xfrm>
          <a:prstGeom prst="rect">
            <a:avLst/>
          </a:prstGeom>
        </p:spPr>
        <p:txBody>
          <a:bodyPr wrap="square" lIns="91440" tIns="45720" rIns="91440" bIns="45720" anchor="t">
            <a:spAutoFit/>
          </a:bodyPr>
          <a:lstStyle/>
          <a:p>
            <a:r>
              <a:rPr lang="pt-BR" b="1" dirty="0">
                <a:solidFill>
                  <a:srgbClr val="133B89"/>
                </a:solidFill>
                <a:latin typeface="Roboto Condensed"/>
              </a:rPr>
              <a:t>Cap 4 - Mudança de paradigma: sistemas e contingência </a:t>
            </a:r>
          </a:p>
          <a:p>
            <a:endParaRPr lang="pt-BR" dirty="0"/>
          </a:p>
          <a:p>
            <a:r>
              <a:rPr lang="pt-BR" b="1" dirty="0"/>
              <a:t>Perspectiva quantitativa da administração </a:t>
            </a:r>
            <a:endParaRPr lang="pt-BR" dirty="0"/>
          </a:p>
          <a:p>
            <a:endParaRPr lang="pt-BR" dirty="0"/>
          </a:p>
          <a:p>
            <a:r>
              <a:rPr lang="pt-BR" dirty="0"/>
              <a:t>A abordagem quantitativa da administração tem suas origens na Segunda Guerra Mundial e gerou grandes mudanças na administração. As operações de guerra exigiam ferramentas mais sofisticadas de tomada de decisão. As questões quantitativas surgiram da necessidade de gerir movimentação de tropas, produção de armamentos e distribuição de armas e produtos, impactaram no desenvolvimento de estudos fundamentados na matemática e estatística. </a:t>
            </a:r>
          </a:p>
        </p:txBody>
      </p:sp>
    </p:spTree>
    <p:extLst>
      <p:ext uri="{BB962C8B-B14F-4D97-AF65-F5344CB8AC3E}">
        <p14:creationId xmlns:p14="http://schemas.microsoft.com/office/powerpoint/2010/main" val="1563586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12</a:t>
            </a:fld>
            <a:endParaRPr lang="pt-BR" dirty="0"/>
          </a:p>
        </p:txBody>
      </p:sp>
      <p:sp>
        <p:nvSpPr>
          <p:cNvPr id="3" name="Retângulo 2"/>
          <p:cNvSpPr/>
          <p:nvPr/>
        </p:nvSpPr>
        <p:spPr>
          <a:xfrm>
            <a:off x="755576" y="980728"/>
            <a:ext cx="8064896" cy="2554545"/>
          </a:xfrm>
          <a:prstGeom prst="rect">
            <a:avLst/>
          </a:prstGeom>
        </p:spPr>
        <p:txBody>
          <a:bodyPr wrap="square">
            <a:spAutoFit/>
          </a:bodyPr>
          <a:lstStyle/>
          <a:p>
            <a:endParaRPr lang="pt-BR" sz="1600" dirty="0">
              <a:solidFill>
                <a:srgbClr val="000000"/>
              </a:solidFill>
              <a:latin typeface="Roboto Condensed"/>
            </a:endParaRPr>
          </a:p>
          <a:p>
            <a:r>
              <a:rPr lang="pt-BR" b="1" dirty="0">
                <a:solidFill>
                  <a:srgbClr val="565555"/>
                </a:solidFill>
                <a:latin typeface="Roboto Condensed"/>
              </a:rPr>
              <a:t>Pesquisa operacional</a:t>
            </a:r>
          </a:p>
          <a:p>
            <a:endParaRPr lang="pt-BR" b="1" dirty="0">
              <a:solidFill>
                <a:srgbClr val="565555"/>
              </a:solidFill>
              <a:latin typeface="Roboto Condensed"/>
            </a:endParaRPr>
          </a:p>
          <a:p>
            <a:r>
              <a:rPr lang="pt-BR" dirty="0"/>
              <a:t>Considerada a primeira teoria da perspectiva quantitativa da administração, foi originalmente criada para usar na guerra </a:t>
            </a:r>
            <a:r>
              <a:rPr lang="pt-BR" dirty="0" err="1"/>
              <a:t>edepois</a:t>
            </a:r>
            <a:r>
              <a:rPr lang="pt-BR" dirty="0"/>
              <a:t> adaptada para as fabricas. Seu caráter racional e com enfoque em análises numéricas possibilita uma análise lógica dos processos. </a:t>
            </a:r>
          </a:p>
          <a:p>
            <a:r>
              <a:rPr lang="pt-BR" dirty="0"/>
              <a:t>O objetivo central da pesquisa operacional é integrar múltiplos fatores que impactam no processo de tomada de decisão, possibilitando a melhor escolha. </a:t>
            </a:r>
            <a:r>
              <a:rPr lang="pt-BR" b="1" dirty="0">
                <a:solidFill>
                  <a:srgbClr val="565555"/>
                </a:solidFill>
                <a:latin typeface="Roboto Condensed"/>
              </a:rPr>
              <a:t> </a:t>
            </a:r>
            <a:endParaRPr lang="pt-BR" dirty="0">
              <a:solidFill>
                <a:srgbClr val="565555"/>
              </a:solidFill>
              <a:latin typeface="Roboto Condensed"/>
            </a:endParaRPr>
          </a:p>
        </p:txBody>
      </p:sp>
    </p:spTree>
    <p:extLst>
      <p:ext uri="{BB962C8B-B14F-4D97-AF65-F5344CB8AC3E}">
        <p14:creationId xmlns:p14="http://schemas.microsoft.com/office/powerpoint/2010/main" val="2963270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13</a:t>
            </a:fld>
            <a:endParaRPr lang="pt-BR" dirty="0"/>
          </a:p>
        </p:txBody>
      </p:sp>
      <p:pic>
        <p:nvPicPr>
          <p:cNvPr id="3" name="Imagem 2"/>
          <p:cNvPicPr>
            <a:picLocks noChangeAspect="1"/>
          </p:cNvPicPr>
          <p:nvPr/>
        </p:nvPicPr>
        <p:blipFill>
          <a:blip r:embed="rId2"/>
          <a:stretch>
            <a:fillRect/>
          </a:stretch>
        </p:blipFill>
        <p:spPr>
          <a:xfrm>
            <a:off x="1259632" y="188640"/>
            <a:ext cx="7056784" cy="4690846"/>
          </a:xfrm>
          <a:prstGeom prst="rect">
            <a:avLst/>
          </a:prstGeom>
        </p:spPr>
      </p:pic>
      <p:pic>
        <p:nvPicPr>
          <p:cNvPr id="4" name="Imagem 3"/>
          <p:cNvPicPr>
            <a:picLocks noChangeAspect="1"/>
          </p:cNvPicPr>
          <p:nvPr/>
        </p:nvPicPr>
        <p:blipFill>
          <a:blip r:embed="rId3"/>
          <a:stretch>
            <a:fillRect/>
          </a:stretch>
        </p:blipFill>
        <p:spPr>
          <a:xfrm>
            <a:off x="899592" y="4399852"/>
            <a:ext cx="7560840" cy="2215228"/>
          </a:xfrm>
          <a:prstGeom prst="rect">
            <a:avLst/>
          </a:prstGeom>
        </p:spPr>
      </p:pic>
    </p:spTree>
    <p:extLst>
      <p:ext uri="{BB962C8B-B14F-4D97-AF65-F5344CB8AC3E}">
        <p14:creationId xmlns:p14="http://schemas.microsoft.com/office/powerpoint/2010/main" val="291670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14</a:t>
            </a:fld>
            <a:endParaRPr lang="pt-BR" dirty="0"/>
          </a:p>
        </p:txBody>
      </p:sp>
      <p:sp>
        <p:nvSpPr>
          <p:cNvPr id="3" name="Retângulo 2"/>
          <p:cNvSpPr/>
          <p:nvPr/>
        </p:nvSpPr>
        <p:spPr>
          <a:xfrm>
            <a:off x="827584" y="548680"/>
            <a:ext cx="8064896" cy="5324535"/>
          </a:xfrm>
          <a:prstGeom prst="rect">
            <a:avLst/>
          </a:prstGeom>
        </p:spPr>
        <p:txBody>
          <a:bodyPr wrap="square">
            <a:spAutoFit/>
          </a:bodyPr>
          <a:lstStyle/>
          <a:p>
            <a:endParaRPr lang="pt-BR" sz="1600" dirty="0">
              <a:solidFill>
                <a:srgbClr val="000000"/>
              </a:solidFill>
              <a:latin typeface="Roboto Condensed"/>
            </a:endParaRPr>
          </a:p>
          <a:p>
            <a:r>
              <a:rPr lang="pt-BR" b="1" dirty="0">
                <a:solidFill>
                  <a:srgbClr val="565555"/>
                </a:solidFill>
                <a:latin typeface="Roboto Condensed"/>
              </a:rPr>
              <a:t>Cibernética</a:t>
            </a:r>
          </a:p>
          <a:p>
            <a:endParaRPr lang="pt-BR" b="1" dirty="0">
              <a:solidFill>
                <a:srgbClr val="565555"/>
              </a:solidFill>
              <a:latin typeface="Roboto Condensed"/>
            </a:endParaRPr>
          </a:p>
          <a:p>
            <a:r>
              <a:rPr lang="pt-BR" dirty="0"/>
              <a:t>Essa abordagem considera a complexidade em contraposição ao reducionismo. O conceito de reducionismo, muito utilizado na teoria de sistemas e expandido ao longo do tempo por autores como Edgar </a:t>
            </a:r>
            <a:r>
              <a:rPr lang="pt-BR" dirty="0" err="1"/>
              <a:t>Morin</a:t>
            </a:r>
            <a:r>
              <a:rPr lang="pt-BR" dirty="0"/>
              <a:t>, defende que não podemos olhar de forma simplificada e reduzida para as questões </a:t>
            </a:r>
          </a:p>
          <a:p>
            <a:endParaRPr lang="pt-BR" b="1" dirty="0">
              <a:solidFill>
                <a:srgbClr val="565555"/>
              </a:solidFill>
              <a:latin typeface="Roboto Condensed"/>
            </a:endParaRPr>
          </a:p>
          <a:p>
            <a:endParaRPr lang="pt-BR" b="1" dirty="0">
              <a:solidFill>
                <a:srgbClr val="565555"/>
              </a:solidFill>
              <a:latin typeface="Roboto Condensed"/>
            </a:endParaRPr>
          </a:p>
          <a:p>
            <a:r>
              <a:rPr lang="pt-BR" dirty="0"/>
              <a:t>Considerando esses pontos, entende-se que os sistemas são conjuntos de partes interagentes e interdependentes que formam um todo unitário. Assim, não é possível olhar apenas uma parte sem olhar o todo. </a:t>
            </a:r>
          </a:p>
          <a:p>
            <a:endParaRPr lang="pt-BR" b="1" dirty="0">
              <a:solidFill>
                <a:srgbClr val="565555"/>
              </a:solidFill>
              <a:latin typeface="Roboto Condensed"/>
            </a:endParaRPr>
          </a:p>
          <a:p>
            <a:endParaRPr lang="pt-BR" b="1" dirty="0">
              <a:solidFill>
                <a:srgbClr val="565555"/>
              </a:solidFill>
              <a:latin typeface="Roboto Condensed"/>
            </a:endParaRPr>
          </a:p>
          <a:p>
            <a:r>
              <a:rPr lang="pt-BR" dirty="0"/>
              <a:t>Outro conceito central na cibernética é a consciência da circularidade no comportamento do sistema. As respostas obtidas em um sistema geram novas entradas ou comportamentos que se retroalimentam de forma sucessiva. Dessa forma, o sistema pode se autorregular, visando manter sua estabilidade e aumentar sua eficiência </a:t>
            </a:r>
            <a:r>
              <a:rPr lang="pt-BR" b="1" dirty="0">
                <a:solidFill>
                  <a:srgbClr val="565555"/>
                </a:solidFill>
                <a:latin typeface="Roboto Condensed"/>
              </a:rPr>
              <a:t> </a:t>
            </a:r>
            <a:endParaRPr lang="pt-BR" dirty="0">
              <a:solidFill>
                <a:srgbClr val="565555"/>
              </a:solidFill>
              <a:latin typeface="Roboto Condensed"/>
            </a:endParaRPr>
          </a:p>
        </p:txBody>
      </p:sp>
    </p:spTree>
    <p:extLst>
      <p:ext uri="{BB962C8B-B14F-4D97-AF65-F5344CB8AC3E}">
        <p14:creationId xmlns:p14="http://schemas.microsoft.com/office/powerpoint/2010/main" val="1821396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15</a:t>
            </a:fld>
            <a:endParaRPr lang="pt-BR" dirty="0"/>
          </a:p>
        </p:txBody>
      </p:sp>
      <p:sp>
        <p:nvSpPr>
          <p:cNvPr id="3" name="Retângulo 2"/>
          <p:cNvSpPr/>
          <p:nvPr/>
        </p:nvSpPr>
        <p:spPr>
          <a:xfrm>
            <a:off x="1043608" y="980728"/>
            <a:ext cx="4572000" cy="553998"/>
          </a:xfrm>
          <a:prstGeom prst="rect">
            <a:avLst/>
          </a:prstGeom>
        </p:spPr>
        <p:txBody>
          <a:bodyPr>
            <a:spAutoFit/>
          </a:bodyPr>
          <a:lstStyle/>
          <a:p>
            <a:endParaRPr lang="pt-BR" sz="1200" dirty="0">
              <a:solidFill>
                <a:srgbClr val="000000"/>
              </a:solidFill>
              <a:latin typeface="Roboto Condensed"/>
            </a:endParaRPr>
          </a:p>
          <a:p>
            <a:r>
              <a:rPr lang="pt-BR" b="1" dirty="0">
                <a:solidFill>
                  <a:srgbClr val="565555"/>
                </a:solidFill>
                <a:latin typeface="Roboto Condensed"/>
              </a:rPr>
              <a:t>Perspectiva moderna da administração </a:t>
            </a:r>
            <a:endParaRPr lang="pt-BR" dirty="0">
              <a:solidFill>
                <a:srgbClr val="565555"/>
              </a:solidFill>
              <a:latin typeface="Roboto Condensed"/>
            </a:endParaRPr>
          </a:p>
        </p:txBody>
      </p:sp>
      <p:sp>
        <p:nvSpPr>
          <p:cNvPr id="4" name="Retângulo 3"/>
          <p:cNvSpPr/>
          <p:nvPr/>
        </p:nvSpPr>
        <p:spPr>
          <a:xfrm>
            <a:off x="611560" y="1720840"/>
            <a:ext cx="8280920" cy="1754326"/>
          </a:xfrm>
          <a:prstGeom prst="rect">
            <a:avLst/>
          </a:prstGeom>
        </p:spPr>
        <p:txBody>
          <a:bodyPr wrap="square">
            <a:spAutoFit/>
          </a:bodyPr>
          <a:lstStyle/>
          <a:p>
            <a:r>
              <a:rPr lang="pt-BR" dirty="0">
                <a:solidFill>
                  <a:srgbClr val="000000"/>
                </a:solidFill>
                <a:latin typeface="Roboto Light"/>
              </a:rPr>
              <a:t>A perspectiva moderna da administração traz uma proposta de integração entre as diversas teorias administrativas. Durante um longo período, as teorias eram vistas como excludentes e não complementares. Na perspectiva moderna, a abordagem clássica, teoria das relações humanas, modelo burocrático, teoria comportamental e teorias quantitativas trazem cada uma a seu tempo e dentro de suas características elementos importantes para a gestão de organizações. </a:t>
            </a:r>
            <a:endParaRPr lang="pt-BR" dirty="0"/>
          </a:p>
        </p:txBody>
      </p:sp>
    </p:spTree>
    <p:extLst>
      <p:ext uri="{BB962C8B-B14F-4D97-AF65-F5344CB8AC3E}">
        <p14:creationId xmlns:p14="http://schemas.microsoft.com/office/powerpoint/2010/main" val="173373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16</a:t>
            </a:fld>
            <a:endParaRPr lang="pt-BR" dirty="0"/>
          </a:p>
        </p:txBody>
      </p:sp>
      <p:sp>
        <p:nvSpPr>
          <p:cNvPr id="3" name="Retângulo 2"/>
          <p:cNvSpPr/>
          <p:nvPr/>
        </p:nvSpPr>
        <p:spPr>
          <a:xfrm>
            <a:off x="539552" y="908720"/>
            <a:ext cx="7848872" cy="4770537"/>
          </a:xfrm>
          <a:prstGeom prst="rect">
            <a:avLst/>
          </a:prstGeom>
        </p:spPr>
        <p:txBody>
          <a:bodyPr wrap="square">
            <a:spAutoFit/>
          </a:bodyPr>
          <a:lstStyle/>
          <a:p>
            <a:endParaRPr lang="pt-BR" sz="1600" dirty="0">
              <a:solidFill>
                <a:srgbClr val="000000"/>
              </a:solidFill>
              <a:latin typeface="Roboto Condensed"/>
            </a:endParaRPr>
          </a:p>
          <a:p>
            <a:r>
              <a:rPr lang="pt-BR" b="1" dirty="0">
                <a:solidFill>
                  <a:srgbClr val="565555"/>
                </a:solidFill>
                <a:latin typeface="Roboto Condensed"/>
              </a:rPr>
              <a:t>Teoria de sistemas</a:t>
            </a:r>
          </a:p>
          <a:p>
            <a:endParaRPr lang="pt-BR" b="1" dirty="0">
              <a:solidFill>
                <a:srgbClr val="565555"/>
              </a:solidFill>
              <a:latin typeface="Roboto Condensed"/>
            </a:endParaRPr>
          </a:p>
          <a:p>
            <a:endParaRPr lang="pt-BR" b="1" dirty="0">
              <a:solidFill>
                <a:srgbClr val="565555"/>
              </a:solidFill>
              <a:latin typeface="Roboto Condensed"/>
            </a:endParaRPr>
          </a:p>
          <a:p>
            <a:r>
              <a:rPr lang="pt-BR" dirty="0"/>
              <a:t>A teoria dos sistemas tem suas origens na teoria geral de sistemas desenvolvida por Ludwig von </a:t>
            </a:r>
            <a:r>
              <a:rPr lang="pt-BR" dirty="0" err="1"/>
              <a:t>Bertalanffy</a:t>
            </a:r>
            <a:r>
              <a:rPr lang="pt-BR" dirty="0"/>
              <a:t>, publicada em um artigo em 1951. </a:t>
            </a:r>
            <a:r>
              <a:rPr lang="pt-BR" dirty="0" err="1"/>
              <a:t>Betanlanffy</a:t>
            </a:r>
            <a:r>
              <a:rPr lang="pt-BR" dirty="0"/>
              <a:t>, biólogo alemão, conduziu seus estudos considerando o metabolismo, os estados estáveis, o crescimento e os sistemas abertos por meio de conceitos encontrados na química, física, cinemática e termodinâmica. Uma das premissas da teoria é a compreensão da impossibilidade de estudar apenas uma parte sem compreender fundamentos mínimos do macro. </a:t>
            </a:r>
          </a:p>
          <a:p>
            <a:endParaRPr lang="pt-BR" dirty="0"/>
          </a:p>
          <a:p>
            <a:endParaRPr lang="pt-BR" b="1" dirty="0">
              <a:solidFill>
                <a:srgbClr val="565555"/>
              </a:solidFill>
              <a:latin typeface="Roboto Condensed"/>
            </a:endParaRPr>
          </a:p>
          <a:p>
            <a:r>
              <a:rPr lang="pt-BR" dirty="0"/>
              <a:t>Uma das maiores contribuições da teoria dos sistemas para a administração é o entendimento das organizações como sistemas abertos. Esses sistemas funcionam de forma cíclica e necessitam do feedback para a manutenção ou </a:t>
            </a:r>
            <a:r>
              <a:rPr lang="pt-BR" dirty="0" err="1"/>
              <a:t>autorregulação</a:t>
            </a:r>
            <a:r>
              <a:rPr lang="pt-BR" dirty="0"/>
              <a:t> de sua estrutura.</a:t>
            </a:r>
            <a:r>
              <a:rPr lang="pt-BR" b="1" dirty="0">
                <a:solidFill>
                  <a:srgbClr val="565555"/>
                </a:solidFill>
                <a:latin typeface="Roboto Condensed"/>
              </a:rPr>
              <a:t> </a:t>
            </a:r>
            <a:endParaRPr lang="pt-BR" dirty="0">
              <a:solidFill>
                <a:srgbClr val="565555"/>
              </a:solidFill>
              <a:latin typeface="Roboto Condensed"/>
            </a:endParaRPr>
          </a:p>
        </p:txBody>
      </p:sp>
    </p:spTree>
    <p:extLst>
      <p:ext uri="{BB962C8B-B14F-4D97-AF65-F5344CB8AC3E}">
        <p14:creationId xmlns:p14="http://schemas.microsoft.com/office/powerpoint/2010/main" val="3074650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17</a:t>
            </a:fld>
            <a:endParaRPr lang="pt-BR" dirty="0"/>
          </a:p>
        </p:txBody>
      </p:sp>
      <p:pic>
        <p:nvPicPr>
          <p:cNvPr id="3" name="Imagem 2"/>
          <p:cNvPicPr>
            <a:picLocks noChangeAspect="1"/>
          </p:cNvPicPr>
          <p:nvPr/>
        </p:nvPicPr>
        <p:blipFill>
          <a:blip r:embed="rId2"/>
          <a:stretch>
            <a:fillRect/>
          </a:stretch>
        </p:blipFill>
        <p:spPr>
          <a:xfrm>
            <a:off x="1403648" y="980728"/>
            <a:ext cx="6299479" cy="4689438"/>
          </a:xfrm>
          <a:prstGeom prst="rect">
            <a:avLst/>
          </a:prstGeom>
        </p:spPr>
      </p:pic>
    </p:spTree>
    <p:extLst>
      <p:ext uri="{BB962C8B-B14F-4D97-AF65-F5344CB8AC3E}">
        <p14:creationId xmlns:p14="http://schemas.microsoft.com/office/powerpoint/2010/main" val="1901565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18</a:t>
            </a:fld>
            <a:endParaRPr lang="pt-BR" dirty="0"/>
          </a:p>
        </p:txBody>
      </p:sp>
      <p:pic>
        <p:nvPicPr>
          <p:cNvPr id="3" name="Imagem 2"/>
          <p:cNvPicPr>
            <a:picLocks noChangeAspect="1"/>
          </p:cNvPicPr>
          <p:nvPr/>
        </p:nvPicPr>
        <p:blipFill>
          <a:blip r:embed="rId2"/>
          <a:stretch>
            <a:fillRect/>
          </a:stretch>
        </p:blipFill>
        <p:spPr>
          <a:xfrm>
            <a:off x="1259632" y="1340768"/>
            <a:ext cx="6907767" cy="4011400"/>
          </a:xfrm>
          <a:prstGeom prst="rect">
            <a:avLst/>
          </a:prstGeom>
        </p:spPr>
      </p:pic>
    </p:spTree>
    <p:extLst>
      <p:ext uri="{BB962C8B-B14F-4D97-AF65-F5344CB8AC3E}">
        <p14:creationId xmlns:p14="http://schemas.microsoft.com/office/powerpoint/2010/main" val="3559359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19</a:t>
            </a:fld>
            <a:endParaRPr lang="pt-BR" dirty="0"/>
          </a:p>
        </p:txBody>
      </p:sp>
      <p:pic>
        <p:nvPicPr>
          <p:cNvPr id="3" name="Imagem 2"/>
          <p:cNvPicPr>
            <a:picLocks noChangeAspect="1"/>
          </p:cNvPicPr>
          <p:nvPr/>
        </p:nvPicPr>
        <p:blipFill>
          <a:blip r:embed="rId2"/>
          <a:stretch>
            <a:fillRect/>
          </a:stretch>
        </p:blipFill>
        <p:spPr>
          <a:xfrm>
            <a:off x="1619672" y="188640"/>
            <a:ext cx="6311931" cy="6311931"/>
          </a:xfrm>
          <a:prstGeom prst="rect">
            <a:avLst/>
          </a:prstGeom>
        </p:spPr>
      </p:pic>
    </p:spTree>
    <p:extLst>
      <p:ext uri="{BB962C8B-B14F-4D97-AF65-F5344CB8AC3E}">
        <p14:creationId xmlns:p14="http://schemas.microsoft.com/office/powerpoint/2010/main" val="3346854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20</a:t>
            </a:fld>
            <a:endParaRPr lang="pt-BR" dirty="0"/>
          </a:p>
        </p:txBody>
      </p:sp>
      <p:sp>
        <p:nvSpPr>
          <p:cNvPr id="3" name="Retângulo 2"/>
          <p:cNvSpPr/>
          <p:nvPr/>
        </p:nvSpPr>
        <p:spPr>
          <a:xfrm>
            <a:off x="899592" y="1484784"/>
            <a:ext cx="7416824" cy="3693319"/>
          </a:xfrm>
          <a:prstGeom prst="rect">
            <a:avLst/>
          </a:prstGeom>
        </p:spPr>
        <p:txBody>
          <a:bodyPr wrap="square">
            <a:spAutoFit/>
          </a:bodyPr>
          <a:lstStyle/>
          <a:p>
            <a:endParaRPr lang="pt-BR" dirty="0"/>
          </a:p>
          <a:p>
            <a:r>
              <a:rPr lang="pt-BR" b="1" dirty="0"/>
              <a:t>Teoria da contingência </a:t>
            </a:r>
          </a:p>
          <a:p>
            <a:endParaRPr lang="pt-BR" b="1" dirty="0"/>
          </a:p>
          <a:p>
            <a:r>
              <a:rPr lang="pt-BR" dirty="0"/>
              <a:t>A teoria da contingência surge no contexto do pensamento administrativo nos anos 1970, no entanto, as pesquisas e os estudos que dão origem a essa abordagem remontam dos anos 1950. Ela tem como ideia central que situações diferentes exigem formas diferentes de agir e que os pontos importantes e aplicáveis das teorias anteriores podem e devem ser utilizadas no momento atual. Novas teorias não devem eliminar as antigas teorias.</a:t>
            </a:r>
          </a:p>
          <a:p>
            <a:endParaRPr lang="pt-BR" dirty="0"/>
          </a:p>
          <a:p>
            <a:r>
              <a:rPr lang="pt-BR" dirty="0"/>
              <a:t>Todos os estudos tinham em comum o interesse pelo papel da tecnologia na estrutura das organizações e a observação que a tecnologia é uma importante variável contingencial. </a:t>
            </a:r>
          </a:p>
        </p:txBody>
      </p:sp>
    </p:spTree>
    <p:extLst>
      <p:ext uri="{BB962C8B-B14F-4D97-AF65-F5344CB8AC3E}">
        <p14:creationId xmlns:p14="http://schemas.microsoft.com/office/powerpoint/2010/main" val="41185789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21</a:t>
            </a:fld>
            <a:endParaRPr lang="pt-BR" dirty="0"/>
          </a:p>
        </p:txBody>
      </p:sp>
      <p:sp>
        <p:nvSpPr>
          <p:cNvPr id="3" name="Retângulo 2"/>
          <p:cNvSpPr/>
          <p:nvPr/>
        </p:nvSpPr>
        <p:spPr>
          <a:xfrm>
            <a:off x="899592" y="1582341"/>
            <a:ext cx="7776864" cy="2308324"/>
          </a:xfrm>
          <a:prstGeom prst="rect">
            <a:avLst/>
          </a:prstGeom>
        </p:spPr>
        <p:txBody>
          <a:bodyPr wrap="square">
            <a:spAutoFit/>
          </a:bodyPr>
          <a:lstStyle/>
          <a:p>
            <a:r>
              <a:rPr lang="pt-BR">
                <a:solidFill>
                  <a:srgbClr val="000000"/>
                </a:solidFill>
                <a:latin typeface="Roboto Light"/>
              </a:rPr>
              <a:t>Woodward por meio do seu estudo que contemplou cerca de cem empresas britânicas, demostrou a importância da tecnologia para o sucesso organizacional. </a:t>
            </a:r>
            <a:r>
              <a:rPr lang="pt-BR" dirty="0">
                <a:solidFill>
                  <a:srgbClr val="000000"/>
                </a:solidFill>
                <a:latin typeface="Roboto Light"/>
              </a:rPr>
              <a:t>A tecnologia deixou de ser uma variável pouco relacionada ao desenvolvimento organizacional para ter um papel central na gestão. Ela passa a ser vista como um determinante contingencial e um fator que promove diretamente a diferenciação do status organizacional. O sucesso está relacionado à adaptação tecnológica e estrutural (Silva, 2013).</a:t>
            </a:r>
            <a:endParaRPr lang="pt-BR" dirty="0"/>
          </a:p>
        </p:txBody>
      </p:sp>
    </p:spTree>
    <p:extLst>
      <p:ext uri="{BB962C8B-B14F-4D97-AF65-F5344CB8AC3E}">
        <p14:creationId xmlns:p14="http://schemas.microsoft.com/office/powerpoint/2010/main" val="2682403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Número de Slide 1"/>
          <p:cNvSpPr>
            <a:spLocks noGrp="1"/>
          </p:cNvSpPr>
          <p:nvPr>
            <p:ph type="sldNum" sz="quarter" idx="12"/>
          </p:nvPr>
        </p:nvSpPr>
        <p:spPr/>
        <p:txBody>
          <a:bodyPr/>
          <a:lstStyle/>
          <a:p>
            <a:fld id="{40C52AAA-52BA-4E9F-ACEC-F67C74DBBBA3}" type="slidenum">
              <a:rPr lang="pt-BR" smtClean="0"/>
              <a:pPr/>
              <a:t>22</a:t>
            </a:fld>
            <a:endParaRPr lang="pt-BR" dirty="0"/>
          </a:p>
        </p:txBody>
      </p:sp>
      <p:sp>
        <p:nvSpPr>
          <p:cNvPr id="3" name="Retângulo 2"/>
          <p:cNvSpPr/>
          <p:nvPr/>
        </p:nvSpPr>
        <p:spPr>
          <a:xfrm>
            <a:off x="395536" y="1052736"/>
            <a:ext cx="8532440" cy="2831544"/>
          </a:xfrm>
          <a:prstGeom prst="rect">
            <a:avLst/>
          </a:prstGeom>
        </p:spPr>
        <p:txBody>
          <a:bodyPr wrap="square">
            <a:spAutoFit/>
          </a:bodyPr>
          <a:lstStyle/>
          <a:p>
            <a:endParaRPr lang="pt-BR" sz="2800" dirty="0">
              <a:solidFill>
                <a:srgbClr val="000000"/>
              </a:solidFill>
              <a:latin typeface="Roboto Condensed"/>
            </a:endParaRPr>
          </a:p>
          <a:p>
            <a:r>
              <a:rPr lang="pt-BR" sz="2000" b="1" dirty="0">
                <a:solidFill>
                  <a:srgbClr val="565555"/>
                </a:solidFill>
                <a:latin typeface="Roboto Condensed"/>
              </a:rPr>
              <a:t>Aplicações </a:t>
            </a:r>
          </a:p>
          <a:p>
            <a:endParaRPr lang="pt-BR" sz="2000" dirty="0">
              <a:solidFill>
                <a:srgbClr val="565555"/>
              </a:solidFill>
              <a:latin typeface="Roboto Condensed"/>
            </a:endParaRPr>
          </a:p>
          <a:p>
            <a:pPr algn="just"/>
            <a:r>
              <a:rPr lang="pt-BR" dirty="0"/>
              <a:t>A teoria de sistemas e a teoria da contingência trazem para o pensamento administrativo uma perspectiva de não determinismo, da necessidade de ações diferentes considerando espaços e ações diferentes. À medida que os fatos mudam, nossas ações devem mudar. </a:t>
            </a:r>
          </a:p>
          <a:p>
            <a:pPr algn="just"/>
            <a:endParaRPr lang="pt-BR" sz="2000" dirty="0">
              <a:solidFill>
                <a:srgbClr val="000000"/>
              </a:solidFill>
              <a:latin typeface="Roboto Light"/>
            </a:endParaRPr>
          </a:p>
          <a:p>
            <a:pPr algn="just"/>
            <a:r>
              <a:rPr lang="pt-BR" dirty="0"/>
              <a:t>Na gestão, é necessário estar atento as transformações e utilizar os elementos possíveis de cada teoria para nos auxiliar na condução das situações da melhor forma possível.</a:t>
            </a:r>
            <a:endParaRPr lang="pt-BR" sz="2000" dirty="0"/>
          </a:p>
        </p:txBody>
      </p:sp>
    </p:spTree>
    <p:extLst>
      <p:ext uri="{BB962C8B-B14F-4D97-AF65-F5344CB8AC3E}">
        <p14:creationId xmlns:p14="http://schemas.microsoft.com/office/powerpoint/2010/main" val="20350118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0"/>
  <p:tag name="MMPROD_UIDATA" val="&lt;database version=&quot;9.0&quot;&gt;&lt;object type=&quot;1&quot; unique_id=&quot;10001&quot;&gt;&lt;property id=&quot;20141&quot; value=&quot;Modelo AN 2014&quot;/&gt;&lt;property id=&quot;20144&quot; value=&quot;1&quot;/&gt;&lt;property id=&quot;20146&quot; value=&quot;0&quot;/&gt;&lt;property id=&quot;20147&quot; value=&quot;0&quot;/&gt;&lt;property id=&quot;20148&quot; value=&quot;5&quot;/&gt;&lt;property id=&quot;20180&quot; value=&quot;0&quot;/&gt;&lt;property id=&quot;20181&quot; value=&quot;0&quot;/&gt;&lt;property id=&quot;20183&quot; value=&quot;1&quot;/&gt;&lt;property id=&quot;20184&quot; value=&quot;7&quot;/&gt;&lt;property id=&quot;20193&quot; value=&quot;-1&quot;/&gt;&lt;property id=&quot;20221&quot; value=&quot;E:\Dri\Adriana\logos senac\MARCA_RGB\&quot;/&gt;&lt;property id=&quot;20224&quot; value=&quot;C:\Users\adriana.mmatsuda\Documents\My Adobe Presentations\modelo_2014&quot;/&gt;&lt;property id=&quot;20250&quot; value=&quot;0&quot;/&gt;&lt;property id=&quot;20251&quot; value=&quot;0&quot;/&gt;&lt;property id=&quot;20259&quot; value=&quot;0&quot;/&gt;&lt;property id=&quot;20600&quot; value=&quot;0&quot;/&gt;&lt;property id=&quot;20700&quot; value=&quot;0&quot;/&gt;&lt;object type=&quot;2&quot; unique_id=&quot;10118&quot;&gt;&lt;object type=&quot;3&quot; unique_id=&quot;10253&quot;&gt;&lt;property id=&quot;20148&quot; value=&quot;5&quot;/&gt;&lt;property id=&quot;20300&quot; value=&quot;Slide 3&quot;/&gt;&lt;property id=&quot;20303&quot; value=&quot;-1&quot;/&gt;&lt;property id=&quot;20307&quot; value=&quot;257&quot;/&gt;&lt;property id=&quot;20309&quot; value=&quot;-1&quot;/&gt;&lt;/object&gt;&lt;object type=&quot;3&quot; unique_id=&quot;10271&quot;&gt;&lt;property id=&quot;20148&quot; value=&quot;5&quot;/&gt;&lt;property id=&quot;20300&quot; value=&quot;Slide 5 - &amp;quot;Referências bibliográficas&amp;quot;&quot;/&gt;&lt;property id=&quot;20303&quot; value=&quot;-1&quot;/&gt;&lt;property id=&quot;20307&quot; value=&quot;258&quot;/&gt;&lt;property id=&quot;20309&quot; value=&quot;-1&quot;/&gt;&lt;/object&gt;&lt;object type=&quot;3&quot; unique_id=&quot;10272&quot;&gt;&lt;property id=&quot;20148&quot; value=&quot;5&quot;/&gt;&lt;property id=&quot;20300&quot; value=&quot;Slide 4 - &amp;quot;Conclusão&amp;quot;&quot;/&gt;&lt;property id=&quot;20303&quot; value=&quot;-1&quot;/&gt;&lt;property id=&quot;20307&quot; value=&quot;259&quot;/&gt;&lt;property id=&quot;20309&quot; value=&quot;-1&quot;/&gt;&lt;/object&gt;&lt;object type=&quot;3&quot; unique_id=&quot;10415&quot;&gt;&lt;property id=&quot;20148&quot; value=&quot;5&quot;/&gt;&lt;property id=&quot;20300&quot; value=&quot;Slide 1&quot;/&gt;&lt;property id=&quot;20301&quot; value=&quot;Título- 1linha&quot;/&gt;&lt;property id=&quot;20303&quot; value=&quot;-1&quot;/&gt;&lt;property id=&quot;20307&quot; value=&quot;261&quot;/&gt;&lt;property id=&quot;20309&quot; value=&quot;-1&quot;/&gt;&lt;/object&gt;&lt;object type=&quot;3&quot; unique_id=&quot;10497&quot;&gt;&lt;property id=&quot;20148&quot; value=&quot;5&quot;/&gt;&lt;property id=&quot;20300&quot; value=&quot;Slide 6 - &amp;quot;Donec eget nisi dolor - nec risus&amp;quot;&quot;/&gt;&lt;property id=&quot;20303&quot; value=&quot;-1&quot;/&gt;&lt;property id=&quot;20307&quot; value=&quot;262&quot;/&gt;&lt;property id=&quot;20309&quot; value=&quot;-1&quot;/&gt;&lt;/object&gt;&lt;object type=&quot;3&quot; unique_id=&quot;10808&quot;&gt;&lt;property id=&quot;20148&quot; value=&quot;5&quot;/&gt;&lt;property id=&quot;20300&quot; value=&quot;Slide 2&quot;/&gt;&lt;property id=&quot;20301&quot; value=&quot;Título - 2 linhas&quot;/&gt;&lt;property id=&quot;20303&quot; value=&quot;-1&quot;/&gt;&lt;property id=&quot;20307&quot; value=&quot;263&quot;/&gt;&lt;property id=&quot;20309&quot; value=&quot;-1&quot;/&gt;&lt;/object&gt;&lt;/object&gt;&lt;object type=&quot;8&quot; unique_id=&quot;10122&quot;&gt;&lt;/object&gt;&lt;object type=&quot;4&quot; unique_id=&quot;10304&quot;&gt;&lt;/object&gt;&lt;object type=&quot;10&quot; unique_id=&quot;10305&quot;&gt;&lt;object type=&quot;11&quot; unique_id=&quot;10306&quot;&gt;&lt;property id=&quot;20180&quot; value=&quot;0&quot;/&gt;&lt;property id=&quot;20181&quot; value=&quot;0&quot;/&gt;&lt;property id=&quot;20183&quot; value=&quot;1&quot;/&gt;&lt;/object&gt;&lt;object type=&quot;12&quot; unique_id=&quot;10538&quot;&gt;&lt;/object&gt;&lt;/object&gt;&lt;/object&gt;&lt;/database&gt;"/>
  <p:tag name="SECTOMILLISECCONVERTED" val="1"/>
  <p:tag name="MMPROD_THEME_BG_IMAGE" val=""/>
  <p:tag name="MMPROD_TAG_VCONFIG" val="PD94bWwgdmVyc2lvbj0iMS4wIiBlbmNvZGluZz0iVVRGLTgiPz4NCjxjb25maWd1cmF0aW9uPg0KCTxicmFuZGluZz4NCgkJPHVpZm9udCBuYW1lPSJGT05UX05PVEVTX1RFWFQiIHZhbHVlPSJWZXJkYW5hLDE0LGZhbHNlLGZhbHNlLGZhbHNlIi8+DQoJPC9icmFuZGluZz4NCgk8Y29sb3JzPg0KCQk8dWljb2xvciBuYW1lPSJwcmltYXJ5IiB2YWx1ZT0iMHhDQ0NDQ0MiLz4NCgkJPHVpY29sb3IgbmFtZT0iZ2xvdyIgdmFsdWU9IjB4RkRDMTgwIi8+DQoJCTx1aWNvbG9yIG5hbWU9InRleHQiIHZhbHVlPSIweDAwMDAwMCIvPg0KCQk8dWljb2xvciBuYW1lPSJsaWdodCIgdmFsdWU9IjB4OEY4RjhGIi8+DQoJCTx1aWNvbG9yIG5hbWU9InNoYWRvdyIgdmFsdWU9IjB4RkZGRkZGIi8+DQoJCTx1aWNvbG9yIG5hbWU9ImJhY2tncm91bmQiIHZhbHVlPSIweDAwMzM2NiIvPg0KCQk8dWljb2xvciBuYW1lPSJub3Rlc1RleHRCYWNrZ3JvdW5kIiB2YWx1ZT0iMHhGRkZGRkYiLz4NCgk8L2NvbG9ycz4NCgk8bGF5b3V0Pg0KCQk8dWlzaG93IG5hbWU9InByZXNlbnRhdGlvbnRpdGxlIiB2YWx1ZT0idHJ1ZSIvPg0KCQk8dWlzaG93IG5hbWU9InByZXNlbnRlcnBob3RvIiB2YWx1ZT0idHJ1ZSIvPg0KCQk8dWlzaG93IG5hbWU9InByZXNlbnRlcm5hbWUiIHZhbHVlPSJ0cnVlIi8+DQoJCTx1aXNob3cgbmFtZT0icHJlc2VudGVydGl0bGUiIHZhbHVlPSJ0cnVlIi8+DQoJCTx1aXNob3cgbmFtZT0icHJlc2VudGVyZW1haWwiIHZhbHVlPSJ0cnVlIi8+DQoJCTx1aXNob3cgbmFtZT0icHJlc2VudGVyYmlvIiB2YWx1ZT0idHJ1ZSIvPg0KCQk8dWlzaG93IG5hbWU9ImNvbXBhbnlsb2dvIiB2YWx1ZT0idHJ1ZSIvPg0KCQk8dWlzaG93IG5hbWU9InNpZGViYXIiIHZhbHVlPSJ0cnVlIi8+DQoJCTx1aXNob3cgbmFtZT0ib3V0bGluZSIgdmFsdWU9InRydWUiLz4NCgkJPHVpc2hvdyBuYW1lPSJ0aHVtYm5haWwiIHZhbHVlPSJ0cnVlIi8+DQoJCTx1aXNob3cgbmFtZT0ibm90ZXMiIHZhbHVlPSJ0cnVlIi8+DQoJCTx1aXNob3cgbmFtZT0ic2VhcmNoIiB2YWx1ZT0idHJ1ZSIvPg0KCQk8dWlzaG93IG5hbWU9InF1aXoiIHZhbHVlPSJ0cnVlIi8+DQoJCTx1aXNob3cgbmFtZT0iYXR0YWNobWVudHMiIHZhbHVlPSJ0cnVlIi8+DQoJCTx1aXNob3cgbmFtZT0idXRpbHMiIHZhbHVlPSJ0cnVlIi8+DQoJCTx1aXNob3cgbmFtZT0idm9sdW1lIiB2YWx1ZT0idHJ1ZSIvPg0KCQk8dWlzaG93IG5hbWU9InBsYXliYXIiIHZhbHVlPSJ0cnVlIi8+DQoJCTx1aXNob3cgbmFtZT0idGFsa2luZ2hlYWQiIHZhbHVlPSJ0cnVlIi8+DQoJCTx1aXNob3cgbmFtZT0ic2lkZWJhcm9ucmlnaHQiIHZhbHVlPSJ0cnVlIi8+DQoJCTx1aXNob3cgbmFtZT0idmlld2NoYW5nZSIgdmFsdWU9InRydWUiLz4NCgkJPHVpc2hvdyBuYW1lPSJhbHdheXNTY3J1bmNoIiB2YWx1ZT0iZmFsc2UiLz4NCgkJPHVpc2hvdyBuYW1lPSJpbml0aWFsZGlzcGxheW1vZGVpc25vcm1hbCIgdmFsdWU9InRydWUiLz4NCgkJPHVpc2hvdyBuYW1lPSJjY3RleHRoaWdobGlnaHRpbmciIHZhbHVlPSJ0cnVlIi8+DQoJCTx1aXJlcGxhY2UgbmFtZT0ibG9nbyIgdmFsdWU9IiIvPg0KCQk8dWlyZXBsYWNlIG5hbWU9ImJnaW1hZ2UiIHZhbHVlPSIiLz4NCgkJPHVpcmVwbGFjZSBuYW1lPSJpbml0aWFsdGFiIiB2YWx1ZT0ib3V0bGluZSIvPg0KCTwvbGF5b3V0Pg0KCTxwcmVsb2FkZXI+PHNldEJvb2wgbmFtZT0iZGlzYWJsZUFzc2V0UHJlbG9hZGVyIiB2YWx1ZT0idHJ1ZSIvPjwvcHJlbG9hZGVyPj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whLS1xdWl6IHBvZCBhbmQgbWVzc2FnZSBib3ggdGV4dHMtLT4NCgkJPHVpdGV4dCBuYW1lPSJRVUlaUE9EX1FVSVpfQVRURU1QVCIgdmFsdWU9IlF1aXogQXR0ZW1wdDoiLz4NCgkJPHVpdGV4dCBuYW1lPSJRVUlaUE9EX1FVSVpfQVRURU1QVF9WQUxVRSIgdmFsdWU9IiVuIG9mICV0Ii8+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DQoJCTx1aXRleHQgbmFtZT0iUVVJWlBPRF9RVUlaQVRNUFRfSU5GIiB2YWx1ZT0iSW5maW5pdGUiLz4NCgkJPHVpdGV4dCBuYW1lPSJRVUlaUE9EX1FVRVNBVE1QVF9JTkYiIHZhbHVlPSJJbmZpbml0ZSIvPg0KCQk8dWl0ZXh0IG5hbWU9IldBUk5JTkdNU0dfWUVTU1RSSU5HIiB2YWx1ZT0iWWVzIi8+DQoJCTx1aXRleHQgbmFtZT0iV0FSTklOR01TR19OT1NUUklORyIgdmFsdWU9Ik5vIi8+DQoJCTx1aXRleHQgbmFtZT0iV0FSTklOR01TR19USVRMRVNUUklORyIgdmFsdWU9IlF1aXogTmF2aWdhdGlvbiBXYXJuaW5nIi8+DQoJCTx1aXRleHQgbmFtZT0iV0FSTklOR01TR19NU0dTVFJJTkciIHZhbHVlPSJUaGVyZSBhcmUgdW4tYXR0ZW1wdGVkIHF1ZXN0aW9ucyBpbiB0aGlzIFF1aXouJiN4QTsmI3hBO0NsaWNraW5nIFllcyB3aWxsIHRha2UgeW91IG91dCBvZiB0aGUgUXVpei4gQ2xpY2sgTm8gdG8gY29udGludWUgdGhlIFF1aXouIi8+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DQoJCTx1aXRleHQgbmFtZT0iRE9DV1JBUF9USVRMRSIgdmFsdWU9IlByZXNlbnRlciBGaWxlIEF0dGFjaG1lbnQiLz4NCgkJPHVpdGV4dCBuYW1lPSJET0NXUkFQX01TRyIgdmFsdWU9IlNhdmUgdG8gTXkgQ29tcHV0ZXIiLz4NCgkJPHVpdGV4dCBuYW1lPSJET0NXUkFQX1BST01QVCIgdmFsdWU9IkNsaWNrIHRvIERvd25sb2FkIi8+DQoJPC9sYW5ndWFnZT4NCgk8bGFuZ3VhZ2UgaWQ9ImRl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ZvbGllICVuIi8+DQoJCTwhLS0gc3Vic3RpdHV0aW9uOiAlbiA9PSBzbGlkZSBudW1iZXIgLS0+DQoJCTwhLS0gc3Vic3RpdHV0aW9uOiAldCA9PSB0b3RhbCBzbGlkZSBjb3VudCAtLT4NCgkJPHVpdGV4dCBuYW1lPSJTQ1JVQkJBUlNUQVRVU19TTElERUlORk8iIHZhbHVlPSJGb2xpZSAlbiAvICV0IHwgIi8+DQoJCTx1aXRleHQgbmFtZT0iU0NSVUJCQVJTVEFUVVNfU1RPUFBFRCIgdmFsdWU9IkJlZW5kZXQiLz4NCgkJPHVpdGV4dCBuYW1lPSJTQ1JVQkJBUlNUQVRVU19QTEFZSU5HIiB2YWx1ZT0iV2llZGVyZ2FiZSIvPg0KCQk8dWl0ZXh0IG5hbWU9IlNDUlVCQkFSU1RBVFVTX05PQVVESU8iIHZhbHVlPSJLZWluIEF1ZGlvIi8+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DQoJCTx1aXRleHQgbmFtZT0iU0NSVUJCQVJTVEFUVVNfUkVWSUVXUVVJWiIgdmFsdWU9Ik5vY2htYWxzIGR1cmNoc2VoZW4iLz4NCgkJPCEtLSBzdWJzdGl0dXRpb246ICVtID09IG1pbnV0ZXMgcmVtYWluaW5nIC0tPg0KCQk8IS0tIHN1YnN0aXR1dGlvbjogJXMgPT0gc2Vjb25kcyByZW1haW5pbmcgLS0+DQoJCTx1aXRleHQgbmFtZT0iRUxBUFNFRCIgdmFsdWU9IlJlc3RkYXVlcjogJW0gTWludXRlbiAlcyBTZWt1bmRlbiIvPg0KCQk8dWl0ZXh0IG5hbWU9Ik5PVEZPVU5EIiB2YWx1ZT0iTmljaHRzIGdlZnVuZGVuIi8+DQoJCTx1aXRleHQgbmFtZT0iQVRUQUNITUVOVFMiIHZhbHVlPSJBbmxhZ2VuIi8+DQoJCTwhLS0gc3Vic3RpdHV0aW9uOiAlcCA9PSBjdXJyZW50IHNwZWFrZXIncyB0aXRsZSAtLT4NCgkJPHVpdGV4dCBuYW1lPSJCSU9XSU5fVElUTEUiIHZhbHVlPSJTcHJlY2hlcjogJXAiLz4NCgkJPHVpdGV4dCBuYW1lPSJCSU9CVE5fVElUTEUiIHZhbHVlPSJTcHJlY2hlciIvPg0KCQk8dWl0ZXh0IG5hbWU9IkRJVklERVJCVE5fVElUTEUiIHZhbHVlPSJ8Ii8+DQoJCTx1aXRleHQgbmFtZT0iQ09OVEFDVEJUTl9USVRMRSIgdmFsdWU9IktvbnRha3QiLz4NCgkJPHVpdGV4dCBuYW1lPSJUQUJfUVVJWiIgdmFsdWU9IlF1aXoiLz4NCgkJPHVpdGV4dCBuYW1lPSJUQUJfT1VUTElORSIgdmFsdWU9IlN0cnVrdHVyIi8+DQoJCTx1aXRleHQgbmFtZT0iVEFCX1RIVU1CIiB2YWx1ZT0iTWluaWF0dXIiLz4NCgkJPHVpdGV4dCBuYW1lPSJUQUJfTk9URVMiIHZhbHVlPSJOb3RpemVuIi8+DQoJCTx1aXRleHQgbmFtZT0iVEFCX1NFQVJDSCIgdmFsdWU9IlN1Y2hlbiIvPg0KCQk8dWl0ZXh0IG5hbWU9IlNMSURFX0hFQURJTkciIHZhbHVlPSJGb2xpZW50aXRlbCIvPg0KCQk8dWl0ZXh0IG5hbWU9IkRVUkFUSU9OX0hFQURJTkciIHZhbHVlPSJEYXVlciIvPg0KCQk8dWl0ZXh0IG5hbWU9IlNFQVJDSF9IRUFESU5HIiB2YWx1ZT0iVGV4dCBzdWNoZW46Ii8+DQoJCTx1aXRleHQgbmFtZT0iVEhVTUJfSEVBRElORyIgdmFsdWU9IkZvbGllIi8+DQoJCTx1aXRleHQgbmFtZT0iVEhVTUJfSU5GTyIgdmFsdWU9IkZvbGllbnRpdGVsL0RhdWVyIi8+DQoJCTx1aXRleHQgbmFtZT0iQVRUQUNITkFNRV9IRUFESU5HIiB2YWx1ZT0iRGF0ZWluYW1lIi8+DQoJCTx1aXRleHQgbmFtZT0iQVRUQUNIU0laRV9IRUFESU5HIiB2YWx1ZT0iR3LDtsOfZSIvPg0KCQk8dWl0ZXh0IG5hbWU9IlNMSURFX05PVEVTIiB2YWx1ZT0iRm9saWVubm90aXplbiIvPg0KCQk8IS0tcXVpeiBwb2QgYW5kIG1lc3NhZ2UgYm94IHRleHRzLS0+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DQoJCTx1aXRleHQgbmFtZT0iUVVJWlBPRF9RVUVTVFlQRV9TVlkiIHZhbHVlPSJVbWZyYWdlIi8+DQoJCTx1aXRleHQgbmFtZT0iUVVJWlBPRF9RVUlaQVRNUFRfSU5GIiB2YWx1ZT0iVW5lbmRsaWNoIi8+DQoJCTx1aXRleHQgbmFtZT0iUVVJWlBPRF9RVUVTQVRNUFRfSU5GIiB2YWx1ZT0iVW5lbmRsaWNoIi8+DQoJCTx1aXRleHQgbmFtZT0iV0FSTklOR01TR19ZRVNTVFJJTkciIHZhbHVlPSJKYSIvPg0KCQk8dWl0ZXh0IG5hbWU9IldBUk5JTkdNU0dfTk9TVFJJTkciIHZhbHVlPSJOZWluIi8+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EZW4gVGVpbG5laG1lcm4gZGllIFNlaXRlbmxlaXN0ZSBhbnplaWdlbiIvPg0KCQk8dWl0ZXh0IG5hbWU9Ik1VVEUiIHZhbHVlPSJBdXMiLz4NCgkJPHVpdGV4dCBuYW1lPSJET0NXUkFQX1RJVExFIiB2YWx1ZT0iUHJlc2VudGVyLUFuaGFuZyIvPg0KCQk8dWl0ZXh0IG5hbWU9IkRPQ1dSQVBfTVNHIiB2YWx1ZT0iQXVmIG1laW5lbSBBcmJlaXRzcGxhdHogc3BlaWNoZXJuIi8+DQoJCTx1aXRleHQgbmFtZT0iRE9DV1JBUF9QUk9NUFQiIHZhbHVlPSJadW0gSGVydW50ZXJsYWRlbiBrbGlja2VuIi8+DQoJPC9sYW5ndWFnZT4NCgk8bGFuZ3VhZ2UgaWQ9ImZy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lICVuIi8+DQoJCTwhLS0gc3Vic3RpdHV0aW9uOiAlbiA9PSBzbGlkZSBudW1iZXIgLS0+DQoJCTwhLS0gc3Vic3RpdHV0aW9uOiAldCA9PSB0b3RhbCBzbGlkZSBjb3VudCAtLT4NCgkJPHVpdGV4dCBuYW1lPSJTQ1JVQkJBUlNUQVRVU19TTElERUlORk8iIHZhbHVlPSJEaWFwb3NpdGl2ZSAlbiAvICV0IHwgIi8+DQoJCTx1aXRleHQgbmFtZT0iU0NSVUJCQVJTVEFUVVNfU1RPUFBFRCIgdmFsdWU9IkFycsOqdMOpZSIvPg0KCQk8dWl0ZXh0IG5hbWU9IlNDUlVCQkFSU1RBVFVTX1BMQVlJTkciIHZhbHVlPSJMZWN0dXJlIi8+DQoJCTx1aXRleHQgbmFtZT0iU0NSVUJCQVJTVEFUVVNfTk9BVURJTyIgdmFsdWU9IlBhcyBkZSBzb24iLz4NCgkJPHVpdGV4dCBuYW1lPSJTQ1JVQkJBUlNUQVRVU19WSURQTEFZSU5HIiB2YWx1ZT0iTGVjdHVyZSB2aWTDqW8gZW4gY291cnMiLz4NCgkJPHVpdGV4dCBuYW1lPSJTQ1JVQkJBUlNUQVRVU19MT0FESU5HIiB2YWx1ZT0iQ2hhcmdlbWVudCBlbiBjb3VycyIvPg0KCQk8dWl0ZXh0IG5hbWU9IlNDUlVCQkFSU1RBVFVTX0JVRkZFUklORyIgdmFsdWU9Ik1pc2UgZW4gbcOpbW9pcmUiLz4NCgkJPHVpdGV4dCBuYW1lPSJTQ1JVQkJBUlNUQVRVU19RVUVTVElPTiIgdmFsdWU9IlLDqXBvbmRyZSDDoCBsYSBxdWVzdGlvbiIvPg0KCQk8dWl0ZXh0IG5hbWU9IlNDUlVCQkFSU1RBVFVTX1JFVklFV1FVSVoiIHZhbHVlPSJSw6l2aXNpb24gZHUgcXVlc3Rpb25uYWlyZSIvPg0KCQk8IS0tIHN1YnN0aXR1dGlvbjogJW0gPT0gbWludXRlcyByZW1haW5pbmcgLS0+DQoJCTwhLS0gc3Vic3RpdHV0aW9uOiAlcyA9PSBzZWNvbmRzIHJlbWFpbmluZyAtLT4NCgkJPHVpdGV4dCBuYW1lPSJFTEFQU0VEIiB2YWx1ZT0iJW0gbWludXRlcyAlcyBzZWNvbmRlcyByZXN0YW50ZXMiLz4NCgkJPHVpdGV4dCBuYW1lPSJOT1RGT1VORCIgdmFsdWU9IlJpZW4gdHJvdXbDqSIvPg0KCQk8dWl0ZXh0IG5hbWU9IkFUVEFDSE1FTlRTIiB2YWx1ZT0iUGnDqGNlcyBqb2ludGVzIi8+DQoJCTwhLS0gc3Vic3RpdHV0aW9uOiAlcCA9PSBjdXJyZW50IHNwZWFrZXIncyB0aXRsZSAtLT4NCgkJPHVpdGV4dCBuYW1lPSJCSU9XSU5fVElUTEUiIHZhbHVlPSJCaW8gOiAlcCIvPg0KCQk8dWl0ZXh0IG5hbWU9IkJJT0JUTl9USVRMRSIgdmFsdWU9IkJpbyA6Ii8+DQoJCTx1aXRleHQgbmFtZT0iRElWSURFUkJUTl9USVRMRSIgdmFsdWU9InwiLz4NCgkJPHVpdGV4dCBuYW1lPSJDT05UQUNUQlROX1RJVExFIiB2YWx1ZT0iQ29udGFjdCIvPg0KCQk8dWl0ZXh0IG5hbWU9IlRBQl9RVUlaIiB2YWx1ZT0iUXVpeiIvPg0KCQk8dWl0ZXh0IG5hbWU9IlRBQl9PVVRMSU5FIiB2YWx1ZT0iUGxhbiIvPg0KCQk8dWl0ZXh0IG5hbWU9IlRBQl9USFVNQiIgdmFsdWU9IkRpYXBvcyIvPg0KCQk8dWl0ZXh0IG5hbWU9IlRBQl9OT1RFUyIgdmFsdWU9Ik5vdGVzIi8+DQoJCTx1aXRleHQgbmFtZT0iVEFCX1NFQVJDSCIgdmFsdWU9IlJlY2hlcmNoZSIvPg0KCQk8dWl0ZXh0IG5hbWU9IlNMSURFX0hFQURJTkciIHZhbHVlPSJUaXRyZSBkZSBsYSBkaWFwb3NpdGl2ZSIvPg0KCQk8dWl0ZXh0IG5hbWU9IkRVUkFUSU9OX0hFQURJTkciIHZhbHVlPSJEdXLDqWUiLz4NCgkJPHVpdGV4dCBuYW1lPSJTRUFSQ0hfSEVBRElORyIgdmFsdWU9IlJlY2hlcmNoZSBkZSB0ZXh0ZSA6Ii8+DQoJCTx1aXRleHQgbmFtZT0iVEhVTUJfSEVBRElORyIgdmFsdWU9IkRpYXBvc2l0aXZlIi8+DQoJCTx1aXRleHQgbmFtZT0iVEhVTUJfSU5GTyIgdmFsdWU9IlRpdHJlL2R1csOpZSIvPg0KCQk8dWl0ZXh0IG5hbWU9IkFUVEFDSE5BTUVfSEVBRElORyIgdmFsdWU9Ik5vbSBkZSBmaWNoaWVyIi8+DQoJCTx1aXRleHQgbmFtZT0iQVRUQUNIU0laRV9IRUFESU5HIiB2YWx1ZT0iVGFpbGxlIi8+DQoJCTx1aXRleHQgbmFtZT0iU0xJREVfTk9URVMiIHZhbHVlPSJDb21tZW50YWlyZXMgZGVzIGRpYXBvc2l0aXZlcyIvPg0KCQk8IS0tcXVpeiBwb2QgYW5kIG1lc3NhZ2UgYm94IHRleHRzLS0+DQoJCTx1aXRleHQgbmFtZT0iUVVJWlBPRF9RVUlaX0FUVEVNUFQiIHZhbHVlPSJUZW50YXRpdmUgZGUgcXVlc3Rpb25uYWlyZSA6Ii8+DQoJCTx1aXRleHQgbmFtZT0iUVVJWlBPRF9RVUlaX0FUVEVNUFRfVkFMVUUiIHZhbHVlPSIlbiBzdXIgJXQiLz4NCgkJPHVpdGV4dCBuYW1lPSJRVUlaUE9EX1FVSVpfU0NPUkUiIHZhbHVlPSJOb3RlIG9idGVudWUgOiIvPg0KCQk8dWl0ZXh0IG5hbWU9IlFVSVpQT0RfUVVJWl9QQVNTU0NPUkUiIHZhbHVlPSJOb3RlIGQnYWRtaXNzaWJpbGl0w6nCoDoiLz4NCgkJPHVpdGV4dCBuYW1lPSJRVUlaUE9EX1FVSVpfTUFYU0NPUkUiIHZhbHVlPSJOb3RlIG1heGltYWxlIDoiLz4NCgkJPHVpdGV4dCBuYW1lPSJRVUlaUE9EX1FVRVNBVE1QVF9TVFIiIHZhbHVlPSJUZW50YXRpdmUgOiAlbiBzdXIgJXQiLz4NCgkJPHVpdGV4dCBuYW1lPSJRVUlaUE9EX1FVRVNUWVBFX1NUUiIgdmFsdWU9IlR5cGU6ICVzIi8+DQoJCTx1aXRleHQgbmFtZT0iUVVJWlBPRF9RVUVTVFlQRV9HUkQiIHZhbHVlPSJOb3TDqSIvPg0KCQk8dWl0ZXh0IG5hbWU9IlFVSVpQT0RfUVVFU1RZUEVfU1ZZIiB2YWx1ZT0iRW5xdcOqdGUiLz4NCgkJPHVpdGV4dCBuYW1lPSJRVUlaUE9EX1FVSVpBVE1QVF9JTkYiIHZhbHVlPSJJbGxpbWl0w6kiLz4NCgkJPHVpdGV4dCBuYW1lPSJRVUlaUE9EX1FVRVNBVE1QVF9JTkYiIHZhbHVlPSJJbGxpbWl0w6kiLz4NCgkJPHVpdGV4dCBuYW1lPSJXQVJOSU5HTVNHX1lFU1NUUklORyIgdmFsdWU9Ik91aSIvPg0KCQk8dWl0ZXh0IG5hbWU9IldBUk5JTkdNU0dfTk9TVFJJTkciIHZhbHVlPSJOb24iLz4NCgkJPHVpdGV4dCBuYW1lPSJXQVJOSU5HTVNHX1RJVExFU1RSSU5HIiB2YWx1ZT0iQXZlcnRpc3NlbWVudCBkZSBuYXZpZ2F0aW9uIGR1IHF1ZXN0aW9ubmFpcmUiLz4NCgkJPHVpdGV4dCBuYW1lPSJXQVJOSU5HTVNHX01TR1NUUklORyIgdmFsdWU9IlZvdXMgbidhdmV6IHBhcyByw6lwb25kdSDDoCBjZXJ0YWluZXMgcXVlc3Rpb25zIGRlIGNlIHF1ZXN0aW9ubmFpcmUuJiN4QTsmI3hBO1NpIHZvdXMgY2xpcXVleiBzdXIgT3VpLCB2b3VzIHF1aXR0ZXJleiBsZSBxdWVzdGlvbm5haXJlLiBDbGlxdWV6IHN1ciBOb24gcG91ciBjb250aW51ZXIgbGUgcXVlc3Rpb25uYWlyZS4iLz4NCgkJPHVpdGV4dCBuYW1lPSJJTkZPUk1BVElPTl9IMjY0X0ZMQVNIUExBWUVSIiB2YWx1ZT0iTGEgdmVyc2lvbiBkZSBGbGFzaCBQbGF5ZXIgYWN0dWVsbGVtZW50IGluc3RhbGzDqWUgc3VyIHZvdHJlIG1hY2hpbmUgbmUgcHJlbmQgcGFzIGVuIGNoYXJnZSBjZSB0eXBlIGRlIHZpZMOpby4gQ2xpcXVleiBzdXIgbGEgem9uZSB2aWTDqW8gcG91ciB0w6lsw6ljaGFyZ2VyIGxhIGRlcm5pw6hyZSB2ZXJzaW9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TW9udHJlciBsJ2VuY2FkcsOpIGF1eCBwYXJ0aWNpcGFudHMiLz4NCgkJPHVpdGV4dCBuYW1lPSJNVVRFIiB2YWx1ZT0iTXVldCIvPg0KCQk8dWl0ZXh0IG5hbWU9IkRPQ1dSQVBfVElUTEUiIHZhbHVlPSJQacOoY2Ugam9pbnRlIFByZXNlbnRlciIvPg0KCQk8dWl0ZXh0IG5hbWU9IkRPQ1dSQVBfTVNHIiB2YWx1ZT0iRW5yZWdpc3RyZXIgc3VyIG1vbiBvcmRpbmF0ZXVyIi8+DQoJCTx1aXRleHQgbmFtZT0iRE9DV1JBUF9QUk9NUFQiIHZhbHVlPSJDbGlxdWVyIHBvdXIgdMOpbMOpY2hhcmdlciIvPg0KCTwvbGFuZ3VhZ2U+DQoJPGxhbmd1YWdlIGlkPSJqYS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w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44K544Op44Kk44OJIDogJW4iLz4NCgkJPCEtLSBzdWJzdGl0dXRpb246ICVuID09IHNsaWRlIG51bWJlciAtLT4NCgkJPCEtLSBzdWJzdGl0dXRpb246ICV0ID09IHRvdGFsIHNsaWRlIGNvdW50IC0tPg0KCQk8dWl0ZXh0IG5hbWU9IlNDUlVCQkFSU1RBVFVTX1NMSURFSU5GTyIgdmFsdWU9IuOCueODqeOCpOODiSA6ICVuIC8gJXQgfCAiLz4NCgkJPHVpdGV4dCBuYW1lPSJTQ1JVQkJBUlNUQVRVU19TVE9QUEVEIiB2YWx1ZT0i5YGc5q2iIi8+DQoJCTx1aXRleHQgbmFtZT0iU0NSVUJCQVJTVEFUVVNfUExBWUlORyIgdmFsdWU9IuWGjeeUn+S4rSIvPg0KCQk8dWl0ZXh0IG5hbWU9IlNDUlVCQkFSU1RBVFVTX05PQVVESU8iIHZhbHVlPSLpn7Plo7DjgarjgZciLz4NCgkJPHVpdGV4dCBuYW1lPSJTQ1JVQkJBUlNUQVRVU19WSURQTEFZSU5HIiB2YWx1ZT0i44OT44OH44Kq5YaN55Sf5LitIi8+DQoJCTx1aXRleHQgbmFtZT0iU0NSVUJCQVJTVEFUVVNfTE9BRElORyIgdmFsdWU9IuODreODvOODieS4rSIvPg0KCQk8dWl0ZXh0IG5hbWU9IlNDUlVCQkFSU1RBVFVTX0JVRkZFUklORyIgdmFsdWU9IuODkOODg+ODleOCoeS4rSIvPg0KCQk8dWl0ZXh0IG5hbWU9IlNDUlVCQkFSU1RBVFVTX1FVRVNUSU9OIiB2YWx1ZT0i6LOq5ZWP44Gr562U44GI44Gm5LiL44GV44GEIi8+DQoJCTx1aXRleHQgbmFtZT0iU0NSVUJCQVJTVEFUVVNfUkVWSUVXUVVJWiIgdmFsdWU9IuOCr+OCpOOCuuOCkuODrOODk+ODpeODvOOBl+OBpuOBhOOBvuOBmSIvPg0KCQk8IS0tIHN1YnN0aXR1dGlvbjogJW0gPT0gbWludXRlcyByZW1haW5pbmcgLS0+DQoJCTwhLS0gc3Vic3RpdHV0aW9uOiAlcyA9PSBzZWNvbmRzIHJlbWFpbmluZyAtLT4NCgkJPHVpdGV4dCBuYW1lPSJFTEFQU0VEIiB2YWx1ZT0i5q6L44KKIDogJW0g5YiGICVzIOenkiIvPg0KCQk8dWl0ZXh0IG5hbWU9Ik5PVEZPVU5EIiB2YWx1ZT0i5L2V44KC6KaL44Gk44GL44KK44G+44Gb44KTIi8+DQoJCTx1aXRleHQgbmFtZT0iQVRUQUNITUVOVFMiIHZhbHVlPSLmt7vku5giLz4NCgkJPCEtLSBzdWJzdGl0dXRpb246ICVwID09IGN1cnJlbnQgc3BlYWtlcidzIHRpdGxlIC0tPg0KCQk8dWl0ZXh0IG5hbWU9IkJJT1dJTl9USVRMRSIgdmFsdWU9Iue1jOattCA6ICVwIi8+DQoJCTx1aXRleHQgbmFtZT0iQklPQlROX1RJVExFIiB2YWx1ZT0i57WM5q20Ii8+DQoJCTx1aXRleHQgbmFtZT0iRElWSURFUkJUTl9USVRMRSIgdmFsdWU9InwiLz4NCgkJPHVpdGV4dCBuYW1lPSJDT05UQUNUQlROX1RJVExFIiB2YWx1ZT0i44GK5ZWP44GE5ZCI44KP44GbIi8+DQoJCTx1aXRleHQgbmFtZT0iVEFCX1FVSVoiIHZhbHVlPSLjgq/jgqTjgroiLz4NCgkJPHVpdGV4dCBuYW1lPSJUQUJfT1VUTElORSIgdmFsdWU9IuOCouOCpuODiOODqeOCpOODsyIvPg0KCQk8dWl0ZXh0IG5hbWU9IlRBQl9USFVNQiIgdmFsdWU9IuOCteODoOODjeODvOODqyIvPg0KCQk8dWl0ZXh0IG5hbWU9IlRBQl9OT1RFUyIgdmFsdWU9IuODjuODvOODiCIvPg0KCQk8dWl0ZXh0IG5hbWU9IlRBQl9TRUFSQ0giIHZhbHVlPSLmpJzntKIiLz4NCgkJPHVpdGV4dCBuYW1lPSJTTElERV9IRUFESU5HIiB2YWx1ZT0i44K544Op44Kk44OJ44K/44Kk44OI44OrIi8+DQoJCTx1aXRleHQgbmFtZT0iRFVSQVRJT05fSEVBRElORyIgdmFsdWU9IumVt+OBlSIvPg0KCQk8dWl0ZXh0IG5hbWU9IlNFQVJDSF9IRUFESU5HIiB2YWx1ZT0i5qSc57Si44GZ44KL44OG44Kt44K544OIIDogIi8+DQoJCTx1aXRleHQgbmFtZT0iVEhVTUJfSEVBRElORyIgdmFsdWU9IuOCueODqeOCpOODiSIvPg0KCQk8dWl0ZXh0IG5hbWU9IlRIVU1CX0lORk8iIHZhbHVlPSLjgrnjg6njgqTjg4njgr/jgqTjg4jjg6sgLyDplbfjgZUiLz4NCgkJPHVpdGV4dCBuYW1lPSJBVFRBQ0hOQU1FX0hFQURJTkciIHZhbHVlPSLjg5XjgqHjgqTjg6vlkI0iLz4NCgkJPHVpdGV4dCBuYW1lPSJBVFRBQ0hTSVpFX0hFQURJTkciIHZhbHVlPSLjgrXjgqTjgroiLz4NCgkJPHVpdGV4dCBuYW1lPSJTTElERV9OT1RFUyIgdmFsdWU9IuOCueODqeOCpOODieODjuODvOODiCIvPg0KCQk8IS0tcXVpeiBwb2QgYW5kIG1lc3NhZ2UgYm94IHRleHRzLS0+DQoJCTx1aXRleHQgbmFtZT0iUVVJWlBPRF9RVUlaX0FUVEVNUFQiIHZhbHVlPSLjgq/jgqTjgrroqabooYzlm57mlbAgOiAiLz4NCgkJPHVpdGV4dCBuYW1lPSJRVUlaUE9EX1FVSVpfQVRURU1QVF9WQUxVRSIgdmFsdWU9IiVuIC8gJXQiLz4NCgkJPHVpdGV4dCBuYW1lPSJRVUlaUE9EX1FVSVpfU0NPUkUiIHZhbHVlPSLjgrnjgrPjgqIgOiAiLz4NCgkJPHVpdGV4dCBuYW1lPSJRVUlaUE9EX1FVSVpfUEFTU1NDT1JFIiB2YWx1ZT0i5ZCI5qC854K5IDoiLz4NCgkJPHVpdGV4dCBuYW1lPSJRVUlaUE9EX1FVSVpfTUFYU0NPUkUiIHZhbHVlPSLmnIDpq5jlvpfngrkgOiAiLz4NCgkJPHVpdGV4dCBuYW1lPSJRVUlaUE9EX1FVRVNBVE1QVF9TVFIiIHZhbHVlPSLoqabooYzlm57mlbAgOiAlbiAvICV0Ii8+DQoJCTx1aXRleHQgbmFtZT0iUVVJWlBPRF9RVUVTVFlQRV9TVFIiIHZhbHVlPSLjgr/jgqTjg5cgOiAlcyIvPg0KCQk8dWl0ZXh0IG5hbWU9IlFVSVpQT0RfUVVFU1RZUEVfR1JEIiB2YWx1ZT0i6KmV5L6hIi8+DQoJCTx1aXRleHQgbmFtZT0iUVVJWlBPRF9RVUVTVFlQRV9TVlkiIHZhbHVlPSLjgqLjg7PjgrHjg7zjg4giLz4NCgkJPHVpdGV4dCBuYW1lPSJRVUlaUE9EX1FVSVpBVE1QVF9JTkYiIHZhbHVlPSLnhKHliLbpmZAiLz4NCgkJPHVpdGV4dCBuYW1lPSJRVUlaUE9EX1FVRVNBVE1QVF9JTkYiIHZhbHVlPSLnhKHliLbpmZAiLz4NCgkJPHVpdGV4dCBuYW1lPSJXQVJOSU5HTVNHX1lFU1NUUklORyIgdmFsdWU9IuOBr+OBhCIvPg0KCQk8dWl0ZXh0IG5hbWU9IldBUk5JTkdNU0dfTk9TVFJJTkciIHZhbHVlPSLjgYTjgYTjgYgiLz4NCgkJPHVpdGV4dCBuYW1lPSJXQVJOSU5HTVNHX1RJVExFU1RSSU5HIiB2YWx1ZT0i44Kv44Kk44K644Gu44OK44OT44Ky44O844K344On44Oz44Gr6Zai44GZ44KL6K2m5ZGKIi8+DQoJCTx1aXRleHQgbmFtZT0iV0FSTklOR01TR19NU0dTVFJJTkciIHZhbHVlPSLjgZPjga7jgq/jgqTjgrrjgavjga/jgIHjgb7jgaDop6PnrZTjgZfjgabjgYTjgarjgYTos6rllY/jgYzjgYLjgorjgb7jgZnjgIImI3hBOyYjeEE7IOOCr+OCpOOCuuOCkue1guS6huOBmeOCi+OBq+OBr+OAgeOAjOOBr+OBhOOAjeOCkuOCr+ODquODg+OCr+OBl+OBvuOBmeOAguOCr+OCpOOCuuOCkue2muihjOOBmeOCi+OBq+OBr+OAgeOAjOOBhOOBhOOBiOOAjeOCkuOCr+ODquODg+OCr+OBl+OBvuOBmeOAgiIvPg0KCQk8dWl0ZXh0IG5hbWU9IklORk9STUFUSU9OX0gyNjRfRkxBU0hQTEFZRVIiIHZhbHVlPSLjgYrkvb/jgYTjga7jgrPjg7Pjg5Tjg6Xjg7zjgr/jgavnj77lnKjjgqTjg7Pjgrnjg4jjg7zjg6vjgZXjgozjgabjgYTjgosgRmxhc2ggUGxheWVyIOOBruODkOODvOOCuOODp+ODs+OBr+OAgeOBk+OBruODk+ODh+OCquOCkuOCteODneODvOODiOOBl+OBpuOBhOOBvuOBm+OCk+OAguacgOaWsOOBriBGbGFzaCBQbGF5ZXIg44KS44OA44Km44Oz44Ot44O844OJ44GZ44KL44Gr44Gv44CB44OT44OH44Kq6aCY5Z+f44KS44Kv44Oq44OD44Kv44GX44Gm44GP44Gg44GV44GE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OCteOCpOODieODkOODvOOCkuWPguWKoOiAheOBq+imi+OBm+OCiyIvPg0KCQk8dWl0ZXh0IG5hbWU9Ik1VVEUiIHZhbHVlPSLjg5/jg6Xjg7zjg4giLz4NCgkJPHVpdGV4dCBuYW1lPSJET0NXUkFQX1RJVExFIiB2YWx1ZT0iUHJlc2VudGVyIOa3u+S7mOODleOCoeOCpOODqyIvPg0KCQk8dWl0ZXh0IG5hbWU9IkRPQ1dSQVBfTVNHIiB2YWx1ZT0i44Oe44Kk44Kz44Oz44OU44Ol44O844K/44Gr5L+d5a2YIi8+DQoJCTx1aXRleHQgbmFtZT0iRE9DV1JBUF9QUk9NUFQiIHZhbHVlPSLjgq/jg6rjg4Pjgq/jgZfjgabjg4Djgqbjg7Pjg63jg7zjg4kiLz4NCgk8L2xhbmd1YWdlPg0KCTxsYW5ndWFnZSBpZD0ia28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S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S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uyKrOudvOydtOuTnCAlbiIvPg0KCQk8IS0tIHN1YnN0aXR1dGlvbjogJW4gPT0gc2xpZGUgbnVtYmVyIC0tPg0KCQk8IS0tIHN1YnN0aXR1dGlvbjogJXQgPT0gdG90YWwgc2xpZGUgY291bnQgLS0+DQoJCTx1aXRleHQgbmFtZT0iU0NSVUJCQVJTVEFUVVNfU0xJREVJTkZPIiB2YWx1ZT0i7Iqs65287J2065OcICVuIC8gJXQgfCAiLz4NCgkJPHVpdGV4dCBuYW1lPSJTQ1JVQkJBUlNUQVRVU19TVE9QUEVEIiB2YWx1ZT0i7KSR7KeA65CoIi8+DQoJCTx1aXRleHQgbmFtZT0iU0NSVUJCQVJTVEFUVVNfUExBWUlORyIgdmFsdWU9IuyerOyDnSIvPg0KCQk8dWl0ZXh0IG5hbWU9IlNDUlVCQkFSU1RBVFVTX05PQVVESU8iIHZhbHVlPSLsmKTrlJTsmKQg7JeG7J2MIi8+DQoJCTx1aXRleHQgbmFtZT0iU0NSVUJCQVJTVEFUVVNfVklEUExBWUlORyIgdmFsdWU9Iuu5hOuUlOyYpCDsnqzsg50g7KSRIi8+DQoJCTx1aXRleHQgbmFtZT0iU0NSVUJCQVJTVEFUVVNfTE9BRElORyIgdmFsdWU9IuuhnOuUqSIvPg0KCQk8dWl0ZXh0IG5hbWU9IlNDUlVCQkFSU1RBVFVTX0JVRkZFUklORyIgdmFsdWU9IuuyhO2NvOungSIvPg0KCQk8dWl0ZXh0IG5hbWU9IlNDUlVCQkFSU1RBVFVTX1FVRVNUSU9OIiB2YWx1ZT0i7KeI66y47JeQIOuLte2VmOq4sCIvPg0KCQk8dWl0ZXh0IG5hbWU9IlNDUlVCQkFSU1RBVFVTX1JFVklFV1FVSVoiIHZhbHVlPSLsp4jrrLgg64uk7Iuc67O06riwIi8+DQoJCTwhLS0gc3Vic3RpdHV0aW9uOiAlbSA9PSBtaW51dGVzIHJlbWFpbmluZyAtLT4NCgkJPCEtLSBzdWJzdGl0dXRpb246ICVzID09IHNlY29uZHMgcmVtYWluaW5nIC0tPg0KCQk8dWl0ZXh0IG5hbWU9IkVMQVBTRUQiIHZhbHVlPSIlbeu2hCAlc+y0iCDrgqjsnYwiLz4NCgkJPHVpdGV4dCBuYW1lPSJOT1RGT1VORCIgdmFsdWU9IuyXhuydjCIvPg0KCQk8dWl0ZXh0IG5hbWU9IkFUVEFDSE1FTlRTIiB2YWx1ZT0i7LKo67aAIO2MjOydvCIvPg0KCQk8IS0tIHN1YnN0aXR1dGlvbjogJXAgPT0gY3VycmVudCBzcGVha2VyJ3MgdGl0bGUgLS0+DQoJCTx1aXRleHQgbmFtZT0iQklPV0lOX1RJVExFIiB2YWx1ZT0i6rK966ClIOyGjOqwnDogJXAiLz4NCgkJPHVpdGV4dCBuYW1lPSJCSU9CVE5fVElUTEUiIHZhbHVlPSLqsr3roKUg7IaM6rCcIi8+DQoJCTx1aXRleHQgbmFtZT0iRElWSURFUkJUTl9USVRMRSIgdmFsdWU9InwiLz4NCgkJPHVpdGV4dCBuYW1lPSJDT05UQUNUQlROX1RJVExFIiB2YWx1ZT0i7Jew65297LKYIi8+DQoJCTx1aXRleHQgbmFtZT0iVEFCX1FVSVoiIHZhbHVlPSLtgLTspogiLz4NCgkJPHVpdGV4dCBuYW1lPSJUQUJfT1VUTElORSIgdmFsdWU9IuqwnOyalCIvPg0KCQk8dWl0ZXh0IG5hbWU9IlRBQl9USFVNQiIgdmFsdWU9Iuy2leyGjO2MkCIvPg0KCQk8dWl0ZXh0IG5hbWU9IlRBQl9OT1RFUyIgdmFsdWU9IuuFuO2KuCIvPg0KCQk8dWl0ZXh0IG5hbWU9IlRBQl9TRUFSQ0giIHZhbHVlPSLqsoDsg4kiLz4NCgkJPHVpdGV4dCBuYW1lPSJTTElERV9IRUFESU5HIiB2YWx1ZT0i7Iqs65287J2065OcIOygnOuqqSIvPg0KCQk8dWl0ZXh0IG5hbWU9IkRVUkFUSU9OX0hFQURJTkciIHZhbHVlPSLsnqzsg53si5zqsIQiLz4NCgkJPHVpdGV4dCBuYW1lPSJTRUFSQ0hfSEVBRElORyIgdmFsdWU9Iu2FjeyKpO2KuCDqsoDsg4k6Ii8+DQoJCTx1aXRleHQgbmFtZT0iVEhVTUJfSEVBRElORyIgdmFsdWU9IuyKrOudvOydtOuTnCIvPg0KCQk8dWl0ZXh0IG5hbWU9IlRIVU1CX0lORk8iIHZhbHVlPSLsoJzrqqkv7J6s7IOd7Iuc6rCEIi8+DQoJCTx1aXRleHQgbmFtZT0iQVRUQUNITkFNRV9IRUFESU5HIiB2YWx1ZT0i7YyM7J28IOydtOumhCIvPg0KCQk8dWl0ZXh0IG5hbWU9IkFUVEFDSFNJWkVfSEVBRElORyIgdmFsdWU9Iu2BrOq4sCIvPg0KCQk8dWl0ZXh0IG5hbWU9IlNMSURFX05PVEVTIiB2YWx1ZT0i7Iqs65287J2065OcIOuFuO2KuCIvPg0KCQk8IS0tcXVpeiBwb2QgYW5kIG1lc3NhZ2UgYm94IHRleHRzLS0+DQoJCTx1aXRleHQgbmFtZT0iUVVJWlBPRF9RVUlaX0FUVEVNUFQiIHZhbHVlPSLtgLTspogg7Iuc64+EIO2an+yImDoiLz4NCgkJPHVpdGV4dCBuYW1lPSJRVUlaUE9EX1FVSVpfQVRURU1QVF9WQUxVRSIgdmFsdWU9IiVuLyV0Ii8+DQoJCTx1aXRleHQgbmFtZT0iUVVJWlBPRF9RVUlaX1NDT1JFIiB2YWx1ZT0i65Od7KCQOiIvPg0KCQk8dWl0ZXh0IG5hbWU9IlFVSVpQT0RfUVVJWl9QQVNTU0NPUkUiIHZhbHVlPSLthrXqs7wg7KCQ7IiYOiIvPg0KCQk8dWl0ZXh0IG5hbWU9IlFVSVpQT0RfUVVJWl9NQVhTQ09SRSIgdmFsdWU9Iuy1nOqzoCDsoJDsiJg6Ii8+DQoJCTx1aXRleHQgbmFtZT0iUVVJWlBPRF9RVUVTQVRNUFRfU1RSIiB2YWx1ZT0i7Iuc64+EIO2an+yImDogJW4vJXQiLz4NCgkJPHVpdGV4dCBuYW1lPSJRVUlaUE9EX1FVRVNUWVBFX1NUUiIgdmFsdWU9IuycoO2YlTogJXMiLz4NCgkJPHVpdGV4dCBuYW1lPSJRVUlaUE9EX1FVRVNUWVBFX0dSRCIgdmFsdWU9IuygkOyImCDrp6TquLDquLAg7JmE66OMIi8+DQoJCTx1aXRleHQgbmFtZT0iUVVJWlBPRF9RVUVTVFlQRV9TVlkiIHZhbHVlPSLshKTrrLgg7KGw7IKsIi8+DQoJCTx1aXRleHQgbmFtZT0iUVVJWlBPRF9RVUlaQVRNUFRfSU5GIiB2YWx1ZT0i66y07ZWcIi8+DQoJCTx1aXRleHQgbmFtZT0iUVVJWlBPRF9RVUVTQVRNUFRfSU5GIiB2YWx1ZT0i66y07ZWcIi8+DQoJCTx1aXRleHQgbmFtZT0iV0FSTklOR01TR19ZRVNTVFJJTkciIHZhbHVlPSLsmIgiLz4NCgkJPHVpdGV4dCBuYW1lPSJXQVJOSU5HTVNHX05PU1RSSU5HIiB2YWx1ZT0i7JWE64uI7JikIi8+DQoJCTx1aXRleHQgbmFtZT0iV0FSTklOR01TR19USVRMRVNUUklORyIgdmFsdWU9Iu2AtOymiCDrgrTruYTqsozsnbTshZgg6rK96rOgIi8+DQoJCTx1aXRleHQgbmFtZT0iV0FSTklOR01TR19NU0dTVFJJTkciIHZhbHVlPSLsnbQg7YC07KaI7JeQ7IScIOyLnOuPhO2VmOyngCDslYrsnYAg7KeI66y47J20IOyeiOyKteuLiOuLpC4mI3hBOyYjeEE77YC07KaI66W8IOyiheujjO2VmOugpOuptCBb7JiIXeulvCDtgbTrpq3tlZjqs6AsIO2AtOymiOulvCDqs4Tsho3tlZjroKTrqbQgW+yVhOuLiOyYpF3rpbwg7YG066at7ZWY7Iut7Iuc7JikLiIvPg0KCQk8dWl0ZXh0IG5hbWU9IklORk9STUFUSU9OX0gyNjRfRkxBU0hQTEFZRVIiIHZhbHVlPSLsi5zsiqTthZzsl5Ag7ISk7LmY65CY7Ja0IOyeiOuKlCDtmITsnqwg67KE7KCE7J2YIEZsYXNoIFBsYXllcuuKlCDsnbQg67mE65SU7Jik66W8IOyngOybkO2VmOyngCDslYrsirXri4jri6QuIOy1nOyLoCBGbGFzaCBQbGF5ZXLrpbwg64uk7Jq066Gc65Oc7ZWY66Ck66m0IOu5hOuUlOyYpCDsmIHsl63snYQg7YG066at7ZWY7Iut7Iuc7Jik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ssLjsl6zsnpDsl5Dqsowg7IS466GcIOunieuMgCDrs7TsnbTquLAiLz4NCgkJPHVpdGV4dCBuYW1lPSJNVVRFIiB2YWx1ZT0i7J2M7IaM6rGwIi8+DQoJCTx1aXRleHQgbmFtZT0iRE9DV1JBUF9USVRMRSIgdmFsdWU9IlByZXNlbnRlciDtjIzsnbwg7LKo67aAIi8+DQoJCTx1aXRleHQgbmFtZT0iRE9DV1JBUF9NU0ciIHZhbHVlPSLrgrQg7Lu07ZOo7YSw7JeQIOyggOyepSIvPg0KCQk8dWl0ZXh0IG5hbWU9IkRPQ1dSQVBfUFJPTVBUIiB2YWx1ZT0i7YG066at7ZWY7JesIOuLpOyatOuhnOuTnCIvPg0KCTwvbGFuZ3VhZ2U+DQoJPGxhbmd1YWdlIGlkPSJlcy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EZXRlbmlkYSIvPg0KCQk8dWl0ZXh0IG5hbWU9IlNDUlVCQkFSU1RBVFVTX1BMQVlJTkciIHZhbHVlPSJSZXByb2R1Y2llbmRvIi8+DQoJCTx1aXRleHQgbmFtZT0iU0NSVUJCQVJTVEFUVVNfTk9BVURJTyIgdmFsdWU9IlNpbiBzb25pZG8iLz4NCgkJPHVpdGV4dCBuYW1lPSJTQ1JVQkJBUlNUQVRVU19WSURQTEFZSU5HIiB2YWx1ZT0iVsOtZGVvIGVuIHJlcHJvZC4iLz4NCgkJPHVpdGV4dCBuYW1lPSJTQ1JVQkJBUlNUQVRVU19MT0FESU5HIiB2YWx1ZT0iQ2FyZ2FuZG8iLz4NCgkJPHVpdGV4dCBuYW1lPSJTQ1JVQkJBUlNUQVRVU19CVUZGRVJJTkciIHZhbHVlPSJBbG1hY2VuYW5kbyBlbiBiw7pmZXIiLz4NCgkJPHVpdGV4dCBuYW1lPSJTQ1JVQkJBUlNUQVRVU19RVUVTVElPTiIgdmFsdWU9IkNvbnRlc3RhciBwcmVndW50YSIvPg0KCQk8dWl0ZXh0IG5hbWU9IlNDUlVCQkFSU1RBVFVTX1JFVklFV1FVSVoiIHZhbHVlPSJSZXZpc2FuZG8gcHJ1ZWJhIi8+DQoJCTwhLS0gc3Vic3RpdHV0aW9uOiAlbSA9PSBtaW51dGVzIHJlbWFpbmluZyAtLT4NCgkJPCEtLSBzdWJzdGl0dXRpb246ICVzID09IHNlY29uZHMgcmVtYWluaW5nIC0tPg0KCQk8dWl0ZXh0IG5hbWU9IkVMQVBTRUQiIHZhbHVlPSIlbSBtaW51dG9zICVzIHNlZ3VuZG9zIHJlc3RhbnRlcyIvPg0KCQk8dWl0ZXh0IG5hbWU9Ik5PVEZPVU5EIiB2YWx1ZT0iTm8gc2UgaGEgZW5jb250cmFkbyBuYWRhIi8+DQoJCTx1aXRleHQgbmFtZT0iQVRUQUNITUVOVFMiIHZhbHVlPSJBcmNoaXZvcyBhZGp1bnRvcyIvPg0KCQk8IS0tIHN1YnN0aXR1dGlvbjogJXAgPT0gY3VycmVudCBzcGVha2VyJ3MgdGl0bGUgLS0+DQoJCTx1aXRleHQgbmFtZT0iQklPV0lOX1RJVExFIiB2YWx1ZT0iQmlvZ3JhZsOtYTogJXAiLz4NCgkJPHVpdGV4dCBuYW1lPSJCSU9CVE5fVElUTEUiIHZhbHVlPSJCaW9ncmFmw61hIi8+DQoJCTx1aXRleHQgbmFtZT0iRElWSURFUkJUTl9USVRMRSIgdmFsdWU9InwiLz4NCgkJPHVpdGV4dCBuYW1lPSJDT05UQUNUQlROX1RJVExFIiB2YWx1ZT0iQ29udGFjdG8iLz4NCgkJPHVpdGV4dCBuYW1lPSJUQUJfUVVJWiIgdmFsdWU9IlBydWViYSIvPg0KCQk8dWl0ZXh0IG5hbWU9IlRBQl9PVVRMSU5FIiB2YWx1ZT0iQ29udG9ybm8iLz4NCgkJPHVpdGV4dCBuYW1lPSJUQUJfVEhVTUIiIHZhbHVlPSJNaW5pYXQuIi8+DQoJCTx1aXRleHQgbmFtZT0iVEFCX05PVEVTIiB2YWx1ZT0iTm90YXMiLz4NCgkJPHVpdGV4dCBuYW1lPSJUQUJfU0VBUkNIIiB2YWx1ZT0iQnVzY2FyIi8+DQoJCTx1aXRleHQgbmFtZT0iU0xJREVfSEVBRElORyIgdmFsdWU9IlTDrXR1bG8gZGUgZGlhcG9zaXRpdmEiLz4NCgkJPHVpdGV4dCBuYW1lPSJEVVJBVElPTl9IRUFESU5HIiB2YWx1ZT0iRHVyYWMuIi8+DQoJCTx1aXRleHQgbmFtZT0iU0VBUkNIX0hFQURJTkciIHZhbHVlPSJCdXNjYXIgdGV4dG86Ii8+DQoJCTx1aXRleHQgbmFtZT0iVEhVTUJfSEVBRElORyIgdmFsdWU9IkRpYXBvc2l0aXZhIi8+DQoJCTx1aXRleHQgbmFtZT0iVEhVTUJfSU5GTyIgdmFsdWU9IkR1ci4vVMOtdC4gZGlhcC4iLz4NCgkJPHVpdGV4dCBuYW1lPSJBVFRBQ0hOQU1FX0hFQURJTkciIHZhbHVlPSJOb21icmUgZGUgYXJjaGl2byIvPg0KCQk8dWl0ZXh0IG5hbWU9IkFUVEFDSFNJWkVfSEVBRElORyIgdmFsdWU9IlRhbWHDsW8iLz4NCgkJPHVpdGV4dCBuYW1lPSJTTElERV9OT1RFUyIgdmFsdWU9Ik5vdGFzIGRlIGRpYXBvc2l0aXZhIi8+DQoJCTwhLS1xdWl6IHBvZCBhbmQgbWVzc2FnZSBib3ggdGV4dHMtLT4NCgkJPHVpdGV4dCBuYW1lPSJRVUlaUE9EX1FVSVpfQVRURU1QVCIgdmFsdWU9IkludGVudG8gZGUgcHJ1ZWJhOiIvPg0KCQk8dWl0ZXh0IG5hbWU9IlFVSVpQT0RfUVVJWl9BVFRFTVBUX1ZBTFVFIiB2YWx1ZT0iJW4gZGUgJXQiLz4NCgkJPHVpdGV4dCBuYW1lPSJRVUlaUE9EX1FVSVpfU0NPUkUiIHZhbHVlPSJQdW50dWFjacOzbjoiLz4NCgkJPHVpdGV4dCBuYW1lPSJRVUlaUE9EX1FVSVpfUEFTU1NDT1JFIiB2YWx1ZT0iUHVudHVhY2nDs24gcGFyYSBhcHJvYmFyOiIvPg0KCQk8dWl0ZXh0IG5hbWU9IlFVSVpQT0RfUVVJWl9NQVhTQ09SRSIgdmFsdWU9IlB1bnR1YWNpw7NuIG3DoXhpbWE6Ii8+DQoJCTx1aXRleHQgbmFtZT0iUVVJWlBPRF9RVUVTQVRNUFRfU1RSIiB2YWx1ZT0iSW50ZW50b3M6ICVuIGRlICV0Ii8+DQoJCTx1aXRleHQgbmFtZT0iUVVJWlBPRF9RVUVTVFlQRV9TVFIiIHZhbHVlPSJUaXBvOiAlcyIvPg0KCQk8dWl0ZXh0IG5hbWU9IlFVSVpQT0RfUVVFU1RZUEVfR1JEIiB2YWx1ZT0iQ29uIHB1bnR1YWNpw7NuIi8+DQoJCTx1aXRleHQgbmFtZT0iUVVJWlBPRF9RVUVTVFlQRV9TVlkiIHZhbHVlPSJFbmN1ZXN0YSIvPg0KCQk8dWl0ZXh0IG5hbWU9IlFVSVpQT0RfUVVJWkFUTVBUX0lORiIgdmFsdWU9IkluZmluaXRvIi8+DQoJCTx1aXRleHQgbmFtZT0iUVVJWlBPRF9RVUVTQVRNUFRfSU5GIiB2YWx1ZT0iSW5maW5pdG8iLz4NCgkJPHVpdGV4dCBuYW1lPSJXQVJOSU5HTVNHX1lFU1NUUklORyIgdmFsdWU9IlPDrSIvPg0KCQk8dWl0ZXh0IG5hbWU9IldBUk5JTkdNU0dfTk9TVFJJTkciIHZhbHVlPSJObyIvPg0KCQk8dWl0ZXh0IG5hbWU9IldBUk5JTkdNU0dfVElUTEVTVFJJTkciIHZhbHVlPSJBdmlzbyBkZSBuYXZlZ2FjacOzbiBkZSBwcnVlYmEiLz4NCgkJPHVpdGV4dCBuYW1lPSJXQVJOSU5HTVNHX01TR1NUUklORyIgdmFsdWU9IkhheSBwcmVndW50YXMgc2luIGludGVudG9zIGVuIGVzdGEgcHJ1ZWJhLiYjeEE7JiN4QTtQYXJhIHNhbGlyIGRlIGxhIHBydWViYSwgaGFnYSBjbGljIGVuIFPDrS4gUGFyYSBjb250aW51YXIsIGhhZ2EgY2xpYyBlbiBOby4iLz4NCgkJPHVpdGV4dCBuYW1lPSJJTkZPUk1BVElPTl9IMjY0X0ZMQVNIUExBWUVSIiB2YWx1ZT0iTGEgdmVyc2nDs24gYWN0dWFsIGRlIEZsYXNoIFBsYXllciBpbnN0YWxhZGEgZW4gZWwgb3JkZW5hZG9yIG5vIGVzIGNvbXBhdGlibGUgY29uIGVzdGUgdsOtZGVvLiBIYWdhIGNsaWMgZW4gZWwgw6FyZWEgZGUgdsOtZGVvIHBhcmEgZGVzY2FyZ2FyIGxhIMO6bHRpbWEgdmVyc2nDs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6ICVwIi8+DQoJCTwhLS0gc3Vic3RpdHV0aW9uOiAlcCA9PSBwcmVzZW50YXRpb24gdGl0bGUgLS0+DQoJCTwhLS0gc3Vic3RpdHV0aW9uOiAlcyA9PSBzbGlkZSB0aXRsZSAtLT4NCgkJPCEtLSBzdWJzdGl0dXRpb246ICVuID09IHNsaWRlIG51bWJlciAtLT4NCgkJPHVpdGV4dCBuYW1lPSJCT09LTUFSS1NMSURFIiB2YWx1ZT0iQWRvYmUgUHJlc2VudGVyOiAlcCAlcyIvPg0KCQk8dWl0ZXh0IG5hbWU9IlNIT1dTSURFQkFSIiB2YWx1ZT0iTW9zdHJhciBiYXJyYSBsYXRlcmFsIGEgbG9zIHBhcnRpY2lwYW50ZXMiLz4NCgkJPHVpdGV4dCBuYW1lPSJNVVRFIiB2YWx1ZT0iU2lsZW5jaWFyIi8+DQoJCTx1aXRleHQgbmFtZT0iRE9DV1JBUF9USVRMRSIgdmFsdWU9IkFyY2hpdm8gYWRqdW50byBkZSBQcmVzZW50ZXIiLz4NCgkJPHVpdGV4dCBuYW1lPSJET0NXUkFQX01TRyIgdmFsdWU9Ikd1YXJkYXIgZW4gTWkgUEMiLz4NCgkJPHVpdGV4dCBuYW1lPSJET0NXUkFQX1BST01QVCIgdmFsdWU9IkhhZ2EgY2xpYyBlbiBEZXNjYXJnYXIiLz4NCgk8L2xhbmd1YWdlPg0KCTxsYW5ndWFnZSBpZD0icHQ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whLS1xdWl6IHBvZCBhbmQgbWVzc2FnZSBib3ggdGV4dHMtLT4NCgkJPHVpdGV4dCBuYW1lPSJRVUlaUE9EX1FVSVpfQVRURU1QVCIgdmFsdWU9IlRlbnRhdGl2YSBubyBxdWVzdGlvbsOhcmlvOiIvPg0KCQk8dWl0ZXh0IG5hbWU9IlFVSVpQT0RfUVVJWl9BVFRFTVBUX1ZBTFVFIiB2YWx1ZT0iJW4gZGUgJXQiLz4NCgkJPHVpdGV4dCBuYW1lPSJRVUlaUE9EX1FVSVpfU0NPUkUiIHZhbHVlPSJQb250dWHDp8OjbzoiLz4NCgkJPHVpdGV4dCBuYW1lPSJRVUlaUE9EX1FVSVpfUEFTU1NDT1JFIiB2YWx1ZT0iUG9udHVhw6fDo28gZGUgYXByb3Zhw6fDo286Ii8+DQoJCTx1aXRleHQgbmFtZT0iUVVJWlBPRF9RVUlaX01BWFNDT1JFIiB2YWx1ZT0iUG9udHVhw6fDo28gbcOheGltYToiLz4NCgkJPHVpdGV4dCBuYW1lPSJRVUlaUE9EX1FVRVNBVE1QVF9TVFIiIHZhbHVlPSJUZW50YXRpdmE6ICVuIGRlICV0Ii8+DQoJCTx1aXRleHQgbmFtZT0iUVVJWlBPRF9RVUVTVFlQRV9TVFIiIHZhbHVlPSJUaXBvOiAlcyIvPg0KCQk8dWl0ZXh0IG5hbWU9IlFVSVpQT0RfUVVFU1RZUEVfR1JEIiB2YWx1ZT0iQ2xhc3NpZmljYXTDs3JpYSIvPg0KCQk8dWl0ZXh0IG5hbWU9IlFVSVpQT0RfUVVFU1RZUEVfU1ZZIiB2YWx1ZT0iUGVzcXVpc2EiLz4NCgkJPHVpdGV4dCBuYW1lPSJRVUlaUE9EX1FVSVpBVE1QVF9JTkYiIHZhbHVlPSJJbmZpbml0byIvPg0KCQk8dWl0ZXh0IG5hbWU9IlFVSVpQT0RfUVVFU0FUTVBUX0lORiIgdmFsdWU9IkluZmluaXRvIi8+DQoJCTx1aXRleHQgbmFtZT0iV0FSTklOR01TR19ZRVNTVFJJTkciIHZhbHVlPSJTaW0iLz4NCgkJPHVpdGV4dCBuYW1lPSJXQVJOSU5HTVNHX05PU1RSSU5HIiB2YWx1ZT0iTsOjbyIvPg0KCQk8dWl0ZXh0IG5hbWU9IldBUk5JTkdNU0dfVElUTEVTVFJJTkciIHZhbHVlPSJBbGVydGEgZGUgbmF2ZWdhw6fDo28gZG8gcXVlc3Rpb27DoXJpbyIvPg0KCQk8dWl0ZXh0IG5hbWU9IldBUk5JTkdNU0dfTVNHU1RSSU5HIiB2YWx1ZT0iRXhpc3RlbSBwZXJndW50YXMgcXVlIG7Do28gZm9yYW0gcmVzcG9uZGlkYXMgbmVzdGUgcXVlc3Rpb27DoXJpby4mI3hBOyYjeEE7Q2xpcXVlIGVtIFNpbSBwYXJhIHNhaXIgZG8gcXVlc3Rpb27DoXJpbyBvdSBlbSBOw6NvIHNlIHF1aXNlciBjb250aW51YXIuIi8+DQoJCTx1aXRleHQgbmFtZT0iSU5GT1JNQVRJT05fSDI2NF9GTEFTSFBMQVlFUiIgdmFsdWU9IkEgdmVyc8OjbyBhdHVhbCBkbyBGbGFzaCBQbGF5ZXIgaW5zdGFsYWRhIG5vIGNvbXB1dGFkb3IgbsOjbyBvZmVyZWNlIHN1cG9ydGUgYSBlc3NlIHbDrWRlby4gQ2xpcXVlIG5hIMOhcmVhIGRvIHbDrWRlbyBwYXJhIGJhaXhhciBhIHZlcnPDo28gbWFpcyByZWNlbnRlIGRv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TW9zdHJhciBiYXJyYSBsYXRlcmFsIGFvIHBhcnRpY2lwYW50ZXMiLz4NCgkJPHVpdGV4dCBuYW1lPSJNVVRFIiB2YWx1ZT0iTXVkbyIvPg0KCQk8dWl0ZXh0IG5hbWU9IkRPQ1dSQVBfVElUTEUiIHZhbHVlPSJBbmV4byBkZSBhcnF1aXZvIGRvIFByZXNlbnRlciIvPg0KCQk8dWl0ZXh0IG5hbWU9IkRPQ1dSQVBfTVNHIiB2YWx1ZT0iU2FsdmFyIGVtIE1ldSBjb21wdXRhZG9yIi8+DQoJCTx1aXRleHQgbmFtZT0iRE9DV1JBUF9QUk9NUFQiIHZhbHVlPSJDbGlxdWUgcGFyYSBiYWl4YXIiLz4NCgk8L2xhbmd1YWdlPg0KCTxsYW5ndWFnZSBpZD0iaXQ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SW50ZXJyb3R0byIvPg0KCQk8dWl0ZXh0IG5hbWU9IlNDUlVCQkFSU1RBVFVTX1BMQVlJTkciIHZhbHVlPSJSaXByb2R1emlvbmUiLz4NCgkJPHVpdGV4dCBuYW1lPSJTQ1JVQkJBUlNUQVRVU19OT0FVRElPIiB2YWx1ZT0iQXVkaW8gaW5hdHQuIi8+DQoJCTx1aXRleHQgbmFtZT0iU0NSVUJCQVJTVEFUVVNfVklEUExBWUlORyIgdmFsdWU9IlZpZGVvIGluIHJpcHJvZHV6aW9uZSIvPg0KCQk8dWl0ZXh0IG5hbWU9IlNDUlVCQkFSU1RBVFVTX0xPQURJTkciIHZhbHVlPSJDYXJpY2FtZW50byIvPg0KCQk8dWl0ZXh0IG5hbWU9IlNDUlVCQkFSU1RBVFVTX0JVRkZFUklORyIgdmFsdWU9IkJ1ZmZlcmluZyIvPg0KCQk8dWl0ZXh0IG5hbWU9IlNDUlVCQkFSU1RBVFVTX1FVRVNUSU9OIiB2YWx1ZT0iUmlzcG9uZGkgYSBkb21hbmRhIi8+DQoJCTx1aXRleHQgbmFtZT0iU0NSVUJCQVJTVEFUVVNfUkVWSUVXUVVJWiIgdmFsdWU9IlJldmlzaW9uZSBkZWwgcXVpeiIvPg0KCQk8IS0tIHN1YnN0aXR1dGlvbjogJW0gPT0gbWludXRlcyByZW1haW5pbmcgLS0+DQoJCTwhLS0gc3Vic3RpdHV0aW9uOiAlcyA9PSBzZWNvbmRzIHJlbWFpbmluZyAtLT4NCgkJPHVpdGV4dCBuYW1lPSJFTEFQU0VEIiB2YWx1ZT0iJW0gTWludXRpICVzIFNlY29uZGkgcmltYW5lbnRpIi8+DQoJCTx1aXRleHQgbmFtZT0iTk9URk9VTkQiIHZhbHVlPSJOZXNzdW4gZWxlbWVudG8gdHJvdmF0byIvPg0KCQk8dWl0ZXh0IG5hbWU9IkFUVEFDSE1FTlRTIiB2YWx1ZT0iQWxsZWdhdGk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LiIvPg0KCQk8dWl0ZXh0IG5hbWU9IlRBQl9RVUlaIiB2YWx1ZT0iUXVpeiIvPg0KCQk8dWl0ZXh0IG5hbWU9IlRBQl9PVVRMSU5FIiB2YWx1ZT0iU3RydXR0dXJhIi8+DQoJCTx1aXRleHQgbmFtZT0iVEFCX1RIVU1CIiB2YWx1ZT0iTWluaWF0dXJlIi8+DQoJCTx1aXRleHQgbmFtZT0iVEFCX05PVEVTIiB2YWx1ZT0iTm90ZSIvPg0KCQk8dWl0ZXh0IG5hbWU9IlRBQl9TRUFSQ0giIHZhbHVlPSJDZXJjYSIvPg0KCQk8dWl0ZXh0IG5hbWU9IlNMSURFX0hFQURJTkciIHZhbHVlPSJUaXRvbG8gZGlhcG9zaXRpdmEiLz4NCgkJPHVpdGV4dCBuYW1lPSJEVVJBVElPTl9IRUFESU5HIiB2YWx1ZT0iRHVyYXRhIi8+DQoJCTx1aXRleHQgbmFtZT0iU0VBUkNIX0hFQURJTkciIHZhbHVlPSJDZXJjYSB0ZXN0bzoiLz4NCgkJPHVpdGV4dCBuYW1lPSJUSFVNQl9IRUFESU5HIiB2YWx1ZT0iRGlhcG9zaXRpdmEiLz4NCgkJPHVpdGV4dCBuYW1lPSJUSFVNQl9JTkZPIiB2YWx1ZT0iVGl0b2xvL1RlbXBvIi8+DQoJCTx1aXRleHQgbmFtZT0iQVRUQUNITkFNRV9IRUFESU5HIiB2YWx1ZT0iTm9tZSBmaWxlIi8+DQoJCTx1aXRleHQgbmFtZT0iQVRUQUNIU0laRV9IRUFESU5HIiB2YWx1ZT0iRGltZW5zaW9uZSIvPg0KCQk8dWl0ZXh0IG5hbWU9IlNMSURFX05PVEVTIiB2YWx1ZT0iTm90ZSBkaWFwb3NpdGl2YSIvPg0KCQk8IS0tcXVpeiBwb2QgYW5kIG1lc3NhZ2UgYm94IHRleHRzLS0+DQoJCTx1aXRleHQgbmFtZT0iUVVJWlBPRF9RVUlaX0FUVEVNUFQiIHZhbHVlPSJUZW50YXRpdm8gcXVpejoiLz4NCgkJPHVpdGV4dCBuYW1lPSJRVUlaUE9EX1FVSVpfQVRURU1QVF9WQUxVRSIgdmFsdWU9IiVuIGRpICV0Ii8+DQoJCTx1aXRleHQgbmFtZT0iUVVJWlBPRF9RVUlaX1NDT1JFIiB2YWx1ZT0iUHVudGVnZ2lvOiIvPg0KCQk8dWl0ZXh0IG5hbWU9IlFVSVpQT0RfUVVJWl9QQVNTU0NPUkUiIHZhbHVlPSJQdW50ZWdnaW8gbWluaW1vOiIvPg0KCQk8dWl0ZXh0IG5hbWU9IlFVSVpQT0RfUVVJWl9NQVhTQ09SRSIgdmFsdWU9IlB1bnRlZ2dpbyBtYXNzaW1vOiIvPg0KCQk8dWl0ZXh0IG5hbWU9IlFVSVpQT0RfUVVFU0FUTVBUX1NUUiIgdmFsdWU9IlRlbnRhdGl2bzogJW4gZGkgJXQiLz4NCgkJPHVpdGV4dCBuYW1lPSJRVUlaUE9EX1FVRVNUWVBFX1NUUiIgdmFsdWU9IlRpcG86ICVzIi8+DQoJCTx1aXRleHQgbmFtZT0iUVVJWlBPRF9RVUVTVFlQRV9HUkQiIHZhbHVlPSJDb24gdmFsdXRhemlvbmUiLz4NCgkJPHVpdGV4dCBuYW1lPSJRVUlaUE9EX1FVRVNUWVBFX1NWWSIgdmFsdWU9IkluZGFnaW5lIi8+DQoJCTx1aXRleHQgbmFtZT0iUVVJWlBPRF9RVUlaQVRNUFRfSU5GIiB2YWx1ZT0iSW5maW5pdGkiLz4NCgkJPHVpdGV4dCBuYW1lPSJRVUlaUE9EX1FVRVNBVE1QVF9JTkYiIHZhbHVlPSJJbmZpbml0aSIvPg0KCQk8dWl0ZXh0IG5hbWU9IldBUk5JTkdNU0dfWUVTU1RSSU5HIiB2YWx1ZT0iU8OsIi8+DQoJCTx1aXRleHQgbmFtZT0iV0FSTklOR01TR19OT1NUUklORyIgdmFsdWU9Ik5vIi8+DQoJCTx1aXRleHQgbmFtZT0iV0FSTklOR01TR19USVRMRVNUUklORyIgdmFsdWU9IkF2dmVydGVuemEgbmF2aWdhemlvbmUgcXVpeiIvPg0KCQk8dWl0ZXh0IG5hbWU9IldBUk5JTkdNU0dfTVNHU1RSSU5HIiB2YWx1ZT0iT2Njb3JyZSBhbmNvcmEgcmlzcG9uZGVyZSBhZCBhbGN1bmUgZG9tYW5kZSBkZWwgcXVpei4mI3hBOyYjeEE7U2UgZmF0ZSBjbGljIHN1IFPDrCwgdXNjaXJldGUgZGFsIHF1aXouIEZhdGUgY2xpYyBzdSBObyBwZXIgY29udGludWFyZSBpbCBxdWl6LiIvPg0KCQk8dWl0ZXh0IG5hbWU9IklORk9STUFUSU9OX0gyNjRfRkxBU0hQTEFZRVIiIHZhbHVlPSJMYSB2ZXJzaW9uZSBkaSBGbGFzaCBQbGF5ZXIgYXR0dWFsbWVudGUgaW5zdGFsbGF0YSBub24gc3VwcG9ydGEgcXVlc3RvIHZpZGVvLiBGYXRlIGNsaWMgc3VsbCdhcmVhIGRlbCB2aWRlbyBwZXIgc2NhcmljYXJlIGwndWx0aW1hIHZlcnNpb25lIGRp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TW9zdHJhIGJhcnJhIGxhdGVyYWxlIGFpIHBhcnRlY2lwYW50aSIvPg0KCQk8dWl0ZXh0IG5hbWU9Ik1VVEUiIHZhbHVlPSJEaXNhdHRpdmEgYXVkaW8iLz4NCgkJPHVpdGV4dCBuYW1lPSJET0NXUkFQX1RJVExFIiB2YWx1ZT0iQWxsZWdhdG8gZmlsZSBQcmVzZW50ZXIiLz4NCgkJPHVpdGV4dCBuYW1lPSJET0NXUkFQX01TRyIgdmFsdWU9IlNhbHZhIGluIFJpc29yc2UgZGVsIGNvbXB1dGVyIi8+DQoJCTx1aXRleHQgbmFtZT0iRE9DV1JBUF9QUk9NUFQiIHZhbHVlPSJDbGljIHBlciBzY2FyaWNhcmUiLz4NCgk8L2xhbmd1YWdlPg0KCTxsYW5ndWFnZSBpZD0ibmw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ICVuIi8+DQoJCTwhLS0gc3Vic3RpdHV0aW9uOiAlbiA9PSBzbGlkZSBudW1iZXIgLS0+DQoJCTwhLS0gc3Vic3RpdHV0aW9uOiAldCA9PSB0b3RhbCBzbGlkZSBjb3VudCAtLT4NCgkJPHVpdGV4dCBuYW1lPSJTQ1JVQkJBUlNUQVRVU19TTElERUlORk8iIHZhbHVlPSJEaWEgJW4gLyAldCB8ICIvPg0KCQk8dWl0ZXh0IG5hbWU9IlNDUlVCQkFSU1RBVFVTX1NUT1BQRUQiIHZhbHVlPSJHZXN0b3B0Ii8+DQoJCTx1aXRleHQgbmFtZT0iU0NSVUJCQVJTVEFUVVNfUExBWUlORyIgdmFsdWU9IkFmc3BlbGVuIi8+DQoJCTx1aXRleHQgbmFtZT0iU0NSVUJCQVJTVEFUVVNfTk9BVURJTyIgdmFsdWU9IkdlZW4gYXVkaW8iLz4NCgkJPHVpdGV4dCBuYW1lPSJTQ1JVQkJBUlNUQVRVU19WSURQTEFZSU5HIiB2YWx1ZT0iVmlkZW8gYWZzcGVsZW4iLz4NCgkJPHVpdGV4dCBuYW1lPSJTQ1JVQkJBUlNUQVRVU19MT0FESU5HIiB2YWx1ZT0iTGFkZW4iLz4NCgkJPHVpdGV4dCBuYW1lPSJTQ1JVQkJBUlNUQVRVU19CVUZGRVJJTkciIHZhbHVlPSJCdWZmZXJlbiIvPg0KCQk8dWl0ZXh0IG5hbWU9IlNDUlVCQkFSU1RBVFVTX1FVRVNUSU9OIiB2YWx1ZT0iVnJhYWcgbWV0IGFudHdvb3JkIi8+DQoJCTx1aXRleHQgbmFtZT0iU0NSVUJCQVJTVEFUVVNfUkVWSUVXUVVJWiIgdmFsdWU9IlF1aXogY29udHJvbGVyZW4iLz4NCgkJPCEtLSBzdWJzdGl0dXRpb246ICVtID09IG1pbnV0ZXMgcmVtYWluaW5nIC0tPg0KCQk8IS0tIHN1YnN0aXR1dGlvbjogJXMgPT0gc2Vjb25kcyByZW1haW5pbmcgLS0+DQoJCTx1aXRleHQgbmFtZT0iRUxBUFNFRCIgdmFsdWU9IkVyIHJlc3RlcmVuICVtIG1pbnV0ZW4gJXMgc2Vjb25kZW4iLz4NCgkJPHVpdGV4dCBuYW1lPSJOT1RGT1VORCIgdmFsdWU9Ik5pZXRzIGdldm9uZGVuIi8+DQoJCTx1aXRleHQgbmFtZT0iQVRUQUNITUVOVFMiIHZhbHVlPSJCaWpsYWdlbiIvPg0KCQk8IS0tIHN1YnN0aXR1dGlvbjogJXAgPT0gY3VycmVudCBzcGVha2VyJ3MgdGl0bGUgLS0+DQoJCTx1aXRleHQgbmFtZT0iQklPV0lOX1RJVExFIiB2YWx1ZT0iQmlvZ3JhZmllOiAlcCIvPg0KCQk8dWl0ZXh0IG5hbWU9IkJJT0JUTl9USVRMRSIgdmFsdWU9IkJpb2dyYWZpZSIvPg0KCQk8dWl0ZXh0IG5hbWU9IkRJVklERVJCVE5fVElUTEUiIHZhbHVlPSJ8Ii8+DQoJCTx1aXRleHQgbmFtZT0iQ09OVEFDVEJUTl9USVRMRSIgdmFsdWU9IkNvbnRhY3QiLz4NCgkJPHVpdGV4dCBuYW1lPSJUQUJfUVVJWiIgdmFsdWU9IlF1aXoiLz4NCgkJPHVpdGV4dCBuYW1lPSJUQUJfT1VUTElORSIgdmFsdWU9Ik92ZXJ6aWNodCIvPg0KCQk8dWl0ZXh0IG5hbWU9IlRBQl9USFVNQiIgdmFsdWU9Ik1pbmlhdHV1ciIvPg0KCQk8dWl0ZXh0IG5hbWU9IlRBQl9OT1RFUyIgdmFsdWU9Ik5vdGl0aWVzIi8+DQoJCTx1aXRleHQgbmFtZT0iVEFCX1NFQVJDSCIgdmFsdWU9IlpvZWtlbiIvPg0KCQk8dWl0ZXh0IG5hbWU9IlNMSURFX0hFQURJTkciIHZhbHVlPSJUaXRlbCB2YW4gZGlhIi8+DQoJCTx1aXRleHQgbmFtZT0iRFVSQVRJT05fSEVBRElORyIgdmFsdWU9IkR1dXIiLz4NCgkJPHVpdGV4dCBuYW1lPSJTRUFSQ0hfSEVBRElORyIgdmFsdWU9IlpvZWtlbiBuYWFyIHRla3N0OiIvPg0KCQk8dWl0ZXh0IG5hbWU9IlRIVU1CX0hFQURJTkciIHZhbHVlPSJEaWEiLz4NCgkJPHVpdGV4dCBuYW1lPSJUSFVNQl9JTkZPIiB2YWx1ZT0iVGl0ZWwvZHV1ciB2YW4gZGlhIi8+DQoJCTx1aXRleHQgbmFtZT0iQVRUQUNITkFNRV9IRUFESU5HIiB2YWx1ZT0iQmVzdGFuZHNuYWFtIi8+DQoJCTx1aXRleHQgbmFtZT0iQVRUQUNIU0laRV9IRUFESU5HIiB2YWx1ZT0iR3Jvb3R0ZSIvPg0KCQk8dWl0ZXh0IG5hbWU9IlNMSURFX05PVEVTIiB2YWx1ZT0iRGlhbm90aXRpZXM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CEtLXF1aXogcG9kIGFuZCBtZXNzYWdlIGJveCB0ZXh0cy0tPg0KCQk8dWl0ZXh0IG5hbWU9IlFVSVpQT0RfUVVJWl9BVFRFTVBUIiB2YWx1ZT0i5rWL6aqM5bCd6K+V5qyh5pWwOiIvPg0KCQk8dWl0ZXh0IG5hbWU9IlFVSVpQT0RfUVVJWl9BVFRFTVBUX1ZBTFVFIiB2YWx1ZT0i56ysICVuIOasoe+8jOWFsSAldCDmrKEiLz4NCgkJPHVpdGV4dCBuYW1lPSJRVUlaUE9EX1FVSVpfU0NPUkUiIHZhbHVlPSLlvpfliIY6Ii8+DQoJCTx1aXRleHQgbmFtZT0iUVVJWlBPRF9RVUlaX1BBU1NTQ09SRSIgdmFsdWU9IuWPiuagvOWIhuaVsDoiLz4NCgkJPHVpdGV4dCBuYW1lPSJRVUlaUE9EX1FVSVpfTUFYU0NPUkUiIHZhbHVlPSLmnIDpq5jliIbmlbA6Ii8+DQoJCTx1aXRleHQgbmFtZT0iUVVJWlBPRF9RVUVTQVRNUFRfU1RSIiB2YWx1ZT0i5bCd6K+V5qyh5pWwOiDnrKwgJW4g5qyh77yM5YWxICV0IOasoSIvPg0KCQk8dWl0ZXh0IG5hbWU9IlFVSVpQT0RfUVVFU1RZUEVfU1RSIiB2YWx1ZT0i57G75Z6LOiAlcyIvPg0KCQk8dWl0ZXh0IG5hbWU9IlFVSVpQT0RfUVVFU1RZUEVfR1JEIiB2YWx1ZT0i6K+E57qnIi8+DQoJCTx1aXRleHQgbmFtZT0iUVVJWlBPRF9RVUVTVFlQRV9TVlkiIHZhbHVlPSLosIPmn6UiLz4NCgkJPHVpdGV4dCBuYW1lPSJRVUlaUE9EX1FVSVpBVE1QVF9JTkYiIHZhbHVlPSLml6DpmZAiLz4NCgkJPHVpdGV4dCBuYW1lPSJRVUlaUE9EX1FVRVNBVE1QVF9JTkYiIHZhbHVlPSLml6DpmZAiLz4NCgkJPHVpdGV4dCBuYW1lPSJXQVJOSU5HTVNHX1lFU1NUUklORyIgdmFsdWU9IuaYryIvPg0KCQk8dWl0ZXh0IG5hbWU9IldBUk5JTkdNU0dfTk9TVFJJTkciIHZhbHVlPSLlkKYiLz4NCgkJPHVpdGV4dCBuYW1lPSJXQVJOSU5HTVNHX1RJVExFU1RSSU5HIiB2YWx1ZT0i5rWL6aqM5a+86Iiq6K2m5ZGKIi8+DQoJCTx1aXRleHQgbmFtZT0iV0FSTklOR01TR19NU0dTVFJJTkciIHZhbHVlPSLmraTmtYvpqozkuK3mnInmnKrlsJ3or5XkvZznrZTnmoTpl67popjjgIImI3hBOyYjeEE75Y2V5Ye74oCc5piv4oCd6YCA5Ye65q2k5rWL6aqM44CC5Y2V5Ye74oCc5ZCm4oCd57un57ut5rWL6aqM44CCIi8+DQoJCTx1aXRleHQgbmFtZT0iSU5GT1JNQVRJT05fSDI2NF9GTEFTSFBMQVlFUiIgdmFsdWU9IuW9k+WJjeWuieijheWcqOaCqOeahOiuoeeul+acuuS4iueahCBGbGFzaCBQbGF5ZXIg54mI5pys5LiN5pSv5oyB6K+l6KeG6aKR44CC5Y2V5Ye76KeG6aKR5Yy65Z+f5LiL6L295pyA5paw54mI5pys55qEIEZsYXNoIFBsYXllcuOAg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lkJHlj4LliqDogIXmmL7npLrmj5DopoHmoI8iLz4NCgkJPHVpdGV4dCBuYW1lPSJNVVRFIiB2YWx1ZT0i6Z2Z6Z+zIi8+DQoJCTx1aXRleHQgbmFtZT0iRE9DV1JBUF9USVRMRSIgdmFsdWU9IlByZXNlbnRlciDmlofku7bpmYTku7YiLz4NCgkJPHVpdGV4dCBuYW1lPSJET0NXUkFQX01TRyIgdmFsdWU9IuS/neWtmOWIsOaIkeeahOiuoeeul+acuiIvPg0KCQk8dWl0ZXh0IG5hbWU9IkRPQ1dSQVBfUFJPTVBUIiB2YWx1ZT0i5Y2V5Ye75Lul5LiL6L29Ii8+DQoJPC9sYW5ndWFnZT4NCgk8bGFuZ3VhZ2UgaWQ9InRy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YXl0ICVuIi8+DQoJCTwhLS0gc3Vic3RpdHV0aW9uOiAlbiA9PSBzbGlkZSBudW1iZXIgLS0+DQoJCTwhLS0gc3Vic3RpdHV0aW9uOiAldCA9PSB0b3RhbCBzbGlkZSBjb3VudCAtLT4NCgkJPHVpdGV4dCBuYW1lPSJTQ1JVQkJBUlNUQVRVU19TTElERUlORk8iIHZhbHVlPSJTbGF5dCAlbiAvICV0IHwgIi8+DQoJCTx1aXRleHQgbmFtZT0iU0NSVUJCQVJTVEFUVVNfU1RPUFBFRCIgdmFsdWU9IkR1cmR1cnVsZHUiLz4NCgkJPHVpdGV4dCBuYW1lPSJTQ1JVQkJBUlNUQVRVU19QTEFZSU5HIiB2YWx1ZT0iT3luYXTEsWzEsXlvciIvPg0KCQk8dWl0ZXh0IG5hbWU9IlNDUlVCQkFSU1RBVFVTX05PQVVESU8iIHZhbHVlPSJTZXMgWW9rIi8+DQoJCTx1aXRleHQgbmFtZT0iU0NSVUJCQVJTVEFUVVNfVklEUExBWUlORyIgdmFsdWU9IlZpZGVvIE95bmF0xLFsxLF5b3IiLz4NCgkJPHVpdGV4dCBuYW1lPSJTQ1JVQkJBUlNUQVRVU19MT0FESU5HIiB2YWx1ZT0iWcO8a2xlbml5b3IiLz4NCgkJPHVpdGV4dCBuYW1lPSJTQ1JVQkJBUlNUQVRVU19CVUZGRVJJTkciIHZhbHVlPSJBcmFiZWxsZcSfZSBBbMSxbsSxeW9yIi8+DQoJCTx1aXRleHQgbmFtZT0iU0NSVUJCQVJTVEFUVVNfUVVFU1RJT04iIHZhbHVlPSJTb3J1eXUgWWFuxLF0bGEiLz4NCgkJPHVpdGV4dCBuYW1lPSJTQ1JVQkJBUlNUQVRVU19SRVZJRVdRVUlaIiB2YWx1ZT0iU8SxbmF2IMSwbmNlbGVuaXlvciIvPg0KCQk8IS0tIHN1YnN0aXR1dGlvbjogJW0gPT0gbWludXRlcyByZW1haW5pbmcgLS0+DQoJCTwhLS0gc3Vic3RpdHV0aW9uOiAlcyA9PSBzZWNvbmRzIHJlbWFpbmluZyAtLT4NCgkJPHVpdGV4dCBuYW1lPSJFTEFQU0VEIiB2YWx1ZT0iJW0gRGFraWthICVzIFNhbml5ZSBLYWxkxLEiLz4NCgkJPHVpdGV4dCBuYW1lPSJOT1RGT1VORCIgdmFsdWU9IkhlcmhhbmdpIEJpciDFnmV5IEJ1bHVubWFkxLEiLz4NCgkJPHVpdGV4dCBuYW1lPSJBVFRBQ0hNRU5UUyIgdmFsdWU9IkVrbGVy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xLBydGliYXQiLz4NCgkJPHVpdGV4dCBuYW1lPSJUQUJfUVVJWiIgdmFsdWU9IlPEsW5hdiIvPg0KCQk8dWl0ZXh0IG5hbWU9IlRBQl9PVVRMSU5FIiB2YWx1ZT0iQW5hIEhhdCIvPg0KCQk8dWl0ZXh0IG5hbWU9IlRBQl9USFVNQiIgdmFsdWU9IlJlc2ltIi8+DQoJCTx1aXRleHQgbmFtZT0iVEFCX05PVEVTIiB2YWx1ZT0iTm90bGFyIi8+DQoJCTx1aXRleHQgbmFtZT0iVEFCX1NFQVJDSCIgdmFsdWU9IkFyYSIvPg0KCQk8dWl0ZXh0IG5hbWU9IlNMSURFX0hFQURJTkciIHZhbHVlPSJTbGF5dCBCYcWfbMSxxJ/EsSIvPg0KCQk8dWl0ZXh0IG5hbWU9IkRVUkFUSU9OX0hFQURJTkciIHZhbHVlPSJTw7xyZSIvPg0KCQk8dWl0ZXh0IG5hbWU9IlNFQVJDSF9IRUFESU5HIiB2YWx1ZT0iTWV0bmkgYXJhOiIvPg0KCQk8dWl0ZXh0IG5hbWU9IlRIVU1CX0hFQURJTkciIHZhbHVlPSJTbGF5dCIvPg0KCQk8dWl0ZXh0IG5hbWU9IlRIVU1CX0lORk8iIHZhbHVlPSJTbGF5dCBCYcWfbMSxxJ/EsS9Tw7xyZXNpIi8+DQoJCTx1aXRleHQgbmFtZT0iQVRUQUNITkFNRV9IRUFESU5HIiB2YWx1ZT0iRG9zeWEgQWTEsSIvPg0KCQk8dWl0ZXh0IG5hbWU9IkFUVEFDSFNJWkVfSEVBRElORyIgdmFsdWU9IkJveXV0Ii8+DQoJCTx1aXRleHQgbmFtZT0iU0xJREVfTk9URVMiIHZhbHVlPSJTbGF5dCBOb3RsYXLEsSIvPg0KCQk8IS0tcXVpeiBwb2QgYW5kIG1lc3NhZ2UgYm94IHRleHRzLS0+DQoJCTx1aXRleHQgbmFtZT0iUVVJWlBPRF9RVUlaX0FUVEVNUFQiIHZhbHVlPSJTxLFuYXYgRGVuZW1lc2k6Ii8+DQoJCTx1aXRleHQgbmFtZT0iUVVJWlBPRF9RVUlaX0FUVEVNUFRfVkFMVUUiIHZhbHVlPSIlbi8ldCIvPg0KCQk8dWl0ZXh0IG5hbWU9IlFVSVpQT0RfUVVJWl9TQ09SRSIgdmFsdWU9IlB1YW46Ii8+DQoJCTx1aXRleHQgbmFtZT0iUVVJWlBPRF9RVUlaX1BBU1NTQ09SRSIgdmFsdWU9Ikdlw6dtZSBQdWFuxLE6Ii8+DQoJCTx1aXRleHQgbmFtZT0iUVVJWlBPRF9RVUlaX01BWFNDT1JFIiB2YWx1ZT0iTWFrc2ltdW0gUHVhbjoiLz4NCgkJPHVpdGV4dCBuYW1lPSJRVUlaUE9EX1FVRVNBVE1QVF9TVFIiIHZhbHVlPSJEZW5lbWU6ICVuLyV0Ii8+DQoJCTx1aXRleHQgbmFtZT0iUVVJWlBPRF9RVUVTVFlQRV9TVFIiIHZhbHVlPSJUw7xyOiAlcyIvPg0KCQk8dWl0ZXh0IG5hbWU9IlFVSVpQT0RfUVVFU1RZUEVfR1JEIiB2YWx1ZT0iQmFzYW1ha2zEsSIvPg0KCQk8dWl0ZXh0IG5hbWU9IlFVSVpQT0RfUVVFU1RZUEVfU1ZZIiB2YWx1ZT0iQW5rZXQiLz4NCgkJPHVpdGV4dCBuYW1lPSJRVUlaUE9EX1FVSVpBVE1QVF9JTkYiIHZhbHVlPSJTxLFuxLFyc8SxeiIvPg0KCQk8dWl0ZXh0IG5hbWU9IlFVSVpQT0RfUVVFU0FUTVBUX0lORiIgdmFsdWU9IlPEsW7EsXJzxLF6Ii8+DQoJCTx1aXRleHQgbmFtZT0iV0FSTklOR01TR19ZRVNTVFJJTkciIHZhbHVlPSJFdmV0Ii8+DQoJCTx1aXRleHQgbmFtZT0iV0FSTklOR01TR19OT1NUUklORyIgdmFsdWU9IkhhecSxciIvPg0KCQk8dWl0ZXh0IG5hbWU9IldBUk5JTkdNU0dfVElUTEVTVFJJTkciIHZhbHVlPSJTxLFuYXYgR2V6aW5tZSBVeWFyxLFzxLEiLz4NCgkJPHVpdGV4dCBuYW1lPSJXQVJOSU5HTVNHX01TR1NUUklORyIgdmFsdWU9IkJ1IFPEsW5hdmRhIGRlbmVubWVtacWfIHNvcnVsYXIgdmFyLiYjeEE7JiN4QTtFdmV0IHNlw6dlbmXEn2luaSB0xLFrbGF0xLFyc2FuxLF6IFPEsW5hdmRhbiDDp8Sxa2FjYWtzxLFuxLF6LiBTxLFuYXZhIGRldmFtIGV0bWVrIGnDp2luIEhhecSxciBzZcOnZW5lxJ9pbmkgdMSxa2xhdMSxbi4iLz4NCgkJPHVpdGV4dCBuYW1lPSJJTkZPUk1BVElPTl9IMjY0X0ZMQVNIUExBWUVSIiB2YWx1ZT0iQmlsZ2lzYXlhcsSxbsSxemEgecO8a2zDvCBvbGFuIGdlw6dlcmxpIEZsYXNoIFBsYXllciBzw7xyw7xtw7wgYnUgdmlkZW95dSBkZXN0ZWtsZW1peW9yLiBFbiBzb24gRmxhc2ggUGxheWVyIHPDvHLDvG3DvG7DvCBpbmRpcm1layBpw6dpbiB2aWRlbyBhbGFuxLFuxLEgdMSxa2xhdMSx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S2F0xLFsxLFtY8SxbGFyYSBrZW5hciDDp3VidcSfdW51IGfDtnN0ZXIiLz4NCgkJPHVpdGV4dCBuYW1lPSJNVVRFIiB2YWx1ZT0iU2Vzc2l6Ii8+DQoJCTx1aXRleHQgbmFtZT0iRE9DV1JBUF9USVRMRSIgdmFsdWU9IlByZXNlbnRlciBEb3N5YSBFa2kiLz4NCgkJPHVpdGV4dCBuYW1lPSJET0NXUkFQX01TRyIgdmFsdWU9IkJpbGdpc2F5YXLEsW1hIEtheWRldCIvPg0KCQk8dWl0ZXh0IG5hbWU9IkRPQ1dSQVBfUFJPTVBUIiB2YWx1ZT0ixLBuZGlybWVrIGnDp2luIFTEsWtsYXTEsW4iLz4NCgk8L2xhbmd1YWdlPg0KCTxsYW5ndWFnZSBpZD0icn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0KHQu9Cw0LnQtCAlbiIvPg0KCQk8IS0tIHN1YnN0aXR1dGlvbjogJW4gPT0gc2xpZGUgbnVtYmVyIC0tPg0KCQk8IS0tIHN1YnN0aXR1dGlvbjogJXQgPT0gdG90YWwgc2xpZGUgY291bnQgLS0+DQoJCTx1aXRleHQgbmFtZT0iU0NSVUJCQVJTVEFUVVNfU0xJREVJTkZPIiB2YWx1ZT0i0KHQu9Cw0LnQtCAlbiAvICV0IHwgIi8+DQoJCTx1aXRleHQgbmFtZT0iU0NSVUJCQVJTVEFUVVNfU1RPUFBFRCIgdmFsdWU9ItCe0YHRgtCw0L3QvtCy0LvQtdC90L4iLz4NCgkJPHVpdGV4dCBuYW1lPSJTQ1JVQkJBUlNUQVRVU19QTEFZSU5HIiB2YWx1ZT0i0JLQvtGB0L/RgNC+0LjQt9Cy0LXQtNC10L3QuNC1Ii8+DQoJCTx1aXRleHQgbmFtZT0iU0NSVUJCQVJTVEFUVVNfTk9BVURJTyIgdmFsdWU9ItCd0LXRgiDQsNGD0LTQuNC+Ii8+DQoJCTx1aXRleHQgbmFtZT0iU0NSVUJCQVJTVEFUVVNfVklEUExBWUlORyIgdmFsdWU9ItCS0L7RgdC/0YDQvtC40LfQstC10LTQtdC90LjQtSDQstC40LTQtdC+Ii8+DQoJCTx1aXRleHQgbmFtZT0iU0NSVUJCQVJTVEFUVVNfTE9BRElORyIgdmFsdWU9ItCX0LDQs9GA0YPQt9C60LAiLz4NCgkJPHVpdGV4dCBuYW1lPSJTQ1JVQkJBUlNUQVRVU19CVUZGRVJJTkciIHZhbHVlPSLQkdGD0YTQtdGA0LjQt9Cw0YbQuNGPIi8+DQoJCTx1aXRleHQgbmFtZT0iU0NSVUJCQVJTVEFUVVNfUVVFU1RJT04iIHZhbHVlPSLQntGC0LLQtdGCINC90LAg0LLQvtC/0YDQvtGBIi8+DQoJCTx1aXRleHQgbmFtZT0iU0NSVUJCQVJTVEFUVVNfUkVWSUVXUVVJWiIgdmFsdWU9ItCe0LHQt9C+0YAg0L7Qv9GA0L7RgdCwIi8+DQoJCTwhLS0gc3Vic3RpdHV0aW9uOiAlbSA9PSBtaW51dGVzIHJlbWFpbmluZyAtLT4NCgkJPCEtLSBzdWJzdGl0dXRpb246ICVzID09IHNlY29uZHMgcmVtYWluaW5nIC0tPg0KCQk8dWl0ZXh0IG5hbWU9IkVMQVBTRUQiIHZhbHVlPSLQntGB0YLQsNC70L7RgdGMICVtINC80LjQvS4gJXMg0YEiLz4NCgkJPHVpdGV4dCBuYW1lPSJOT1RGT1VORCIgdmFsdWU9ItCd0LjRh9C10LPQviDQvdC1INC90LDQudC00LXQvdC+Ii8+DQoJCTx1aXRleHQgbmFtZT0iQVRUQUNITUVOVFMiIHZhbHVlPSLQktC70L7QttC10L3QuNGPIi8+DQoJCTwhLS0gc3Vic3RpdHV0aW9uOiAlcCA9PSBjdXJyZW50IHNwZWFrZXIncyB0aXRsZSAtLT4NCgkJPHVpdGV4dCBuYW1lPSJCSU9XSU5fVElUTEUiIHZhbHVlPSLQkdC40L7Qs9GA0LDRhNC40Y86ICVwIi8+DQoJCTx1aXRleHQgbmFtZT0iQklPQlROX1RJVExFIiB2YWx1ZT0i0JHQuNC+0LPRgNCw0YTQuNGPIi8+DQoJCTx1aXRleHQgbmFtZT0iRElWSURFUkJUTl9USVRMRSIgdmFsdWU9InwiLz4NCgkJPHVpdGV4dCBuYW1lPSJDT05UQUNUQlROX1RJVExFIiB2YWx1ZT0i0JrQvtC90YLQsNC60YIiLz4NCgkJPHVpdGV4dCBuYW1lPSJUQUJfUVVJWiIgdmFsdWU9ItCe0L/RgNC+0YEiLz4NCgkJPHVpdGV4dCBuYW1lPSJUQUJfT1VUTElORSIgdmFsdWU9ItCh0YXQtdC80LAiLz4NCgkJPHVpdGV4dCBuYW1lPSJUQUJfVEhVTUIiIHZhbHVlPSLQkdC10LPRg9C90L7QuiIvPg0KCQk8dWl0ZXh0IG5hbWU9IlRBQl9OT1RFUyIgdmFsdWU9ItCX0LDQvNC10YLQutC4Ii8+DQoJCTx1aXRleHQgbmFtZT0iVEFCX1NFQVJDSCIgdmFsdWU9ItCf0L7QuNGB0LoiLz4NCgkJPHVpdGV4dCBuYW1lPSJTTElERV9IRUFESU5HIiB2YWx1ZT0i0JfQsNCz0L7Qu9C+0LLQvtC6INGB0LvQsNC50LTQsCIvPg0KCQk8dWl0ZXh0IG5hbWU9IkRVUkFUSU9OX0hFQURJTkciIHZhbHVlPSLQlNC70LjRgi3RgdGC0YwiLz4NCgkJPHVpdGV4dCBuYW1lPSJTRUFSQ0hfSEVBRElORyIgdmFsdWU9ItCf0L7QuNGB0Log0YLQtdC60YHRgtCwOiIvPg0KCQk8dWl0ZXh0IG5hbWU9IlRIVU1CX0hFQURJTkciIHZhbHVlPSLQodC70LDQudC0Ii8+DQoJCTx1aXRleHQgbmFtZT0iVEhVTUJfSU5GTyIgdmFsdWU9ItCd0LDQt9Cy0LDQvdC40LUv0LTQu9C40YIt0L3QvtGB0YLRjCIvPg0KCQk8dWl0ZXh0IG5hbWU9IkFUVEFDSE5BTUVfSEVBRElORyIgdmFsdWU9ItCY0LzRjyDRhNCw0LnQu9CwIi8+DQoJCTx1aXRleHQgbmFtZT0iQVRUQUNIU0laRV9IRUFESU5HIiB2YWx1ZT0i0KDQsNC30LzQtdGAIi8+DQoJCTx1aXRleHQgbmFtZT0iU0xJREVfTk9URVMiIHZhbHVlPSLQl9Cw0LzQtdGC0LrQuCDQuiDRgdC70LDQudC00YM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4&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4&quot;/&gt;&lt;lineCharCount val=&quot;14&quot;/&gt;&lt;lineCharCount val=&quot;15&quot;/&gt;&lt;lineCharCount val=&quot;13&quot;/&gt;&lt;lineCharCount val=&quot;12&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8&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31&quot;/&gt;&lt;lineCharCount val=&quot;13&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31&quot;/&gt;&lt;lineCharCount val=&quot;13&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8&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4&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4&quot;/&gt;&lt;lineCharCount val=&quot;14&quot;/&gt;&lt;lineCharCount val=&quot;15&quot;/&gt;&lt;lineCharCount val=&quot;13&quot;/&gt;&lt;lineCharCount val=&quot;12&quot;/&gt;&lt;/TableIndex&gt;&lt;/ShapeTextInfo&gt;"/>
</p:tagLst>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ee0345e-601d-4af1-82e7-090d66c0eb6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233413975A55FA429D22775D24DE4CE4" ma:contentTypeVersion="18" ma:contentTypeDescription="Crie um novo documento." ma:contentTypeScope="" ma:versionID="9eb6731ece1a87233c5be5fcc8110a38">
  <xsd:schema xmlns:xsd="http://www.w3.org/2001/XMLSchema" xmlns:xs="http://www.w3.org/2001/XMLSchema" xmlns:p="http://schemas.microsoft.com/office/2006/metadata/properties" xmlns:ns3="3a061fb9-f959-4cbe-a0c1-728da8f439bc" xmlns:ns4="eee0345e-601d-4af1-82e7-090d66c0eb6c" targetNamespace="http://schemas.microsoft.com/office/2006/metadata/properties" ma:root="true" ma:fieldsID="e08b9c04ee1d1c0a52311730ac16b7a0" ns3:_="" ns4:_="">
    <xsd:import namespace="3a061fb9-f959-4cbe-a0c1-728da8f439bc"/>
    <xsd:import namespace="eee0345e-601d-4af1-82e7-090d66c0eb6c"/>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DateTaken" minOccurs="0"/>
                <xsd:element ref="ns4:MediaServiceOCR" minOccurs="0"/>
                <xsd:element ref="ns4:MediaServiceLocation" minOccurs="0"/>
                <xsd:element ref="ns4:MediaServiceAutoKeyPoints" minOccurs="0"/>
                <xsd:element ref="ns4:MediaServiceKeyPoints" minOccurs="0"/>
                <xsd:element ref="ns4:MediaLengthInSeconds" minOccurs="0"/>
                <xsd:element ref="ns4:_activity" minOccurs="0"/>
                <xsd:element ref="ns4:MediaServiceObjectDetectorVersions"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061fb9-f959-4cbe-a0c1-728da8f439bc" elementFormDefault="qualified">
    <xsd:import namespace="http://schemas.microsoft.com/office/2006/documentManagement/types"/>
    <xsd:import namespace="http://schemas.microsoft.com/office/infopath/2007/PartnerControls"/>
    <xsd:element name="SharedWithUsers" ma:index="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hes de Compartilhado Com" ma:internalName="SharedWithDetails" ma:readOnly="true">
      <xsd:simpleType>
        <xsd:restriction base="dms:Note">
          <xsd:maxLength value="255"/>
        </xsd:restriction>
      </xsd:simpleType>
    </xsd:element>
    <xsd:element name="SharingHintHash" ma:index="10" nillable="true" ma:displayName="Hash de Dica de Compartilhamento"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ee0345e-601d-4af1-82e7-090d66c0eb6c"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D54018B-D73A-40BA-87E6-C236FB60E98A}">
  <ds:schemaRefs>
    <ds:schemaRef ds:uri="http://schemas.microsoft.com/sharepoint/v3/contenttype/forms"/>
  </ds:schemaRefs>
</ds:datastoreItem>
</file>

<file path=customXml/itemProps2.xml><?xml version="1.0" encoding="utf-8"?>
<ds:datastoreItem xmlns:ds="http://schemas.openxmlformats.org/officeDocument/2006/customXml" ds:itemID="{BD7C31AF-A0CD-4F8F-8B63-70860431891C}">
  <ds:schemaRefs>
    <ds:schemaRef ds:uri="http://schemas.microsoft.com/office/2006/documentManagement/types"/>
    <ds:schemaRef ds:uri="http://purl.org/dc/dcmitype/"/>
    <ds:schemaRef ds:uri="http://purl.org/dc/terms/"/>
    <ds:schemaRef ds:uri="http://schemas.microsoft.com/office/infopath/2007/PartnerControls"/>
    <ds:schemaRef ds:uri="http://purl.org/dc/elements/1.1/"/>
    <ds:schemaRef ds:uri="3a061fb9-f959-4cbe-a0c1-728da8f439bc"/>
    <ds:schemaRef ds:uri="http://schemas.openxmlformats.org/package/2006/metadata/core-properties"/>
    <ds:schemaRef ds:uri="http://schemas.microsoft.com/office/2006/metadata/properties"/>
    <ds:schemaRef ds:uri="eee0345e-601d-4af1-82e7-090d66c0eb6c"/>
    <ds:schemaRef ds:uri="http://www.w3.org/XML/1998/namespace"/>
  </ds:schemaRefs>
</ds:datastoreItem>
</file>

<file path=customXml/itemProps3.xml><?xml version="1.0" encoding="utf-8"?>
<ds:datastoreItem xmlns:ds="http://schemas.openxmlformats.org/officeDocument/2006/customXml" ds:itemID="{E2FD00C2-AD8B-46FF-A856-8AD907EBAF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a061fb9-f959-4cbe-a0c1-728da8f439bc"/>
    <ds:schemaRef ds:uri="eee0345e-601d-4af1-82e7-090d66c0eb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Clarity</Template>
  <TotalTime>2472</TotalTime>
  <Words>1537</Words>
  <Application>Microsoft Office PowerPoint</Application>
  <PresentationFormat>Apresentação na tela (4:3)</PresentationFormat>
  <Paragraphs>109</Paragraphs>
  <Slides>22</Slides>
  <Notes>0</Notes>
  <HiddenSlides>0</HiddenSlides>
  <MMClips>0</MMClips>
  <ScaleCrop>false</ScaleCrop>
  <HeadingPairs>
    <vt:vector size="4" baseType="variant">
      <vt:variant>
        <vt:lpstr>Tema</vt:lpstr>
      </vt:variant>
      <vt:variant>
        <vt:i4>1</vt:i4>
      </vt:variant>
      <vt:variant>
        <vt:lpstr>Títulos de slides</vt:lpstr>
      </vt:variant>
      <vt:variant>
        <vt:i4>22</vt:i4>
      </vt:variant>
    </vt:vector>
  </HeadingPairs>
  <TitlesOfParts>
    <vt:vector size="23" baseType="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Adriana Mitsue Matsuda</dc:creator>
  <cp:lastModifiedBy>Silmara Gomes</cp:lastModifiedBy>
  <cp:revision>268</cp:revision>
  <dcterms:created xsi:type="dcterms:W3CDTF">2013-06-03T20:16:43Z</dcterms:created>
  <dcterms:modified xsi:type="dcterms:W3CDTF">2025-11-10T22:56:07Z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0x010100233413975A55FA429D22775D24DE4CE4</vt:lpwstr>
  </property>
</Properties>
</file>