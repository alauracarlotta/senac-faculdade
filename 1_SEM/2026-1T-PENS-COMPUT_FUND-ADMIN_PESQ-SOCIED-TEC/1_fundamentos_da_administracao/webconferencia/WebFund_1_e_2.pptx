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98" r:id="rId2"/>
    <p:sldId id="310" r:id="rId3"/>
    <p:sldId id="312" r:id="rId4"/>
    <p:sldId id="314" r:id="rId5"/>
    <p:sldId id="313" r:id="rId6"/>
    <p:sldId id="315" r:id="rId7"/>
    <p:sldId id="316" r:id="rId8"/>
    <p:sldId id="317" r:id="rId9"/>
    <p:sldId id="319" r:id="rId10"/>
    <p:sldId id="320" r:id="rId11"/>
    <p:sldId id="326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38" r:id="rId23"/>
  </p:sldIdLst>
  <p:sldSz cx="9144000" cy="6858000" type="screen4x3"/>
  <p:notesSz cx="6858000" cy="9144000"/>
  <p:custDataLst>
    <p:tags r:id="rId25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1BA9D-A4FD-431F-B074-2C7706338F2D}" v="1" dt="2025-02-21T20:31:05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2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mara Cristiane Gomes" userId="c18ed8b1-30ab-4227-bb94-24578034ab2f" providerId="ADAL" clId="{CB01BA9D-A4FD-431F-B074-2C7706338F2D}"/>
    <pc:docChg chg="addSld modSld">
      <pc:chgData name="Silmara Cristiane Gomes" userId="c18ed8b1-30ab-4227-bb94-24578034ab2f" providerId="ADAL" clId="{CB01BA9D-A4FD-431F-B074-2C7706338F2D}" dt="2025-02-21T20:38:34.669" v="58" actId="1076"/>
      <pc:docMkLst>
        <pc:docMk/>
      </pc:docMkLst>
      <pc:sldChg chg="addSp modSp new mod">
        <pc:chgData name="Silmara Cristiane Gomes" userId="c18ed8b1-30ab-4227-bb94-24578034ab2f" providerId="ADAL" clId="{CB01BA9D-A4FD-431F-B074-2C7706338F2D}" dt="2025-02-21T20:31:24.508" v="12" actId="14100"/>
        <pc:sldMkLst>
          <pc:docMk/>
          <pc:sldMk cId="292795929" sldId="333"/>
        </pc:sldMkLst>
        <pc:spChg chg="add mod">
          <ac:chgData name="Silmara Cristiane Gomes" userId="c18ed8b1-30ab-4227-bb94-24578034ab2f" providerId="ADAL" clId="{CB01BA9D-A4FD-431F-B074-2C7706338F2D}" dt="2025-02-21T20:31:24.508" v="12" actId="14100"/>
          <ac:spMkLst>
            <pc:docMk/>
            <pc:sldMk cId="292795929" sldId="333"/>
            <ac:spMk id="4" creationId="{2139BCB0-7E50-7E35-5DD9-29BF46280F7B}"/>
          </ac:spMkLst>
        </pc:spChg>
        <pc:spChg chg="add mod">
          <ac:chgData name="Silmara Cristiane Gomes" userId="c18ed8b1-30ab-4227-bb94-24578034ab2f" providerId="ADAL" clId="{CB01BA9D-A4FD-431F-B074-2C7706338F2D}" dt="2025-02-21T20:31:16.826" v="10" actId="1076"/>
          <ac:spMkLst>
            <pc:docMk/>
            <pc:sldMk cId="292795929" sldId="333"/>
            <ac:spMk id="5" creationId="{ECA881B6-97E1-435C-7CB1-DE4050D7F388}"/>
          </ac:spMkLst>
        </pc:spChg>
      </pc:sldChg>
      <pc:sldChg chg="addSp modSp new mod">
        <pc:chgData name="Silmara Cristiane Gomes" userId="c18ed8b1-30ab-4227-bb94-24578034ab2f" providerId="ADAL" clId="{CB01BA9D-A4FD-431F-B074-2C7706338F2D}" dt="2025-02-21T20:31:35.677" v="16" actId="14100"/>
        <pc:sldMkLst>
          <pc:docMk/>
          <pc:sldMk cId="1375600958" sldId="334"/>
        </pc:sldMkLst>
        <pc:spChg chg="add mod">
          <ac:chgData name="Silmara Cristiane Gomes" userId="c18ed8b1-30ab-4227-bb94-24578034ab2f" providerId="ADAL" clId="{CB01BA9D-A4FD-431F-B074-2C7706338F2D}" dt="2025-02-21T20:31:35.677" v="16" actId="14100"/>
          <ac:spMkLst>
            <pc:docMk/>
            <pc:sldMk cId="1375600958" sldId="334"/>
            <ac:spMk id="4" creationId="{5B17367C-084C-01AF-E469-FBD0DBFEC194}"/>
          </ac:spMkLst>
        </pc:spChg>
      </pc:sldChg>
      <pc:sldChg chg="addSp modSp new mod">
        <pc:chgData name="Silmara Cristiane Gomes" userId="c18ed8b1-30ab-4227-bb94-24578034ab2f" providerId="ADAL" clId="{CB01BA9D-A4FD-431F-B074-2C7706338F2D}" dt="2025-02-21T20:33:48.991" v="32" actId="113"/>
        <pc:sldMkLst>
          <pc:docMk/>
          <pc:sldMk cId="2583394796" sldId="335"/>
        </pc:sldMkLst>
        <pc:spChg chg="add mod">
          <ac:chgData name="Silmara Cristiane Gomes" userId="c18ed8b1-30ab-4227-bb94-24578034ab2f" providerId="ADAL" clId="{CB01BA9D-A4FD-431F-B074-2C7706338F2D}" dt="2025-02-21T20:33:48.991" v="32" actId="113"/>
          <ac:spMkLst>
            <pc:docMk/>
            <pc:sldMk cId="2583394796" sldId="335"/>
            <ac:spMk id="4" creationId="{D65924B7-6F9C-36B0-0842-4739C75BFC9C}"/>
          </ac:spMkLst>
        </pc:spChg>
      </pc:sldChg>
      <pc:sldChg chg="addSp modSp new mod">
        <pc:chgData name="Silmara Cristiane Gomes" userId="c18ed8b1-30ab-4227-bb94-24578034ab2f" providerId="ADAL" clId="{CB01BA9D-A4FD-431F-B074-2C7706338F2D}" dt="2025-02-21T20:36:20.111" v="45" actId="1076"/>
        <pc:sldMkLst>
          <pc:docMk/>
          <pc:sldMk cId="3267648480" sldId="336"/>
        </pc:sldMkLst>
        <pc:spChg chg="add mod">
          <ac:chgData name="Silmara Cristiane Gomes" userId="c18ed8b1-30ab-4227-bb94-24578034ab2f" providerId="ADAL" clId="{CB01BA9D-A4FD-431F-B074-2C7706338F2D}" dt="2025-02-21T20:34:04.976" v="37" actId="20577"/>
          <ac:spMkLst>
            <pc:docMk/>
            <pc:sldMk cId="3267648480" sldId="336"/>
            <ac:spMk id="4" creationId="{20B374AC-CA94-BBC6-5E97-6F3F13316EE7}"/>
          </ac:spMkLst>
        </pc:spChg>
        <pc:picChg chg="add mod modCrop">
          <ac:chgData name="Silmara Cristiane Gomes" userId="c18ed8b1-30ab-4227-bb94-24578034ab2f" providerId="ADAL" clId="{CB01BA9D-A4FD-431F-B074-2C7706338F2D}" dt="2025-02-21T20:36:20.111" v="45" actId="1076"/>
          <ac:picMkLst>
            <pc:docMk/>
            <pc:sldMk cId="3267648480" sldId="336"/>
            <ac:picMk id="6" creationId="{20A28ABB-8768-842F-22EC-6064D3004E48}"/>
          </ac:picMkLst>
        </pc:picChg>
      </pc:sldChg>
      <pc:sldChg chg="addSp modSp new mod">
        <pc:chgData name="Silmara Cristiane Gomes" userId="c18ed8b1-30ab-4227-bb94-24578034ab2f" providerId="ADAL" clId="{CB01BA9D-A4FD-431F-B074-2C7706338F2D}" dt="2025-02-21T20:37:08.505" v="52" actId="1076"/>
        <pc:sldMkLst>
          <pc:docMk/>
          <pc:sldMk cId="1318164913" sldId="337"/>
        </pc:sldMkLst>
        <pc:picChg chg="add mod modCrop">
          <ac:chgData name="Silmara Cristiane Gomes" userId="c18ed8b1-30ab-4227-bb94-24578034ab2f" providerId="ADAL" clId="{CB01BA9D-A4FD-431F-B074-2C7706338F2D}" dt="2025-02-21T20:37:08.505" v="52" actId="1076"/>
          <ac:picMkLst>
            <pc:docMk/>
            <pc:sldMk cId="1318164913" sldId="337"/>
            <ac:picMk id="4" creationId="{1D27F043-AB6E-3774-201E-55122AEC1199}"/>
          </ac:picMkLst>
        </pc:picChg>
      </pc:sldChg>
      <pc:sldChg chg="addSp modSp new mod">
        <pc:chgData name="Silmara Cristiane Gomes" userId="c18ed8b1-30ab-4227-bb94-24578034ab2f" providerId="ADAL" clId="{CB01BA9D-A4FD-431F-B074-2C7706338F2D}" dt="2025-02-21T20:38:34.669" v="58" actId="1076"/>
        <pc:sldMkLst>
          <pc:docMk/>
          <pc:sldMk cId="1826326313" sldId="338"/>
        </pc:sldMkLst>
        <pc:spChg chg="add mod">
          <ac:chgData name="Silmara Cristiane Gomes" userId="c18ed8b1-30ab-4227-bb94-24578034ab2f" providerId="ADAL" clId="{CB01BA9D-A4FD-431F-B074-2C7706338F2D}" dt="2025-02-21T20:38:34.669" v="58" actId="1076"/>
          <ac:spMkLst>
            <pc:docMk/>
            <pc:sldMk cId="1826326313" sldId="338"/>
            <ac:spMk id="4" creationId="{B755539B-2473-F93F-F2F4-4F8288C77C4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2A037-7541-41AD-B154-52522D86A5EF}" type="datetimeFigureOut">
              <a:rPr lang="pt-BR" smtClean="0"/>
              <a:t>21/02/2025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FDCB2-7140-45F5-B0BB-25F223B157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73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1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9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5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2"/>
          <p:cNvSpPr/>
          <p:nvPr userDrawn="1">
            <p:custDataLst>
              <p:tags r:id="rId1"/>
            </p:custDataLst>
          </p:nvPr>
        </p:nvSpPr>
        <p:spPr bwMode="auto">
          <a:xfrm>
            <a:off x="0" y="2949588"/>
            <a:ext cx="9144000" cy="2356326"/>
          </a:xfrm>
          <a:prstGeom prst="rect">
            <a:avLst/>
          </a:prstGeom>
          <a:solidFill>
            <a:schemeClr val="accent1">
              <a:lumMod val="20000"/>
              <a:lumOff val="80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15" name="Rectangle 3"/>
          <p:cNvSpPr/>
          <p:nvPr userDrawn="1">
            <p:custDataLst>
              <p:tags r:id="rId2"/>
            </p:custDataLst>
          </p:nvPr>
        </p:nvSpPr>
        <p:spPr bwMode="auto">
          <a:xfrm>
            <a:off x="0" y="5305914"/>
            <a:ext cx="9144000" cy="12653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18" name="Rectangle 8"/>
          <p:cNvSpPr/>
          <p:nvPr userDrawn="1">
            <p:custDataLst>
              <p:tags r:id="rId3"/>
            </p:custDataLst>
          </p:nvPr>
        </p:nvSpPr>
        <p:spPr bwMode="auto">
          <a:xfrm>
            <a:off x="0" y="5305914"/>
            <a:ext cx="9144000" cy="1552085"/>
          </a:xfrm>
          <a:prstGeom prst="rect">
            <a:avLst/>
          </a:prstGeom>
          <a:solidFill>
            <a:schemeClr val="accent6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charset="0"/>
            </a:endParaRPr>
          </a:p>
        </p:txBody>
      </p:sp>
      <p:cxnSp>
        <p:nvCxnSpPr>
          <p:cNvPr id="20" name="Straight Connector 4"/>
          <p:cNvCxnSpPr/>
          <p:nvPr userDrawn="1"/>
        </p:nvCxnSpPr>
        <p:spPr bwMode="auto">
          <a:xfrm flipH="1">
            <a:off x="0" y="5305914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2" name="Straight Connector 7"/>
          <p:cNvCxnSpPr/>
          <p:nvPr userDrawn="1"/>
        </p:nvCxnSpPr>
        <p:spPr bwMode="auto">
          <a:xfrm flipH="1">
            <a:off x="0" y="6584108"/>
            <a:ext cx="9144000" cy="0"/>
          </a:xfrm>
          <a:prstGeom prst="line">
            <a:avLst/>
          </a:prstGeom>
          <a:solidFill>
            <a:srgbClr val="FFFFFF"/>
          </a:solidFill>
          <a:ln w="12700" cap="rnd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3" name="Straight Connector 20"/>
          <p:cNvCxnSpPr/>
          <p:nvPr userDrawn="1"/>
        </p:nvCxnSpPr>
        <p:spPr bwMode="auto">
          <a:xfrm flipH="1">
            <a:off x="0" y="2322525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4" name="Straight Connector 23"/>
          <p:cNvCxnSpPr/>
          <p:nvPr userDrawn="1"/>
        </p:nvCxnSpPr>
        <p:spPr bwMode="auto">
          <a:xfrm flipH="1">
            <a:off x="0" y="2955172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6" name="Rectangle 12"/>
          <p:cNvSpPr/>
          <p:nvPr userDrawn="1">
            <p:custDataLst>
              <p:tags r:id="rId4"/>
            </p:custDataLst>
          </p:nvPr>
        </p:nvSpPr>
        <p:spPr bwMode="auto">
          <a:xfrm>
            <a:off x="0" y="6571226"/>
            <a:ext cx="9144000" cy="286773"/>
          </a:xfrm>
          <a:prstGeom prst="rect">
            <a:avLst/>
          </a:prstGeom>
          <a:solidFill>
            <a:srgbClr val="144D8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pic>
        <p:nvPicPr>
          <p:cNvPr id="27" name="Imagem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191" y="751851"/>
            <a:ext cx="1794811" cy="105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Espaço Reservado para Texto 9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468313" y="5661025"/>
            <a:ext cx="7848600" cy="432271"/>
          </a:xfrm>
        </p:spPr>
        <p:txBody>
          <a:bodyPr>
            <a:normAutofit/>
          </a:bodyPr>
          <a:lstStyle>
            <a:lvl1pPr marL="0" indent="0">
              <a:buNone/>
              <a:defRPr lang="pt-BR" sz="1800" kern="1200" dirty="0">
                <a:solidFill>
                  <a:srgbClr val="FFC77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/>
              <a:t>Clique para editar o nome do professor</a:t>
            </a:r>
          </a:p>
        </p:txBody>
      </p:sp>
      <p:sp>
        <p:nvSpPr>
          <p:cNvPr id="30" name="Subtítulo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1371600" y="34290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lang="pt-BR" sz="4000" b="1" kern="1200" dirty="0">
                <a:solidFill>
                  <a:srgbClr val="144D8D"/>
                </a:solidFill>
                <a:latin typeface="Calibri"/>
                <a:ea typeface="+mj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2067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191" y="751851"/>
            <a:ext cx="1794811" cy="105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22"/>
          <p:cNvSpPr/>
          <p:nvPr userDrawn="1">
            <p:custDataLst>
              <p:tags r:id="rId1"/>
            </p:custDataLst>
          </p:nvPr>
        </p:nvSpPr>
        <p:spPr bwMode="auto">
          <a:xfrm>
            <a:off x="0" y="3377642"/>
            <a:ext cx="9144000" cy="1909186"/>
          </a:xfrm>
          <a:prstGeom prst="rect">
            <a:avLst/>
          </a:prstGeom>
          <a:solidFill>
            <a:schemeClr val="accent1">
              <a:lumMod val="20000"/>
              <a:lumOff val="80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30" name="Rectangle 3"/>
          <p:cNvSpPr/>
          <p:nvPr userDrawn="1">
            <p:custDataLst>
              <p:tags r:id="rId2"/>
            </p:custDataLst>
          </p:nvPr>
        </p:nvSpPr>
        <p:spPr bwMode="auto">
          <a:xfrm>
            <a:off x="0" y="5305914"/>
            <a:ext cx="9144000" cy="12653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31" name="Rectangle 8"/>
          <p:cNvSpPr/>
          <p:nvPr userDrawn="1">
            <p:custDataLst>
              <p:tags r:id="rId3"/>
            </p:custDataLst>
          </p:nvPr>
        </p:nvSpPr>
        <p:spPr bwMode="auto">
          <a:xfrm>
            <a:off x="0" y="5305914"/>
            <a:ext cx="9144000" cy="1552085"/>
          </a:xfrm>
          <a:prstGeom prst="rect">
            <a:avLst/>
          </a:prstGeom>
          <a:solidFill>
            <a:schemeClr val="accent6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charset="0"/>
            </a:endParaRPr>
          </a:p>
        </p:txBody>
      </p:sp>
      <p:cxnSp>
        <p:nvCxnSpPr>
          <p:cNvPr id="32" name="Straight Connector 4"/>
          <p:cNvCxnSpPr/>
          <p:nvPr userDrawn="1"/>
        </p:nvCxnSpPr>
        <p:spPr bwMode="auto">
          <a:xfrm flipH="1">
            <a:off x="0" y="5305914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4" name="Straight Connector 7"/>
          <p:cNvCxnSpPr/>
          <p:nvPr userDrawn="1"/>
        </p:nvCxnSpPr>
        <p:spPr bwMode="auto">
          <a:xfrm flipH="1">
            <a:off x="0" y="6584108"/>
            <a:ext cx="9144000" cy="0"/>
          </a:xfrm>
          <a:prstGeom prst="line">
            <a:avLst/>
          </a:prstGeom>
          <a:solidFill>
            <a:srgbClr val="FFFFFF"/>
          </a:solidFill>
          <a:ln w="12700" cap="rnd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5" name="Straight Connector 20"/>
          <p:cNvCxnSpPr/>
          <p:nvPr userDrawn="1"/>
        </p:nvCxnSpPr>
        <p:spPr bwMode="auto">
          <a:xfrm flipH="1">
            <a:off x="0" y="2699428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6" name="Straight Connector 23"/>
          <p:cNvCxnSpPr/>
          <p:nvPr userDrawn="1"/>
        </p:nvCxnSpPr>
        <p:spPr bwMode="auto">
          <a:xfrm flipH="1">
            <a:off x="0" y="3369604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9" name="Rectangle 12"/>
          <p:cNvSpPr/>
          <p:nvPr userDrawn="1">
            <p:custDataLst>
              <p:tags r:id="rId4"/>
            </p:custDataLst>
          </p:nvPr>
        </p:nvSpPr>
        <p:spPr bwMode="auto">
          <a:xfrm>
            <a:off x="0" y="6571226"/>
            <a:ext cx="9144000" cy="286773"/>
          </a:xfrm>
          <a:prstGeom prst="rect">
            <a:avLst/>
          </a:prstGeom>
          <a:solidFill>
            <a:srgbClr val="144D8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40" name="Subtítulo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371600" y="3692624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lang="pt-BR" sz="4000" b="1" kern="1200" dirty="0">
                <a:solidFill>
                  <a:srgbClr val="144D8D"/>
                </a:solidFill>
                <a:latin typeface="Calibri"/>
                <a:ea typeface="+mj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41" name="Espaço Reservado para Texto 9"/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>
            <a:off x="468313" y="5661025"/>
            <a:ext cx="7848600" cy="432271"/>
          </a:xfrm>
        </p:spPr>
        <p:txBody>
          <a:bodyPr>
            <a:normAutofit/>
          </a:bodyPr>
          <a:lstStyle>
            <a:lvl1pPr marL="0" indent="0">
              <a:buNone/>
              <a:defRPr lang="pt-BR" sz="1800" kern="1200" dirty="0">
                <a:solidFill>
                  <a:srgbClr val="FFC77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/>
              <a:t>Clique para editar o 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1317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189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012572" y="274638"/>
            <a:ext cx="5626968" cy="418058"/>
          </a:xfrm>
        </p:spPr>
        <p:txBody>
          <a:bodyPr>
            <a:normAutofit/>
          </a:bodyPr>
          <a:lstStyle>
            <a:lvl1pPr marL="0" algn="r" defTabSz="457200" rtl="0" eaLnBrk="1" latinLnBrk="0" hangingPunct="1">
              <a:spcBef>
                <a:spcPct val="0"/>
              </a:spcBef>
              <a:buNone/>
              <a:defRPr lang="pt-BR" sz="3100" b="1" kern="1200" dirty="0">
                <a:solidFill>
                  <a:schemeClr val="accent6">
                    <a:lumMod val="75000"/>
                  </a:schemeClr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7031032" y="6135446"/>
            <a:ext cx="2133600" cy="365125"/>
          </a:xfrm>
        </p:spPr>
        <p:txBody>
          <a:bodyPr/>
          <a:lstStyle>
            <a:lvl1pPr>
              <a:defRPr lang="pt-BR" sz="18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0C52AAA-52BA-4E9F-ACEC-F67C74DBBBA3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30003" y="1052736"/>
            <a:ext cx="8109538" cy="439248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9" name="Imagem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26" y="156881"/>
            <a:ext cx="877948" cy="514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Connector 11"/>
          <p:cNvCxnSpPr/>
          <p:nvPr userDrawn="1"/>
        </p:nvCxnSpPr>
        <p:spPr bwMode="auto">
          <a:xfrm flipH="1">
            <a:off x="5589917" y="631422"/>
            <a:ext cx="3554084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37091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1"/>
          <p:cNvCxnSpPr/>
          <p:nvPr userDrawn="1"/>
        </p:nvCxnSpPr>
        <p:spPr bwMode="auto">
          <a:xfrm flipH="1">
            <a:off x="5055419" y="631422"/>
            <a:ext cx="4088581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9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7031032" y="6135446"/>
            <a:ext cx="2133600" cy="365125"/>
          </a:xfrm>
        </p:spPr>
        <p:txBody>
          <a:bodyPr/>
          <a:lstStyle>
            <a:lvl1pPr>
              <a:defRPr lang="pt-BR" sz="18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0C52AAA-52BA-4E9F-ACEC-F67C74DBBBA3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8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26" y="156881"/>
            <a:ext cx="877948" cy="514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60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1" y="6215063"/>
            <a:ext cx="90011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7D5541-FFC0-4DB6-AF7F-B5786F76AFD7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43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52AAA-52BA-4E9F-ACEC-F67C74DBBB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39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4" r:id="rId4"/>
    <p:sldLayoutId id="2147483655" r:id="rId5"/>
    <p:sldLayoutId id="2147483658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020907" y="4036468"/>
            <a:ext cx="7169728" cy="14317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 fontAlgn="base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</a:pPr>
            <a:endParaRPr lang="pt-BR" sz="2400" b="1">
              <a:solidFill>
                <a:srgbClr val="002060"/>
              </a:solidFill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fontAlgn="base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b="1">
                <a:solidFill>
                  <a:srgbClr val="00206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Fundamentos da Administração</a:t>
            </a:r>
          </a:p>
          <a:p>
            <a:pPr algn="ctr" fontAlgn="base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b="1">
                <a:solidFill>
                  <a:srgbClr val="00206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Professora Dra. Silmara Gomes</a:t>
            </a:r>
          </a:p>
        </p:txBody>
      </p:sp>
      <p:pic>
        <p:nvPicPr>
          <p:cNvPr id="8" name="Picture 2" descr="http://www.go.senac.br/bancodeoportunidades/assets/img/logo-senac-70-anos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9709" b="-13178"/>
          <a:stretch/>
        </p:blipFill>
        <p:spPr bwMode="auto">
          <a:xfrm>
            <a:off x="2965818" y="1916832"/>
            <a:ext cx="3279905" cy="185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84686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7D5541-FFC0-4DB6-AF7F-B5786F76AFD7}" type="slidenum">
              <a:rPr lang="pt-BR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51520" y="1859340"/>
            <a:ext cx="8640960" cy="3330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000000"/>
                </a:solidFill>
                <a:latin typeface="Arial"/>
              </a:rPr>
              <a:t>Bacharel em Administração de Empresas – Fundação de Ensino Eurípides Soares da Rocha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000000"/>
                </a:solidFill>
                <a:latin typeface="Arial"/>
              </a:rPr>
              <a:t>Mestre em Administração – PUC –SP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000000"/>
                </a:solidFill>
                <a:latin typeface="Arial"/>
              </a:rPr>
              <a:t>Doutora em Administração – PUC-SP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pt-BR" dirty="0">
                <a:solidFill>
                  <a:srgbClr val="000000"/>
                </a:solidFill>
                <a:latin typeface="Arial"/>
              </a:rPr>
              <a:t>Pós doutorado em Andamentos – Linha de pesquisa: Inteligência Artificial e Gestão</a:t>
            </a:r>
          </a:p>
        </p:txBody>
      </p:sp>
    </p:spTree>
    <p:extLst>
      <p:ext uri="{BB962C8B-B14F-4D97-AF65-F5344CB8AC3E}">
        <p14:creationId xmlns:p14="http://schemas.microsoft.com/office/powerpoint/2010/main" val="231266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611560" y="1268760"/>
            <a:ext cx="8280920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/>
              <a:t>Os critérios da disciplina configuram-se da seguinte forma em relação à Média Final:</a:t>
            </a:r>
          </a:p>
          <a:p>
            <a:endParaRPr lang="pt-B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err="1"/>
              <a:t>Quiz</a:t>
            </a:r>
            <a:r>
              <a:rPr lang="pt-BR"/>
              <a:t> - 20%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/>
              <a:t>Produção textual individual - 20%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/>
              <a:t>Prova Presencial - 60%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/>
          </a:p>
          <a:p>
            <a:r>
              <a:rPr lang="pt-BR"/>
              <a:t>A média mínima para aprovação é </a:t>
            </a:r>
            <a:r>
              <a:rPr lang="pt-BR" b="1"/>
              <a:t>6</a:t>
            </a:r>
            <a:r>
              <a:rPr lang="pt-BR"/>
              <a:t> (seis) </a:t>
            </a:r>
            <a:r>
              <a:rPr lang="pt-BR" b="1"/>
              <a:t>pontos</a:t>
            </a:r>
            <a:r>
              <a:rPr lang="pt-BR"/>
              <a:t>.</a:t>
            </a:r>
          </a:p>
          <a:p>
            <a:endParaRPr lang="pt-BR"/>
          </a:p>
          <a:p>
            <a:r>
              <a:rPr lang="pt-BR"/>
              <a:t>A Média Final é passível de recuperação ainda que a nota obtida for inferior ou superior à média de aprovação.</a:t>
            </a:r>
          </a:p>
          <a:p>
            <a:endParaRPr lang="pt-BR"/>
          </a:p>
          <a:p>
            <a:r>
              <a:rPr lang="pt-BR"/>
              <a:t>Para tanto, será disponibilizada uma prova de recuperação online no ambiente virtual de aprendizagem, podendo realizar apenas 01 tentativa. Por isso, não poderá ser salva ou retomada posteriormente. Atente-se à data de realização, conforme calendário acadêmico.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pt-BR" b="0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15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755576" y="2413338"/>
            <a:ext cx="7920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administração nos possibilita a minimização das incertezas que nos cercam a cada decisão que devemos tomar </a:t>
            </a:r>
            <a:endParaRPr lang="pt-BR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9897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1115616" y="2060848"/>
            <a:ext cx="67687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Ter e conhecer os objetivos norteadores do que nos dispomos a gerenciar é o primeiro passo para que possa realizar a gestão. Os objetivos são a espinha dorsal.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662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899592" y="1484784"/>
            <a:ext cx="74168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Podemos considerar que administramos nosso tempo, espaço, relações desde os primórdios da humanidade. No entanto, a administração como vemos teve seu princípio no início do século passado.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6266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772271" y="1129342"/>
            <a:ext cx="741682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 filosofia tem várias contribuições para a construção do pensamento administrativo. Por exemplo, René Descartes (2005), em seu livro </a:t>
            </a:r>
            <a:r>
              <a:rPr lang="pt-BR" sz="1800" b="0" i="1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O Discurso do Método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, descreveu sua metodologia filosófica chamada de “método cartesiano”, que tem como princípios: </a:t>
            </a:r>
          </a:p>
          <a:p>
            <a:r>
              <a:rPr lang="pt-BR" sz="1800" b="1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Princípio da evidência sistemática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: consiste em recusar acreditar em algo até que se tenha um alto índice de certeza sobre a sua real existência. </a:t>
            </a:r>
          </a:p>
          <a:p>
            <a:r>
              <a:rPr lang="pt-BR" sz="1800" b="1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Princípio da Análise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: consiste em separar os problemas, compreendendo que os problemas normalmente não são unitários, são grupos, sendo assim, devemos separá-los assim os compreendendo na sua individualidade. </a:t>
            </a:r>
          </a:p>
          <a:p>
            <a:r>
              <a:rPr lang="pt-BR" sz="1800" b="1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Princípio da composição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: consiste em organizar as partes anteriormente separadas da menor para a maior. </a:t>
            </a:r>
          </a:p>
          <a:p>
            <a:r>
              <a:rPr lang="pt-BR" sz="1800" b="1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Princípio da enumeração ou verificação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: consiste na verificação de que todas as partes foram avaliadas para que não fique nada de lado. </a:t>
            </a:r>
          </a:p>
        </p:txBody>
      </p:sp>
    </p:spTree>
    <p:extLst>
      <p:ext uri="{BB962C8B-B14F-4D97-AF65-F5344CB8AC3E}">
        <p14:creationId xmlns:p14="http://schemas.microsoft.com/office/powerpoint/2010/main" val="163963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827584" y="1405150"/>
            <a:ext cx="74888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Os economistas clássicos também trazem uma contribuição importante para a construção do pensamento administrativo. </a:t>
            </a:r>
          </a:p>
          <a:p>
            <a:pPr algn="just"/>
            <a:endParaRPr lang="pt-BR" sz="1800" b="0" i="0" u="none" strike="noStrike" baseline="0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Smith (1988), criador da escola clássica da Economia em 1776, mencionava sobre a necessidade da especialização dos operários, a divisão do trabalho, além de discutir o controle e remuneração dos trabalhadores. O autor defendia que um bom administrador devia cultivar a ordem, a economia e a atenção. Muitas ideias que foram utilizadas na construção dos alicerces da abordagem clássica da administração passam por pontos explanados pelos economistas clássicos.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3613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467544" y="1340768"/>
            <a:ext cx="78488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Em 1837, Babbage criou o “motor diferencial” − hoje é guardado em museu como primeiro computador digital − e recomendou o uso de dados na administração de uma empresa, a fixação de um tempo-padrão para as operações repetitivas, a divisão do trabalho entre esforço físico e mental, a determinação de custos precisos para cada processo e a fixação de uma bonificação proporcional à eficiência do operário e ao sucesso da empresa.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004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392976" y="1003657"/>
            <a:ext cx="770485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pt-BR" sz="1800" b="0" i="0" u="none" strike="noStrike" baseline="0" dirty="0">
              <a:solidFill>
                <a:srgbClr val="000000"/>
              </a:solidFill>
              <a:latin typeface="Roboto Condensed" panose="02000000000000000000" pitchFamily="2" charset="0"/>
            </a:endParaRPr>
          </a:p>
          <a:p>
            <a:r>
              <a:rPr lang="pt-BR" sz="1800" b="1" i="0" u="none" strike="noStrike" baseline="0" dirty="0">
                <a:solidFill>
                  <a:srgbClr val="565555"/>
                </a:solidFill>
                <a:latin typeface="Roboto Condensed" panose="02000000000000000000" pitchFamily="2" charset="0"/>
              </a:rPr>
              <a:t>Abordagem clássica da administração </a:t>
            </a:r>
            <a:endParaRPr lang="pt-BR" sz="1800" b="0" i="0" u="none" strike="noStrike" baseline="0" dirty="0">
              <a:solidFill>
                <a:srgbClr val="565555"/>
              </a:solidFill>
              <a:latin typeface="Roboto Condensed" panose="02000000000000000000" pitchFamily="2" charset="0"/>
            </a:endParaRPr>
          </a:p>
          <a:p>
            <a:pPr algn="just"/>
            <a:endParaRPr lang="pt-BR" dirty="0"/>
          </a:p>
          <a:p>
            <a:pPr algn="l"/>
            <a:endParaRPr lang="pt-BR" sz="1800" b="0" i="0" u="none" strike="noStrike" baseline="0" dirty="0">
              <a:solidFill>
                <a:srgbClr val="000000"/>
              </a:solidFill>
              <a:latin typeface="Roboto Condensed" panose="02000000000000000000" pitchFamily="2" charset="0"/>
            </a:endParaRPr>
          </a:p>
          <a:p>
            <a:r>
              <a:rPr lang="sv-SE" sz="1800" b="1" i="0" u="none" strike="noStrike" baseline="0" dirty="0">
                <a:solidFill>
                  <a:srgbClr val="565555"/>
                </a:solidFill>
                <a:latin typeface="Roboto Condensed" panose="02000000000000000000" pitchFamily="2" charset="0"/>
              </a:rPr>
              <a:t>Frederick W. Taylor (1856 – 1915) </a:t>
            </a:r>
            <a:endParaRPr lang="sv-SE" sz="1800" b="0" i="0" u="none" strike="noStrike" baseline="0" dirty="0">
              <a:solidFill>
                <a:srgbClr val="565555"/>
              </a:solidFill>
              <a:latin typeface="Roboto Condensed" panose="02000000000000000000" pitchFamily="2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Algumas das ideias centrais da administração científica são: </a:t>
            </a:r>
          </a:p>
          <a:p>
            <a:pPr algn="l"/>
            <a:endParaRPr lang="pt-BR" sz="1800" b="0" i="0" u="none" strike="noStrike" baseline="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Análise do trabalho e estudo dos tempos e movimentos </a:t>
            </a:r>
          </a:p>
          <a:p>
            <a:pPr algn="l"/>
            <a:endParaRPr lang="pt-BR" sz="1800" i="0" u="none" strike="noStrike" baseline="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Divisão do trabalho e especialização do operário: </a:t>
            </a:r>
          </a:p>
          <a:p>
            <a:pPr algn="l"/>
            <a:endParaRPr lang="pt-BR" sz="1800" i="0" u="none" strike="noStrike" baseline="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Desenho de cargos e de tarefas </a:t>
            </a:r>
          </a:p>
          <a:p>
            <a:pPr algn="l"/>
            <a:endParaRPr lang="pt-BR" sz="1800" i="0" u="none" strike="noStrike" baseline="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Incentivos salariais </a:t>
            </a:r>
          </a:p>
          <a:p>
            <a:pPr algn="just"/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2208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899592" y="1484784"/>
            <a:ext cx="741682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pt-BR" sz="1800" b="0" i="0" u="none" strike="noStrike" baseline="0" dirty="0">
              <a:solidFill>
                <a:srgbClr val="000000"/>
              </a:solidFill>
              <a:latin typeface="Roboto Condensed" panose="02000000000000000000" pitchFamily="2" charset="0"/>
            </a:endParaRPr>
          </a:p>
          <a:p>
            <a:r>
              <a:rPr lang="pt-BR" sz="1800" b="1" i="0" u="none" strike="noStrike" baseline="0" dirty="0">
                <a:solidFill>
                  <a:srgbClr val="565555"/>
                </a:solidFill>
                <a:latin typeface="Roboto Condensed" panose="02000000000000000000" pitchFamily="2" charset="0"/>
              </a:rPr>
              <a:t>Henry Fayol (1841 – 1925) </a:t>
            </a:r>
            <a:endParaRPr lang="pt-BR" sz="1800" b="0" i="0" u="none" strike="noStrike" baseline="0" dirty="0">
              <a:solidFill>
                <a:srgbClr val="565555"/>
              </a:solidFill>
              <a:latin typeface="Roboto Condensed" panose="02000000000000000000" pitchFamily="2" charset="0"/>
            </a:endParaRPr>
          </a:p>
          <a:p>
            <a:pPr algn="ctr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Henry Fayol (1841-1925) nasceu em Constantinopla, em uma família burguesa. Foi educado no Liceu de Lion, na França. Em 1860, graduou-se engenheiro de minas pela Escola Nacional de Minas, em Saint Étienne. Fayol contribuiu muito para o desenvolvimento do conhecimento administrativo moderno. Para ele, a administração é uma atividade comum a todos os empreendimentos humanos (família, negócios, governo), pois sempre exigem algum grau de planejamento, organização, comando, coordenação e controle.</a:t>
            </a:r>
          </a:p>
        </p:txBody>
      </p:sp>
    </p:spTree>
    <p:extLst>
      <p:ext uri="{BB962C8B-B14F-4D97-AF65-F5344CB8AC3E}">
        <p14:creationId xmlns:p14="http://schemas.microsoft.com/office/powerpoint/2010/main" val="3486457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755576" y="1700808"/>
            <a:ext cx="7488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/>
              <a:t>Fayol define administração como a realização das atividades administrativas, que são as funções de:</a:t>
            </a:r>
          </a:p>
          <a:p>
            <a:endParaRPr lang="pt-BR"/>
          </a:p>
          <a:p>
            <a:r>
              <a:rPr lang="pt-BR"/>
              <a:t>Previsão</a:t>
            </a:r>
          </a:p>
          <a:p>
            <a:r>
              <a:rPr lang="pt-BR"/>
              <a:t>Organização</a:t>
            </a:r>
          </a:p>
          <a:p>
            <a:r>
              <a:rPr lang="pt-BR"/>
              <a:t>Comando</a:t>
            </a:r>
          </a:p>
          <a:p>
            <a:r>
              <a:rPr lang="pt-BR"/>
              <a:t>Coordenação </a:t>
            </a:r>
          </a:p>
          <a:p>
            <a:r>
              <a:rPr lang="pt-BR"/>
              <a:t>Controle.</a:t>
            </a:r>
          </a:p>
        </p:txBody>
      </p:sp>
    </p:spTree>
    <p:extLst>
      <p:ext uri="{BB962C8B-B14F-4D97-AF65-F5344CB8AC3E}">
        <p14:creationId xmlns:p14="http://schemas.microsoft.com/office/powerpoint/2010/main" val="3160392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13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539552" y="1268760"/>
            <a:ext cx="784887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/>
              <a:t>Os princípios gerais de administração propostos por Henry Fayol são ainda considerados muito úteis na administração contemporânea pela grande maioria dos administradores. Os princípios, escritos em 1916, são apresentados a seguir (CHIAVENATO, 2010):</a:t>
            </a:r>
          </a:p>
          <a:p>
            <a:pPr algn="just"/>
            <a:endParaRPr lang="pt-BR"/>
          </a:p>
          <a:p>
            <a:pPr algn="just"/>
            <a:r>
              <a:rPr lang="pt-BR"/>
              <a:t>• Divisão do trabalho </a:t>
            </a:r>
          </a:p>
          <a:p>
            <a:pPr algn="just"/>
            <a:endParaRPr lang="pt-BR"/>
          </a:p>
          <a:p>
            <a:pPr algn="just"/>
            <a:r>
              <a:rPr lang="pt-BR"/>
              <a:t>• Autoridade e responsabilidade </a:t>
            </a:r>
          </a:p>
          <a:p>
            <a:pPr algn="just"/>
            <a:endParaRPr lang="pt-BR"/>
          </a:p>
          <a:p>
            <a:pPr algn="just"/>
            <a:r>
              <a:rPr lang="pt-BR"/>
              <a:t>• Disciplina </a:t>
            </a:r>
          </a:p>
          <a:p>
            <a:pPr algn="just"/>
            <a:endParaRPr lang="pt-BR"/>
          </a:p>
          <a:p>
            <a:pPr algn="just"/>
            <a:r>
              <a:rPr lang="pt-BR"/>
              <a:t>• Unidade de comando </a:t>
            </a:r>
          </a:p>
          <a:p>
            <a:pPr algn="just"/>
            <a:endParaRPr lang="pt-BR"/>
          </a:p>
          <a:p>
            <a:pPr algn="just"/>
            <a:r>
              <a:rPr lang="pt-BR"/>
              <a:t>• Unidade de direção</a:t>
            </a:r>
          </a:p>
          <a:p>
            <a:pPr algn="just"/>
            <a:endParaRPr lang="pt-BR"/>
          </a:p>
          <a:p>
            <a:pPr algn="just"/>
            <a:r>
              <a:rPr lang="pt-BR"/>
              <a:t>• Subordinação dos interesses individuais aos gerais </a:t>
            </a:r>
          </a:p>
        </p:txBody>
      </p:sp>
    </p:spTree>
    <p:extLst>
      <p:ext uri="{BB962C8B-B14F-4D97-AF65-F5344CB8AC3E}">
        <p14:creationId xmlns:p14="http://schemas.microsoft.com/office/powerpoint/2010/main" val="2996253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14</a:t>
            </a:fld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611560" y="1124744"/>
            <a:ext cx="770485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/>
              <a:t>• Remuneração do pessoal</a:t>
            </a:r>
          </a:p>
          <a:p>
            <a:pPr algn="just"/>
            <a:endParaRPr lang="pt-BR"/>
          </a:p>
          <a:p>
            <a:pPr algn="just"/>
            <a:r>
              <a:rPr lang="pt-BR"/>
              <a:t>• Centralização </a:t>
            </a:r>
          </a:p>
          <a:p>
            <a:pPr algn="just"/>
            <a:endParaRPr lang="pt-BR"/>
          </a:p>
          <a:p>
            <a:pPr algn="just"/>
            <a:r>
              <a:rPr lang="pt-BR"/>
              <a:t>• Cadeia escalar</a:t>
            </a:r>
          </a:p>
          <a:p>
            <a:pPr algn="just"/>
            <a:endParaRPr lang="pt-BR"/>
          </a:p>
          <a:p>
            <a:pPr algn="just"/>
            <a:r>
              <a:rPr lang="pt-BR"/>
              <a:t>• Ordem</a:t>
            </a:r>
          </a:p>
          <a:p>
            <a:pPr algn="just"/>
            <a:endParaRPr lang="pt-BR"/>
          </a:p>
          <a:p>
            <a:pPr algn="just"/>
            <a:r>
              <a:rPr lang="pt-BR"/>
              <a:t>• Equidade </a:t>
            </a:r>
          </a:p>
          <a:p>
            <a:pPr algn="just"/>
            <a:endParaRPr lang="pt-BR"/>
          </a:p>
          <a:p>
            <a:pPr algn="just"/>
            <a:r>
              <a:rPr lang="pt-BR"/>
              <a:t>• Estabilidade do pessoal no cargo</a:t>
            </a:r>
          </a:p>
          <a:p>
            <a:pPr algn="just"/>
            <a:endParaRPr lang="pt-BR"/>
          </a:p>
          <a:p>
            <a:pPr algn="just"/>
            <a:r>
              <a:rPr lang="pt-BR"/>
              <a:t>• Iniciativa </a:t>
            </a:r>
          </a:p>
          <a:p>
            <a:pPr algn="just"/>
            <a:endParaRPr lang="pt-BR"/>
          </a:p>
          <a:p>
            <a:pPr algn="just"/>
            <a:r>
              <a:rPr lang="pt-BR"/>
              <a:t>• Espírito de equipe</a:t>
            </a:r>
          </a:p>
        </p:txBody>
      </p:sp>
    </p:spTree>
    <p:extLst>
      <p:ext uri="{BB962C8B-B14F-4D97-AF65-F5344CB8AC3E}">
        <p14:creationId xmlns:p14="http://schemas.microsoft.com/office/powerpoint/2010/main" val="408764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8383F1E-F8F7-130B-4C2F-40A80FD7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C2D3059-2AF0-6844-27C3-9ACF3B2C26DA}"/>
              </a:ext>
            </a:extLst>
          </p:cNvPr>
          <p:cNvSpPr txBox="1"/>
          <p:nvPr/>
        </p:nvSpPr>
        <p:spPr>
          <a:xfrm>
            <a:off x="949123" y="1327021"/>
            <a:ext cx="737307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 partir da primeira Revolução Industrial, surgiu a insegurança em relação à manutenção dos empregos e à necessidade da mão de obra humana. </a:t>
            </a:r>
          </a:p>
          <a:p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O que aprendemos ao longo do tempo é que mudanças sociais e, principalmente, tecnológicas fazem com que os indivíduos temam o fim dos empregos. No entanto, esses se reinventam. Existe um movimento cíclico de surgimento e extinção de determinadas atividades e acredita-se que seguiremos nesse movimento pelos próximos ciclos. </a:t>
            </a:r>
          </a:p>
          <a:p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7584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A801172-DF47-B7CB-67AD-A431A283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16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3EB0D28-75F7-7474-AD95-4783E247CB69}"/>
              </a:ext>
            </a:extLst>
          </p:cNvPr>
          <p:cNvSpPr txBox="1"/>
          <p:nvPr/>
        </p:nvSpPr>
        <p:spPr>
          <a:xfrm>
            <a:off x="468774" y="2011514"/>
            <a:ext cx="82064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As abordagens que constroem o pensamento administrativo nos auxiliam na compreensão desses ciclos e na mitigação dos problemas gerados pela insegurança que vem com eles. O conhecimento das teorias nos auxilia na compreensão do indivíduo e na melhoria dos formatos de gestão de equipes.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3673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0D94C74-63E8-A8BB-289B-8242404B6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139BCB0-7E50-7E35-5DD9-29BF46280F7B}"/>
              </a:ext>
            </a:extLst>
          </p:cNvPr>
          <p:cNvSpPr txBox="1"/>
          <p:nvPr/>
        </p:nvSpPr>
        <p:spPr>
          <a:xfrm>
            <a:off x="682905" y="2878027"/>
            <a:ext cx="8299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As teorias administrativas são elementos vivos, que se modificam e transformam considerando os movimentos sociais e econômicos. 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CA881B6-97E1-435C-7CB1-DE4050D7F388}"/>
              </a:ext>
            </a:extLst>
          </p:cNvPr>
          <p:cNvSpPr txBox="1"/>
          <p:nvPr/>
        </p:nvSpPr>
        <p:spPr>
          <a:xfrm>
            <a:off x="428264" y="1179871"/>
            <a:ext cx="8553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1" i="0" u="none" strike="noStrike" baseline="0" dirty="0">
                <a:solidFill>
                  <a:srgbClr val="133B89"/>
                </a:solidFill>
                <a:latin typeface="Roboto Condensed" panose="02000000000000000000" pitchFamily="2" charset="0"/>
              </a:rPr>
              <a:t>Teoria das relações humanas, teoria da burocracia e suas contribuições para empresas </a:t>
            </a:r>
            <a:r>
              <a:rPr lang="pt-BR" sz="1800" b="1" i="0" u="none" strike="noStrike" baseline="0" dirty="0" err="1">
                <a:solidFill>
                  <a:srgbClr val="133B89"/>
                </a:solidFill>
                <a:latin typeface="Roboto Condensed" panose="02000000000000000000" pitchFamily="2" charset="0"/>
              </a:rPr>
              <a:t>pós-advento</a:t>
            </a:r>
            <a:r>
              <a:rPr lang="pt-BR" sz="1800" b="1" i="0" u="none" strike="noStrike" baseline="0" dirty="0">
                <a:solidFill>
                  <a:srgbClr val="133B89"/>
                </a:solidFill>
                <a:latin typeface="Roboto Condensed" panose="02000000000000000000" pitchFamily="2" charset="0"/>
              </a:rPr>
              <a:t> da tecnologia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795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5F5101F-409F-3C08-EFB0-444C6BFB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18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B17367C-084C-01AF-E469-FBD0DBFEC194}"/>
              </a:ext>
            </a:extLst>
          </p:cNvPr>
          <p:cNvSpPr txBox="1"/>
          <p:nvPr/>
        </p:nvSpPr>
        <p:spPr>
          <a:xfrm>
            <a:off x="324091" y="1873410"/>
            <a:ext cx="85189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Entre os anos de 1927 e 1932,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Roboto Light" panose="02000000000000000000" pitchFamily="2" charset="0"/>
              </a:rPr>
              <a:t>Mayo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 chefiou o projeto de pesquisa da fábrica Western Electric, no bairro de Hawthorne, em Chicago. Esse projeto ficou conhecido como a experiência de Hawthorne e é um dos grandes impulsionadores do movimento das relações humanas. Suas conclusões alicerçaram aplicações e novas pesquisas sobre temas variados ligados à motivação, liderança e dinâmica de grupo.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5600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D33BD84-D353-BD64-CE9D-E6E7DBFD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19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65924B7-6F9C-36B0-0842-4739C75BFC9C}"/>
              </a:ext>
            </a:extLst>
          </p:cNvPr>
          <p:cNvSpPr txBox="1"/>
          <p:nvPr/>
        </p:nvSpPr>
        <p:spPr>
          <a:xfrm>
            <a:off x="497711" y="1028343"/>
            <a:ext cx="839164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Em 1932, a experiência foi interrompida e gerou algumas conclusões. Segundo Chiavenato (2011), essas podem ser resumidas da seguinte forma: </a:t>
            </a:r>
          </a:p>
          <a:p>
            <a:pPr algn="l"/>
            <a:endParaRPr lang="pt-BR" sz="1800" b="0" i="0" u="none" strike="noStrike" baseline="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Nível de produção é resultante da integração social: </a:t>
            </a:r>
          </a:p>
          <a:p>
            <a:pPr algn="l"/>
            <a:endParaRPr lang="pt-BR" sz="1800" i="0" u="none" strike="noStrike" baseline="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Comportamento social dos empregados </a:t>
            </a:r>
          </a:p>
          <a:p>
            <a:pPr algn="l"/>
            <a:endParaRPr lang="pt-BR" sz="1800" i="0" u="none" strike="noStrike" baseline="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Recompensas e sanções sociais </a:t>
            </a:r>
          </a:p>
          <a:p>
            <a:pPr algn="l"/>
            <a:endParaRPr lang="pt-BR" sz="1800" i="0" u="none" strike="noStrike" baseline="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Grupos informais </a:t>
            </a:r>
          </a:p>
          <a:p>
            <a:pPr algn="l"/>
            <a:endParaRPr lang="pt-BR" sz="1800" i="0" u="none" strike="noStrike" baseline="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Relações humanas </a:t>
            </a:r>
          </a:p>
          <a:p>
            <a:pPr algn="l"/>
            <a:endParaRPr lang="pt-BR" sz="1800" i="0" u="none" strike="noStrike" baseline="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Importância do conteúdo do cargo </a:t>
            </a:r>
          </a:p>
          <a:p>
            <a:pPr algn="l"/>
            <a:endParaRPr lang="pt-BR" sz="1800" i="0" u="none" strike="noStrike" baseline="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Roboto" panose="02000000000000000000" pitchFamily="2" charset="0"/>
              </a:rPr>
              <a:t>Ênfase nos aspectos emocionais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3394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DB13117D-0994-3027-7F0A-F8F6EDCF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20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B374AC-CA94-BBC6-5E97-6F3F13316EE7}"/>
              </a:ext>
            </a:extLst>
          </p:cNvPr>
          <p:cNvSpPr txBox="1"/>
          <p:nvPr/>
        </p:nvSpPr>
        <p:spPr>
          <a:xfrm>
            <a:off x="891251" y="1603887"/>
            <a:ext cx="460672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BR" sz="1200" b="0" i="0" u="none" strike="noStrike" baseline="0" dirty="0">
              <a:solidFill>
                <a:srgbClr val="000000"/>
              </a:solidFill>
              <a:latin typeface="Roboto Condensed" panose="02000000000000000000" pitchFamily="2" charset="0"/>
            </a:endParaRPr>
          </a:p>
          <a:p>
            <a:r>
              <a:rPr lang="pt-BR" sz="1800" b="1" i="0" u="none" strike="noStrike" baseline="0" dirty="0">
                <a:solidFill>
                  <a:srgbClr val="565555"/>
                </a:solidFill>
                <a:latin typeface="Roboto Condensed" panose="02000000000000000000" pitchFamily="2" charset="0"/>
              </a:rPr>
              <a:t>Teoria da burocracia</a:t>
            </a:r>
          </a:p>
          <a:p>
            <a:endParaRPr lang="pt-BR" b="1" dirty="0">
              <a:solidFill>
                <a:srgbClr val="565555"/>
              </a:solidFill>
              <a:latin typeface="Roboto Condensed" panose="02000000000000000000" pitchFamily="2" charset="0"/>
            </a:endParaRPr>
          </a:p>
          <a:p>
            <a:r>
              <a:rPr lang="pt-BR" sz="1800" b="1" i="0" u="none" strike="noStrike" baseline="0" dirty="0">
                <a:solidFill>
                  <a:srgbClr val="565555"/>
                </a:solidFill>
                <a:latin typeface="Roboto Condensed" panose="02000000000000000000" pitchFamily="2" charset="0"/>
              </a:rPr>
              <a:t> </a:t>
            </a:r>
            <a:endParaRPr lang="pt-BR" sz="1800" b="0" i="0" u="none" strike="noStrike" baseline="0" dirty="0">
              <a:solidFill>
                <a:srgbClr val="565555"/>
              </a:solidFill>
              <a:latin typeface="Roboto Condensed" panose="02000000000000000000" pitchFamily="2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0A28ABB-8768-842F-22EC-6064D3004E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481" t="28529" r="10380" b="40730"/>
          <a:stretch/>
        </p:blipFill>
        <p:spPr>
          <a:xfrm>
            <a:off x="1018572" y="2273631"/>
            <a:ext cx="6690168" cy="355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48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21AFFD6-76E9-B577-E66D-F6192AA7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21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D27F043-AB6E-3774-201E-55122AEC11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747" t="13872" r="10000" b="45928"/>
          <a:stretch/>
        </p:blipFill>
        <p:spPr>
          <a:xfrm>
            <a:off x="1417898" y="1142275"/>
            <a:ext cx="6308203" cy="457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64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0E22935-EFF8-A943-E364-B5F08300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22</a:t>
            </a:fld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55539B-2473-F93F-F2F4-4F8288C77C4D}"/>
              </a:ext>
            </a:extLst>
          </p:cNvPr>
          <p:cNvSpPr txBox="1"/>
          <p:nvPr/>
        </p:nvSpPr>
        <p:spPr>
          <a:xfrm>
            <a:off x="1006998" y="2036250"/>
            <a:ext cx="67480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 compreensão dos grupos formais e informais continua sendo importante, entender as inter-relações fazem parte do processo de gestão de equipes. </a:t>
            </a:r>
          </a:p>
          <a:p>
            <a:pPr algn="just"/>
            <a:endParaRPr lang="pt-BR" sz="1800" b="0" i="0" u="none" strike="noStrike" baseline="0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 burocracia, por sua vez, continua importante para gerar padrão nas atividades de gestão, mesmo de empresas de tecnologia. Criar padrão para posteriormente poder romper o padrão, essa é uma estratégia importante quando se trata da aplicação de modelos burocráticos em organizações modernas.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63263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9.0&quot;&gt;&lt;object type=&quot;1&quot; unique_id=&quot;10001&quot;&gt;&lt;property id=&quot;20141&quot; value=&quot;Modelo AN 2014&quot;/&gt;&lt;property id=&quot;20144&quot; value=&quot;1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0&quot;/&gt;&lt;property id=&quot;20183&quot; value=&quot;1&quot;/&gt;&lt;property id=&quot;20184&quot; value=&quot;7&quot;/&gt;&lt;property id=&quot;20193&quot; value=&quot;-1&quot;/&gt;&lt;property id=&quot;20221&quot; value=&quot;E:\Dri\Adriana\logos senac\MARCA_RGB\&quot;/&gt;&lt;property id=&quot;20224&quot; value=&quot;C:\Users\adriana.mmatsuda\Documents\My Adobe Presentations\modelo_2014&quot;/&gt;&lt;property id=&quot;20250&quot; value=&quot;0&quot;/&gt;&lt;property id=&quot;20251&quot; value=&quot;0&quot;/&gt;&lt;property id=&quot;20259&quot; value=&quot;0&quot;/&gt;&lt;property id=&quot;20600&quot; value=&quot;0&quot;/&gt;&lt;property id=&quot;20700&quot; value=&quot;0&quot;/&gt;&lt;object type=&quot;2&quot; unique_id=&quot;10118&quot;&gt;&lt;object type=&quot;3&quot; unique_id=&quot;10253&quot;&gt;&lt;property id=&quot;20148&quot; value=&quot;5&quot;/&gt;&lt;property id=&quot;20300&quot; value=&quot;Slide 3&quot;/&gt;&lt;property id=&quot;20303&quot; value=&quot;-1&quot;/&gt;&lt;property id=&quot;20307&quot; value=&quot;257&quot;/&gt;&lt;property id=&quot;20309&quot; value=&quot;-1&quot;/&gt;&lt;/object&gt;&lt;object type=&quot;3&quot; unique_id=&quot;10271&quot;&gt;&lt;property id=&quot;20148&quot; value=&quot;5&quot;/&gt;&lt;property id=&quot;20300&quot; value=&quot;Slide 5 - &amp;quot;Referências bibliográficas&amp;quot;&quot;/&gt;&lt;property id=&quot;20303&quot; value=&quot;-1&quot;/&gt;&lt;property id=&quot;20307&quot; value=&quot;258&quot;/&gt;&lt;property id=&quot;20309&quot; value=&quot;-1&quot;/&gt;&lt;/object&gt;&lt;object type=&quot;3&quot; unique_id=&quot;10272&quot;&gt;&lt;property id=&quot;20148&quot; value=&quot;5&quot;/&gt;&lt;property id=&quot;20300&quot; value=&quot;Slide 4 - &amp;quot;Conclusão&amp;quot;&quot;/&gt;&lt;property id=&quot;20303&quot; value=&quot;-1&quot;/&gt;&lt;property id=&quot;20307&quot; value=&quot;259&quot;/&gt;&lt;property id=&quot;20309&quot; value=&quot;-1&quot;/&gt;&lt;/object&gt;&lt;object type=&quot;3&quot; unique_id=&quot;10415&quot;&gt;&lt;property id=&quot;20148&quot; value=&quot;5&quot;/&gt;&lt;property id=&quot;20300&quot; value=&quot;Slide 1&quot;/&gt;&lt;property id=&quot;20301&quot; value=&quot;Título- 1linha&quot;/&gt;&lt;property id=&quot;20303&quot; value=&quot;-1&quot;/&gt;&lt;property id=&quot;20307&quot; value=&quot;261&quot;/&gt;&lt;property id=&quot;20309&quot; value=&quot;-1&quot;/&gt;&lt;/object&gt;&lt;object type=&quot;3&quot; unique_id=&quot;10497&quot;&gt;&lt;property id=&quot;20148&quot; value=&quot;5&quot;/&gt;&lt;property id=&quot;20300&quot; value=&quot;Slide 6 - &amp;quot;Donec eget nisi dolor - nec risus&amp;quot;&quot;/&gt;&lt;property id=&quot;20303&quot; value=&quot;-1&quot;/&gt;&lt;property id=&quot;20307&quot; value=&quot;262&quot;/&gt;&lt;property id=&quot;20309&quot; value=&quot;-1&quot;/&gt;&lt;/object&gt;&lt;object type=&quot;3&quot; unique_id=&quot;10808&quot;&gt;&lt;property id=&quot;20148&quot; value=&quot;5&quot;/&gt;&lt;property id=&quot;20300&quot; value=&quot;Slide 2&quot;/&gt;&lt;property id=&quot;20301&quot; value=&quot;Título - 2 linhas&quot;/&gt;&lt;property id=&quot;20303&quot; value=&quot;-1&quot;/&gt;&lt;property id=&quot;20307&quot; value=&quot;263&quot;/&gt;&lt;property id=&quot;20309&quot; value=&quot;-1&quot;/&gt;&lt;/object&gt;&lt;/object&gt;&lt;object type=&quot;8&quot; unique_id=&quot;10122&quot;&gt;&lt;/object&gt;&lt;object type=&quot;4&quot; unique_id=&quot;10304&quot;&gt;&lt;/object&gt;&lt;object type=&quot;10&quot; unique_id=&quot;10305&quot;&gt;&lt;object type=&quot;11&quot; unique_id=&quot;10306&quot;&gt;&lt;property id=&quot;20180&quot; value=&quot;0&quot;/&gt;&lt;property id=&quot;20181&quot; value=&quot;0&quot;/&gt;&lt;property id=&quot;20183&quot; value=&quot;1&quot;/&gt;&lt;/object&gt;&lt;object type=&quot;12&quot; unique_id=&quot;10538&quot;&gt;&lt;/object&gt;&lt;/object&gt;&lt;/object&gt;&lt;/database&gt;"/>
  <p:tag name="SECTOMILLISECCONVERTED" val="1"/>
  <p:tag name="MMPROD_THEME_BG_IMAGE" val=""/>
  <p:tag name="MMPROD_TAG_VCONFIG" val="PD94bWwgdmVyc2lvbj0iMS4wIiBlbmNvZGluZz0iVVRGLTgiPz4NCjxjb25maWd1cmF0aW9uPg0KCTxicmFuZGluZz4NCgkJPHVpZm9udCBuYW1lPSJGT05UX05PVEVTX1RFWFQiIHZhbHVlPSJWZXJkYW5hLDE0LGZhbHNlLGZhbHNlLGZhbHNlIi8+DQoJPC9icmFuZGluZz4NCgk8Y29sb3JzPg0KCQk8dWljb2xvciBuYW1lPSJwcmltYXJ5IiB2YWx1ZT0iMHhDQ0NDQ0MiLz4NCgkJPHVpY29sb3IgbmFtZT0iZ2xvdyIgdmFsdWU9IjB4RkRDMTgwIi8+DQoJCTx1aWNvbG9yIG5hbWU9InRleHQiIHZhbHVlPSIweDAwMDAwMCIvPg0KCQk8dWljb2xvciBuYW1lPSJsaWdodCIgdmFsdWU9IjB4OEY4RjhGIi8+DQoJCTx1aWNvbG9yIG5hbWU9InNoYWRvdyIgdmFsdWU9IjB4RkZGRkZGIi8+DQoJCTx1aWNvbG9yIG5hbWU9ImJhY2tncm91bmQiIHZhbHVlPSIweDAwMzM2NiIvPg0KCQk8dWljb2xvciBuYW1lPSJub3Rlc1RleHRCYWNrZ3JvdW5kIiB2YWx1ZT0iMHhGRkZGRkYiLz4NCgk8L2NvbG9ycz4NCgk8bGF5b3V0Pg0KCQk8dWlzaG93IG5hbWU9InByZXNlbnRhdGlvbnRpdGxlIiB2YWx1ZT0idHJ1ZSIvPg0KCQk8dWlzaG93IG5hbWU9InByZXNlbnRlcnBob3RvIiB2YWx1ZT0idHJ1ZSIvPg0KCQk8dWlzaG93IG5hbWU9InByZXNlbnRlcm5hbWUiIHZhbHVlPSJ0cnVlIi8+DQoJCTx1aXNob3cgbmFtZT0icHJlc2VudGVydGl0bGUiIHZhbHVlPSJ0cnVlIi8+DQoJCTx1aXNob3cgbmFtZT0icHJlc2VudGVyZW1haWwiIHZhbHVlPSJ0cnVlIi8+DQoJCTx1aXNob3cgbmFtZT0icHJlc2VudGVyYmlvIiB2YWx1ZT0idHJ1ZSIvPg0KCQk8dWlzaG93IG5hbWU9ImNvbXBhbnlsb2dvIiB2YWx1ZT0idHJ1ZSIvPg0KCQk8dWlzaG93IG5hbWU9InNpZGViYXIiIHZhbHVlPSJ0cnVlIi8+DQoJCTx1aXNob3cgbmFtZT0ib3V0bGluZSIgdmFsdWU9InRydWUiLz4NCgkJPHVpc2hvdyBuYW1lPSJ0aHVtYm5haWwiIHZhbHVlPSJ0cnVlIi8+DQoJCTx1aXNob3cgbmFtZT0ibm90ZXMiIHZhbHVlPSJ0cnVlIi8+DQoJCTx1aXNob3cgbmFtZT0ic2VhcmNoIiB2YWx1ZT0idHJ1ZSIvPg0KCQk8dWlzaG93IG5hbWU9InF1aXoiIHZhbHVlPSJ0cnVlIi8+DQoJCTx1aXNob3cgbmFtZT0iYXR0YWNobWVudHMiIHZhbHVlPSJ0cnVlIi8+DQoJCTx1aXNob3cgbmFtZT0idXRpbHMiIHZhbHVlPSJ0cnVlIi8+DQoJCTx1aXNob3cgbmFtZT0idm9sdW1lIiB2YWx1ZT0idHJ1ZSIvPg0KCQk8dWlzaG93IG5hbWU9InBsYXliYXIiIHZhbHVlPSJ0cnVlIi8+DQoJCTx1aXNob3cgbmFtZT0idGFsa2luZ2hlYWQiIHZhbHVlPSJ0cnVlIi8+DQoJCTx1aXNob3cgbmFtZT0ic2lkZWJhcm9ucmlnaHQiIHZhbHVlPSJ0cnVlIi8+DQoJCTx1aXNob3cgbmFtZT0idmlld2NoYW5nZSIgdmFsdWU9InRydWUiLz4NCgkJPHVpc2hvdyBuYW1lPSJhbHdheXNTY3J1bmNoIiB2YWx1ZT0iZmFsc2UiLz4NCgkJPHVpc2hvdyBuYW1lPSJpbml0aWFsZGlzcGxheW1vZGVpc25vcm1hbCIgdmFsdWU9InRydWUiLz4NCgkJPHVpc2hvdyBuYW1lPSJjY3RleHRoaWdobGlnaHRpbmciIHZhbHVlPSJ0cnVlIi8+DQoJCTx1aXJlcGxhY2UgbmFtZT0ibG9nbyIgdmFsdWU9IiIvPg0KCQk8dWlyZXBsYWNlIG5hbWU9ImJnaW1hZ2UiIHZhbHVlPSIiLz4NCgkJPHVpcmVwbGFjZSBuYW1lPSJpbml0aWFsdGFiIiB2YWx1ZT0ib3V0bGluZSIvPg0KCTwvbGF5b3V0Pg0KCTxwcmVsb2FkZXI+PHNldEJvb2wgbmFtZT0iZGlzYWJsZUFzc2V0UHJlbG9hZGVyIiB2YWx1ZT0idHJ1ZSIvPjwvcHJlbG9hZGVyPj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whLS1xdWl6IHBvZCBhbmQgbWVzc2FnZSBib3ggdGV4dHMtLT4NCgkJPHVpdGV4dCBuYW1lPSJRVUlaUE9EX1FVSVpfQVRURU1QVCIgdmFsdWU9IlF1aXogQXR0ZW1wdDoiLz4NCgkJPHVpdGV4dCBuYW1lPSJRVUlaUE9EX1FVSVpfQVRURU1QVF9WQUxVRSIgdmFsdWU9IiVuIG9mICV0Ii8+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+DQoJCTx1aXRleHQgbmFtZT0iUVVJWlBPRF9RVUlaQVRNUFRfSU5GIiB2YWx1ZT0iSW5maW5pdGUiLz4NCgkJPHVpdGV4dCBuYW1lPSJRVUlaUE9EX1FVRVNBVE1QVF9JTkYiIHZhbHVlPSJJbmZpbml0ZSIvPg0KCQk8dWl0ZXh0IG5hbWU9IldBUk5JTkdNU0dfWUVTU1RSSU5HIiB2YWx1ZT0iWWVzIi8+DQoJCTx1aXRleHQgbmFtZT0iV0FSTklOR01TR19OT1NUUklORyIgdmFsdWU9Ik5vIi8+DQoJCTx1aXRleHQgbmFtZT0iV0FSTklOR01TR19USVRMRVNUUklORyIgdmFsdWU9IlF1aXogTmF2aWdhdGlvbiBXYXJuaW5nIi8+DQoJCTx1aXRleHQgbmFtZT0iV0FSTklOR01TR19NU0dTVFJJTkciIHZhbHVlPSJUaGVyZSBhcmUgdW4tYXR0ZW1wdGVkIHF1ZXN0aW9ucyBpbiB0aGlzIFF1aXouJiN4QTsmI3hBO0NsaWNraW5nIFllcyB3aWxsIHRha2UgeW91IG91dCBvZiB0aGUgUXVpei4gQ2xpY2sgTm8gdG8gY29udGludWUgdGhlIFF1aXouIi8+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+DQoJCTx1aXRleHQgbmFtZT0iRE9DV1JBUF9USVRMRSIgdmFsdWU9IlByZXNlbnRlciBGaWxlIEF0dGFjaG1lbnQiLz4NCgkJPHVpdGV4dCBuYW1lPSJET0NXUkFQX01TRyIgdmFsdWU9IlNhdmUgdG8gTXkgQ29tcHV0ZXIiLz4NCgkJPHVpdGV4dCBuYW1lPSJET0NXUkFQX1BST01QVCIgdmFsdWU9IkNsaWNrIHRvIERvd25sb2FkIi8+DQoJPC9sYW5ndWFnZT4NCgk8bGFuZ3VhZ2UgaWQ9ImRl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+DQoJCTx1aXRleHQgbmFtZT0iU0NSVUJCQVJTVEFUVVNfUkVWSUVXUVVJWiIgdmFsdWU9Ik5vY2htYWxzIGR1cmNoc2VoZW4iLz4NCgkJPCEtLSBzdWJzdGl0dXRpb246ICVtID09IG1pbnV0ZXMgcmVtYWluaW5nIC0tPg0KCQk8IS0tIHN1YnN0aXR1dGlvbjogJXMgPT0gc2Vjb25kcyByZW1haW5pbmcgLS0+DQoJCTx1aXRleHQgbmFtZT0iRUxBUFNFRCIgdmFsdWU9IlJlc3RkYXVlcjogJW0gTWludXRlbiAlcyBTZWt1bmRlbiIvPg0KCQk8dWl0ZXh0IG5hbWU9Ik5PVEZPVU5EIiB2YWx1ZT0iTmljaHRzIGdlZnVuZGVuIi8+DQoJCTx1aXRleHQgbmFtZT0iQVRUQUNITUVOVFMiIHZhbHVlPSJBbmxhZ2VuIi8+DQoJCTwhLS0gc3Vic3RpdHV0aW9uOiAlcCA9PSBjdXJyZW50IHNwZWFrZXIncyB0aXRsZSAtLT4NCgkJPHVpdGV4dCBuYW1lPSJCSU9XSU5fVElUTEUiIHZhbHVlPSJTcHJlY2hlcjogJXAiLz4NCgkJPHVpdGV4dCBuYW1lPSJCSU9CVE5fVElUTEUiIHZhbHVlPSJTcHJlY2hlciIvPg0KCQk8dWl0ZXh0IG5hbWU9IkRJVklERVJCVE5fVElUTEUiIHZhbHVlPSJ8Ii8+DQoJCTx1aXRleHQgbmFtZT0iQ09OVEFDVEJUTl9USVRMRSIgdmFsdWU9IktvbnRha3QiLz4NCgkJPHVpdGV4dCBuYW1lPSJUQUJfUVVJWiIgdmFsdWU9IlF1aXoiLz4NCgkJPHVpdGV4dCBuYW1lPSJUQUJfT1VUTElORSIgdmFsdWU9IlN0cnVrdHVyIi8+DQoJCTx1aXRleHQgbmFtZT0iVEFCX1RIVU1CIiB2YWx1ZT0iTWluaWF0dXIiLz4NCgkJPHVpdGV4dCBuYW1lPSJUQUJfTk9URVMiIHZhbHVlPSJOb3RpemVuIi8+DQoJCTx1aXRleHQgbmFtZT0iVEFCX1NFQVJDSCIgdmFsdWU9IlN1Y2hlbiIvPg0KCQk8dWl0ZXh0IG5hbWU9IlNMSURFX0hFQURJTkciIHZhbHVlPSJGb2xpZW50aXRlbCIvPg0KCQk8dWl0ZXh0IG5hbWU9IkRVUkFUSU9OX0hFQURJTkciIHZhbHVlPSJEYXVlciIvPg0KCQk8dWl0ZXh0IG5hbWU9IlNFQVJDSF9IRUFESU5HIiB2YWx1ZT0iVGV4dCBzdWNoZW46Ii8+DQoJCTx1aXRleHQgbmFtZT0iVEhVTUJfSEVBRElORyIgdmFsdWU9IkZvbGllIi8+DQoJCTx1aXRleHQgbmFtZT0iVEhVTUJfSU5GTyIgdmFsdWU9IkZvbGllbnRpdGVsL0RhdWVyIi8+DQoJCTx1aXRleHQgbmFtZT0iQVRUQUNITkFNRV9IRUFESU5HIiB2YWx1ZT0iRGF0ZWluYW1lIi8+DQoJCTx1aXRleHQgbmFtZT0iQVRUQUNIU0laRV9IRUFESU5HIiB2YWx1ZT0iR3LDtsOfZSIvPg0KCQk8dWl0ZXh0IG5hbWU9IlNMSURFX05PVEVTIiB2YWx1ZT0iRm9saWVubm90aXplbiIvPg0KCQk8IS0tcXVpeiBwb2QgYW5kIG1lc3NhZ2UgYm94IHRleHRzLS0+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+DQoJCTx1aXRleHQgbmFtZT0iUVVJWlBPRF9RVUVTVFlQRV9TVlkiIHZhbHVlPSJVbWZyYWdlIi8+DQoJCTx1aXRleHQgbmFtZT0iUVVJWlBPRF9RVUlaQVRNUFRfSU5GIiB2YWx1ZT0iVW5lbmRsaWNoIi8+DQoJCTx1aXRleHQgbmFtZT0iUVVJWlBPRF9RVUVTQVRNUFRfSU5GIiB2YWx1ZT0iVW5lbmRsaWNoIi8+DQoJCTx1aXRleHQgbmFtZT0iV0FSTklOR01TR19ZRVNTVFJJTkciIHZhbHVlPSJKYSIvPg0KCQk8dWl0ZXh0IG5hbWU9IldBUk5JTkdNU0dfTk9TVFJJTkciIHZhbHVlPSJOZWluIi8+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EZW4gVGVpbG5laG1lcm4gZGllIFNlaXRlbmxlaXN0ZSBhbnplaWdlbiIvPg0KCQk8dWl0ZXh0IG5hbWU9Ik1VVEUiIHZhbHVlPSJBdXMiLz4NCgkJPHVpdGV4dCBuYW1lPSJET0NXUkFQX1RJVExFIiB2YWx1ZT0iUHJlc2VudGVyLUFuaGFuZyIvPg0KCQk8dWl0ZXh0IG5hbWU9IkRPQ1dSQVBfTVNHIiB2YWx1ZT0iQXVmIG1laW5lbSBBcmJlaXRzcGxhdHogc3BlaWNoZXJuIi8+DQoJCTx1aXRleHQgbmFtZT0iRE9DV1JBUF9QUk9NUFQiIHZhbHVlPSJadW0gSGVydW50ZXJsYWRlbiBrbGlja2VuIi8+DQoJPC9sYW5ndWFnZT4NCgk8bGFuZ3VhZ2UgaWQ9ImZy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lICVuIi8+DQoJCTwhLS0gc3Vic3RpdHV0aW9uOiAlbiA9PSBzbGlkZSBudW1iZXIgLS0+DQoJCTwhLS0gc3Vic3RpdHV0aW9uOiAldCA9PSB0b3RhbCBzbGlkZSBjb3VudCAtLT4NCgkJPHVpdGV4dCBuYW1lPSJTQ1JVQkJBUlNUQVRVU19TTElERUlORk8iIHZhbHVlPSJEaWFwb3NpdGl2ZSAlbiAvICV0IHwgIi8+DQoJCTx1aXRleHQgbmFtZT0iU0NSVUJCQVJTVEFUVVNfU1RPUFBFRCIgdmFsdWU9IkFycsOqdMOpZSIvPg0KCQk8dWl0ZXh0IG5hbWU9IlNDUlVCQkFSU1RBVFVTX1BMQVlJTkciIHZhbHVlPSJMZWN0dXJlIi8+DQoJCTx1aXRleHQgbmFtZT0iU0NSVUJCQVJTVEFUVVNfTk9BVURJTyIgdmFsdWU9IlBhcyBkZSBzb24iLz4NCgkJPHVpdGV4dCBuYW1lPSJTQ1JVQkJBUlNUQVRVU19WSURQTEFZSU5HIiB2YWx1ZT0iTGVjdHVyZSB2aWTDqW8gZW4gY291cnMiLz4NCgkJPHVpdGV4dCBuYW1lPSJTQ1JVQkJBUlNUQVRVU19MT0FESU5HIiB2YWx1ZT0iQ2hhcmdlbWVudCBlbiBjb3VycyIvPg0KCQk8dWl0ZXh0IG5hbWU9IlNDUlVCQkFSU1RBVFVTX0JVRkZFUklORyIgdmFsdWU9Ik1pc2UgZW4gbcOpbW9pcmUiLz4NCgkJPHVpdGV4dCBuYW1lPSJTQ1JVQkJBUlNUQVRVU19RVUVTVElPTiIgdmFsdWU9IlLDqXBvbmRyZSDDoCBsYSBxdWVzdGlvbiIvPg0KCQk8dWl0ZXh0IG5hbWU9IlNDUlVCQkFSU1RBVFVTX1JFVklFV1FVSVoiIHZhbHVlPSJSw6l2aXNpb24gZHUgcXVlc3Rpb25uYWlyZSIvPg0KCQk8IS0tIHN1YnN0aXR1dGlvbjogJW0gPT0gbWludXRlcyByZW1haW5pbmcgLS0+DQoJCTwhLS0gc3Vic3RpdHV0aW9uOiAlcyA9PSBzZWNvbmRzIHJlbWFpbmluZyAtLT4NCgkJPHVpdGV4dCBuYW1lPSJFTEFQU0VEIiB2YWx1ZT0iJW0gbWludXRlcyAlcyBzZWNvbmRlcyByZXN0YW50ZXMiLz4NCgkJPHVpdGV4dCBuYW1lPSJOT1RGT1VORCIgdmFsdWU9IlJpZW4gdHJvdXbDqSIvPg0KCQk8dWl0ZXh0IG5hbWU9IkFUVEFDSE1FTlRTIiB2YWx1ZT0iUGnDqGNlcyBqb2ludGVzIi8+DQoJCTwhLS0gc3Vic3RpdHV0aW9uOiAlcCA9PSBjdXJyZW50IHNwZWFrZXIncyB0aXRsZSAtLT4NCgkJPHVpdGV4dCBuYW1lPSJCSU9XSU5fVElUTEUiIHZhbHVlPSJCaW8gOiAlcCIvPg0KCQk8dWl0ZXh0IG5hbWU9IkJJT0JUTl9USVRMRSIgdmFsdWU9IkJpbyA6Ii8+DQoJCTx1aXRleHQgbmFtZT0iRElWSURFUkJUTl9USVRMRSIgdmFsdWU9InwiLz4NCgkJPHVpdGV4dCBuYW1lPSJDT05UQUNUQlROX1RJVExFIiB2YWx1ZT0iQ29udGFjdCIvPg0KCQk8dWl0ZXh0IG5hbWU9IlRBQl9RVUlaIiB2YWx1ZT0iUXVpeiIvPg0KCQk8dWl0ZXh0IG5hbWU9IlRBQl9PVVRMSU5FIiB2YWx1ZT0iUGxhbiIvPg0KCQk8dWl0ZXh0IG5hbWU9IlRBQl9USFVNQiIgdmFsdWU9IkRpYXBvcyIvPg0KCQk8dWl0ZXh0IG5hbWU9IlRBQl9OT1RFUyIgdmFsdWU9Ik5vdGVzIi8+DQoJCTx1aXRleHQgbmFtZT0iVEFCX1NFQVJDSCIgdmFsdWU9IlJlY2hlcmNoZSIvPg0KCQk8dWl0ZXh0IG5hbWU9IlNMSURFX0hFQURJTkciIHZhbHVlPSJUaXRyZSBkZSBsYSBkaWFwb3NpdGl2ZSIvPg0KCQk8dWl0ZXh0IG5hbWU9IkRVUkFUSU9OX0hFQURJTkciIHZhbHVlPSJEdXLDqWUiLz4NCgkJPHVpdGV4dCBuYW1lPSJTRUFSQ0hfSEVBRElORyIgdmFsdWU9IlJlY2hlcmNoZSBkZSB0ZXh0ZSA6Ii8+DQoJCTx1aXRleHQgbmFtZT0iVEhVTUJfSEVBRElORyIgdmFsdWU9IkRpYXBvc2l0aXZlIi8+DQoJCTx1aXRleHQgbmFtZT0iVEhVTUJfSU5GTyIgdmFsdWU9IlRpdHJlL2R1csOpZSIvPg0KCQk8dWl0ZXh0IG5hbWU9IkFUVEFDSE5BTUVfSEVBRElORyIgdmFsdWU9Ik5vbSBkZSBmaWNoaWVyIi8+DQoJCTx1aXRleHQgbmFtZT0iQVRUQUNIU0laRV9IRUFESU5HIiB2YWx1ZT0iVGFpbGxlIi8+DQoJCTx1aXRleHQgbmFtZT0iU0xJREVfTk9URVMiIHZhbHVlPSJDb21tZW50YWlyZXMgZGVzIGRpYXBvc2l0aXZlcyIvPg0KCQk8IS0tcXVpeiBwb2QgYW5kIG1lc3NhZ2UgYm94IHRleHRzLS0+DQoJCTx1aXRleHQgbmFtZT0iUVVJWlBPRF9RVUlaX0FUVEVNUFQiIHZhbHVlPSJUZW50YXRpdmUgZGUgcXVlc3Rpb25uYWlyZSA6Ii8+DQoJCTx1aXRleHQgbmFtZT0iUVVJWlBPRF9RVUlaX0FUVEVNUFRfVkFMVUUiIHZhbHVlPSIlbiBzdXIgJXQiLz4NCgkJPHVpdGV4dCBuYW1lPSJRVUlaUE9EX1FVSVpfU0NPUkUiIHZhbHVlPSJOb3RlIG9idGVudWUgOiIvPg0KCQk8dWl0ZXh0IG5hbWU9IlFVSVpQT0RfUVVJWl9QQVNTU0NPUkUiIHZhbHVlPSJOb3RlIGQnYWRtaXNzaWJpbGl0w6nCoDoiLz4NCgkJPHVpdGV4dCBuYW1lPSJRVUlaUE9EX1FVSVpfTUFYU0NPUkUiIHZhbHVlPSJOb3RlIG1heGltYWxlIDoiLz4NCgkJPHVpdGV4dCBuYW1lPSJRVUlaUE9EX1FVRVNBVE1QVF9TVFIiIHZhbHVlPSJUZW50YXRpdmUgOiAlbiBzdXIgJXQiLz4NCgkJPHVpdGV4dCBuYW1lPSJRVUlaUE9EX1FVRVNUWVBFX1NUUiIgdmFsdWU9IlR5cGU6ICVzIi8+DQoJCTx1aXRleHQgbmFtZT0iUVVJWlBPRF9RVUVTVFlQRV9HUkQiIHZhbHVlPSJOb3TDqSIvPg0KCQk8dWl0ZXh0IG5hbWU9IlFVSVpQT0RfUVVFU1RZUEVfU1ZZIiB2YWx1ZT0iRW5xdcOqdGUiLz4NCgkJPHVpdGV4dCBuYW1lPSJRVUlaUE9EX1FVSVpBVE1QVF9JTkYiIHZhbHVlPSJJbGxpbWl0w6kiLz4NCgkJPHVpdGV4dCBuYW1lPSJRVUlaUE9EX1FVRVNBVE1QVF9JTkYiIHZhbHVlPSJJbGxpbWl0w6kiLz4NCgkJPHVpdGV4dCBuYW1lPSJXQVJOSU5HTVNHX1lFU1NUUklORyIgdmFsdWU9Ik91aSIvPg0KCQk8dWl0ZXh0IG5hbWU9IldBUk5JTkdNU0dfTk9TVFJJTkciIHZhbHVlPSJOb24iLz4NCgkJPHVpdGV4dCBuYW1lPSJXQVJOSU5HTVNHX1RJVExFU1RSSU5HIiB2YWx1ZT0iQXZlcnRpc3NlbWVudCBkZSBuYXZpZ2F0aW9uIGR1IHF1ZXN0aW9ubmFpcmUiLz4NCgkJPHVpdGV4dCBuYW1lPSJXQVJOSU5HTVNHX01TR1NUUklORyIgdmFsdWU9IlZvdXMgbidhdmV6IHBhcyByw6lwb25kdSDDoCBjZXJ0YWluZXMgcXVlc3Rpb25zIGRlIGNlIHF1ZXN0aW9ubmFpcmUuJiN4QTsmI3hBO1NpIHZvdXMgY2xpcXVleiBzdXIgT3VpLCB2b3VzIHF1aXR0ZXJleiBsZSBxdWVzdGlvbm5haXJlLiBDbGlxdWV6IHN1ciBOb24gcG91ciBjb250aW51ZXIgbGUgcXVlc3Rpb25uYWlyZS4iLz4NCgkJPHVpdGV4dCBuYW1lPSJJTkZPUk1BVElPTl9IMjY0X0ZMQVNIUExBWUVSIiB2YWx1ZT0iTGEgdmVyc2lvbiBkZSBGbGFzaCBQbGF5ZXIgYWN0dWVsbGVtZW50IGluc3RhbGzDqWUgc3VyIHZvdHJlIG1hY2hpbmUgbmUgcHJlbmQgcGFzIGVuIGNoYXJnZSBjZSB0eXBlIGRlIHZpZMOpby4gQ2xpcXVleiBzdXIgbGEgem9uZSB2aWTDqW8gcG91ciB0w6lsw6ljaGFyZ2VyIGxhIGRlcm5pw6hyZSB2ZXJzaW9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udHJlciBsJ2VuY2FkcsOpIGF1eCBwYXJ0aWNpcGFudHMiLz4NCgkJPHVpdGV4dCBuYW1lPSJNVVRFIiB2YWx1ZT0iTXVldCIvPg0KCQk8dWl0ZXh0IG5hbWU9IkRPQ1dSQVBfVElUTEUiIHZhbHVlPSJQacOoY2Ugam9pbnRlIFByZXNlbnRlciIvPg0KCQk8dWl0ZXh0IG5hbWU9IkRPQ1dSQVBfTVNHIiB2YWx1ZT0iRW5yZWdpc3RyZXIgc3VyIG1vbiBvcmRpbmF0ZXVyIi8+DQoJCTx1aXRleHQgbmFtZT0iRE9DV1JBUF9QUk9NUFQiIHZhbHVlPSJDbGlxdWVyIHBvdXIgdMOpbMOpY2hhcmdlciIvPg0KCTwvbGFuZ3VhZ2U+DQoJPGxhbmd1YWdlIGlkPSJqYS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w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44K544Op44Kk44OJIDogJW4iLz4NCgkJPCEtLSBzdWJzdGl0dXRpb246ICVuID09IHNsaWRlIG51bWJlciAtLT4NCgkJPCEtLSBzdWJzdGl0dXRpb246ICV0ID09IHRvdGFsIHNsaWRlIGNvdW50IC0tPg0KCQk8dWl0ZXh0IG5hbWU9IlNDUlVCQkFSU1RBVFVTX1NMSURFSU5GTyIgdmFsdWU9IuOCueODqeOCpOODiSA6ICVuIC8gJXQgfCAiLz4NCgkJPHVpdGV4dCBuYW1lPSJTQ1JVQkJBUlNUQVRVU19TVE9QUEVEIiB2YWx1ZT0i5YGc5q2iIi8+DQoJCTx1aXRleHQgbmFtZT0iU0NSVUJCQVJTVEFUVVNfUExBWUlORyIgdmFsdWU9IuWGjeeUn+S4rSIvPg0KCQk8dWl0ZXh0IG5hbWU9IlNDUlVCQkFSU1RBVFVTX05PQVVESU8iIHZhbHVlPSLpn7Plo7DjgarjgZciLz4NCgkJPHVpdGV4dCBuYW1lPSJTQ1JVQkJBUlNUQVRVU19WSURQTEFZSU5HIiB2YWx1ZT0i44OT44OH44Kq5YaN55Sf5LitIi8+DQoJCTx1aXRleHQgbmFtZT0iU0NSVUJCQVJTVEFUVVNfTE9BRElORyIgdmFsdWU9IuODreODvOODieS4rSIvPg0KCQk8dWl0ZXh0IG5hbWU9IlNDUlVCQkFSU1RBVFVTX0JVRkZFUklORyIgdmFsdWU9IuODkOODg+ODleOCoeS4rSIvPg0KCQk8dWl0ZXh0IG5hbWU9IlNDUlVCQkFSU1RBVFVTX1FVRVNUSU9OIiB2YWx1ZT0i6LOq5ZWP44Gr562U44GI44Gm5LiL44GV44GEIi8+DQoJCTx1aXRleHQgbmFtZT0iU0NSVUJCQVJTVEFUVVNfUkVWSUVXUVVJWiIgdmFsdWU9IuOCr+OCpOOCuuOCkuODrOODk+ODpeODvOOBl+OBpuOBhOOBvuOBmSIvPg0KCQk8IS0tIHN1YnN0aXR1dGlvbjogJW0gPT0gbWludXRlcyByZW1haW5pbmcgLS0+DQoJCTwhLS0gc3Vic3RpdHV0aW9uOiAlcyA9PSBzZWNvbmRzIHJlbWFpbmluZyAtLT4NCgkJPHVpdGV4dCBuYW1lPSJFTEFQU0VEIiB2YWx1ZT0i5q6L44KKIDogJW0g5YiGICVzIOenkiIvPg0KCQk8dWl0ZXh0IG5hbWU9Ik5PVEZPVU5EIiB2YWx1ZT0i5L2V44KC6KaL44Gk44GL44KK44G+44Gb44KTIi8+DQoJCTx1aXRleHQgbmFtZT0iQVRUQUNITUVOVFMiIHZhbHVlPSLmt7vku5giLz4NCgkJPCEtLSBzdWJzdGl0dXRpb246ICVwID09IGN1cnJlbnQgc3BlYWtlcidzIHRpdGxlIC0tPg0KCQk8dWl0ZXh0IG5hbWU9IkJJT1dJTl9USVRMRSIgdmFsdWU9Iue1jOattCA6ICVwIi8+DQoJCTx1aXRleHQgbmFtZT0iQklPQlROX1RJVExFIiB2YWx1ZT0i57WM5q20Ii8+DQoJCTx1aXRleHQgbmFtZT0iRElWSURFUkJUTl9USVRMRSIgdmFsdWU9InwiLz4NCgkJPHVpdGV4dCBuYW1lPSJDT05UQUNUQlROX1RJVExFIiB2YWx1ZT0i44GK5ZWP44GE5ZCI44KP44GbIi8+DQoJCTx1aXRleHQgbmFtZT0iVEFCX1FVSVoiIHZhbHVlPSLjgq/jgqTjgroiLz4NCgkJPHVpdGV4dCBuYW1lPSJUQUJfT1VUTElORSIgdmFsdWU9IuOCouOCpuODiOODqeOCpOODsyIvPg0KCQk8dWl0ZXh0IG5hbWU9IlRBQl9USFVNQiIgdmFsdWU9IuOCteODoOODjeODvOODqyIvPg0KCQk8dWl0ZXh0IG5hbWU9IlRBQl9OT1RFUyIgdmFsdWU9IuODjuODvOODiCIvPg0KCQk8dWl0ZXh0IG5hbWU9IlRBQl9TRUFSQ0giIHZhbHVlPSLmpJzntKIiLz4NCgkJPHVpdGV4dCBuYW1lPSJTTElERV9IRUFESU5HIiB2YWx1ZT0i44K544Op44Kk44OJ44K/44Kk44OI44OrIi8+DQoJCTx1aXRleHQgbmFtZT0iRFVSQVRJT05fSEVBRElORyIgdmFsdWU9IumVt+OBlSIvPg0KCQk8dWl0ZXh0IG5hbWU9IlNFQVJDSF9IRUFESU5HIiB2YWx1ZT0i5qSc57Si44GZ44KL44OG44Kt44K544OIIDogIi8+DQoJCTx1aXRleHQgbmFtZT0iVEhVTUJfSEVBRElORyIgdmFsdWU9IuOCueODqeOCpOODiSIvPg0KCQk8dWl0ZXh0IG5hbWU9IlRIVU1CX0lORk8iIHZhbHVlPSLjgrnjg6njgqTjg4njgr/jgqTjg4jjg6sgLyDplbfjgZUiLz4NCgkJPHVpdGV4dCBuYW1lPSJBVFRBQ0hOQU1FX0hFQURJTkciIHZhbHVlPSLjg5XjgqHjgqTjg6vlkI0iLz4NCgkJPHVpdGV4dCBuYW1lPSJBVFRBQ0hTSVpFX0hFQURJTkciIHZhbHVlPSLjgrXjgqTjgroiLz4NCgkJPHVpdGV4dCBuYW1lPSJTTElERV9OT1RFUyIgdmFsdWU9IuOCueODqeOCpOODieODjuODvOODiCIvPg0KCQk8IS0tcXVpeiBwb2QgYW5kIG1lc3NhZ2UgYm94IHRleHRzLS0+DQoJCTx1aXRleHQgbmFtZT0iUVVJWlBPRF9RVUlaX0FUVEVNUFQiIHZhbHVlPSLjgq/jgqTjgrroqabooYzlm57mlbAgOiAiLz4NCgkJPHVpdGV4dCBuYW1lPSJRVUlaUE9EX1FVSVpfQVRURU1QVF9WQUxVRSIgdmFsdWU9IiVuIC8gJXQiLz4NCgkJPHVpdGV4dCBuYW1lPSJRVUlaUE9EX1FVSVpfU0NPUkUiIHZhbHVlPSLjgrnjgrPjgqIgOiAiLz4NCgkJPHVpdGV4dCBuYW1lPSJRVUlaUE9EX1FVSVpfUEFTU1NDT1JFIiB2YWx1ZT0i5ZCI5qC854K5IDoiLz4NCgkJPHVpdGV4dCBuYW1lPSJRVUlaUE9EX1FVSVpfTUFYU0NPUkUiIHZhbHVlPSLmnIDpq5jlvpfngrkgOiAiLz4NCgkJPHVpdGV4dCBuYW1lPSJRVUlaUE9EX1FVRVNBVE1QVF9TVFIiIHZhbHVlPSLoqabooYzlm57mlbAgOiAlbiAvICV0Ii8+DQoJCTx1aXRleHQgbmFtZT0iUVVJWlBPRF9RVUVTVFlQRV9TVFIiIHZhbHVlPSLjgr/jgqTjg5cgOiAlcyIvPg0KCQk8dWl0ZXh0IG5hbWU9IlFVSVpQT0RfUVVFU1RZUEVfR1JEIiB2YWx1ZT0i6KmV5L6hIi8+DQoJCTx1aXRleHQgbmFtZT0iUVVJWlBPRF9RVUVTVFlQRV9TVlkiIHZhbHVlPSLjgqLjg7PjgrHjg7zjg4giLz4NCgkJPHVpdGV4dCBuYW1lPSJRVUlaUE9EX1FVSVpBVE1QVF9JTkYiIHZhbHVlPSLnhKHliLbpmZAiLz4NCgkJPHVpdGV4dCBuYW1lPSJRVUlaUE9EX1FVRVNBVE1QVF9JTkYiIHZhbHVlPSLnhKHliLbpmZAiLz4NCgkJPHVpdGV4dCBuYW1lPSJXQVJOSU5HTVNHX1lFU1NUUklORyIgdmFsdWU9IuOBr+OBhCIvPg0KCQk8dWl0ZXh0IG5hbWU9IldBUk5JTkdNU0dfTk9TVFJJTkciIHZhbHVlPSLjgYTjgYTjgYgiLz4NCgkJPHVpdGV4dCBuYW1lPSJXQVJOSU5HTVNHX1RJVExFU1RSSU5HIiB2YWx1ZT0i44Kv44Kk44K644Gu44OK44OT44Ky44O844K344On44Oz44Gr6Zai44GZ44KL6K2m5ZGKIi8+DQoJCTx1aXRleHQgbmFtZT0iV0FSTklOR01TR19NU0dTVFJJTkciIHZhbHVlPSLjgZPjga7jgq/jgqTjgrrjgavjga/jgIHjgb7jgaDop6PnrZTjgZfjgabjgYTjgarjgYTos6rllY/jgYzjgYLjgorjgb7jgZnjgIImI3hBOyYjeEE7IOOCr+OCpOOCuuOCkue1guS6huOBmeOCi+OBq+OBr+OAgeOAjOOBr+OBhOOAjeOCkuOCr+ODquODg+OCr+OBl+OBvuOBmeOAguOCr+OCpOOCuuOCkue2muihjOOBmeOCi+OBq+OBr+OAgeOAjOOBhOOBhOOBiOOAjeOCkuOCr+ODquODg+OCr+OBl+OBvuOBmeOAgiIvPg0KCQk8dWl0ZXh0IG5hbWU9IklORk9STUFUSU9OX0gyNjRfRkxBU0hQTEFZRVIiIHZhbHVlPSLjgYrkvb/jgYTjga7jgrPjg7Pjg5Tjg6Xjg7zjgr/jgavnj77lnKjjgqTjg7Pjgrnjg4jjg7zjg6vjgZXjgozjgabjgYTjgosgRmxhc2ggUGxheWVyIOOBruODkOODvOOCuOODp+ODs+OBr+OAgeOBk+OBruODk+ODh+OCquOCkuOCteODneODvOODiOOBl+OBpuOBhOOBvuOBm+OCk+OAguacgOaWsOOBriBGbGFzaCBQbGF5ZXIg44KS44OA44Km44Oz44Ot44O844OJ44GZ44KL44Gr44Gv44CB44OT44OH44Kq6aCY5Z+f44KS44Kv44Oq44OD44Kv44GX44Gm44GP44Gg44GV44GE44CC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OCteOCpOODieODkOODvOOCkuWPguWKoOiAheOBq+imi+OBm+OCiyIvPg0KCQk8dWl0ZXh0IG5hbWU9Ik1VVEUiIHZhbHVlPSLjg5/jg6Xjg7zjg4giLz4NCgkJPHVpdGV4dCBuYW1lPSJET0NXUkFQX1RJVExFIiB2YWx1ZT0iUHJlc2VudGVyIOa3u+S7mOODleOCoeOCpOODqyIvPg0KCQk8dWl0ZXh0IG5hbWU9IkRPQ1dSQVBfTVNHIiB2YWx1ZT0i44Oe44Kk44Kz44Oz44OU44Ol44O844K/44Gr5L+d5a2YIi8+DQoJCTx1aXRleHQgbmFtZT0iRE9DV1JBUF9QUk9NUFQiIHZhbHVlPSLjgq/jg6rjg4Pjgq/jgZfjgabjg4Djgqbjg7Pjg63jg7zjg4kiLz4NCgk8L2xhbmd1YWdlPg0KCTxsYW5ndWFnZSBpZD0ia28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S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S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uyKrOudvOydtOuTnCAlbiIvPg0KCQk8IS0tIHN1YnN0aXR1dGlvbjogJW4gPT0gc2xpZGUgbnVtYmVyIC0tPg0KCQk8IS0tIHN1YnN0aXR1dGlvbjogJXQgPT0gdG90YWwgc2xpZGUgY291bnQgLS0+DQoJCTx1aXRleHQgbmFtZT0iU0NSVUJCQVJTVEFUVVNfU0xJREVJTkZPIiB2YWx1ZT0i7Iqs65287J2065OcICVuIC8gJXQgfCAiLz4NCgkJPHVpdGV4dCBuYW1lPSJTQ1JVQkJBUlNUQVRVU19TVE9QUEVEIiB2YWx1ZT0i7KSR7KeA65CoIi8+DQoJCTx1aXRleHQgbmFtZT0iU0NSVUJCQVJTVEFUVVNfUExBWUlORyIgdmFsdWU9IuyerOyDnSIvPg0KCQk8dWl0ZXh0IG5hbWU9IlNDUlVCQkFSU1RBVFVTX05PQVVESU8iIHZhbHVlPSLsmKTrlJTsmKQg7JeG7J2MIi8+DQoJCTx1aXRleHQgbmFtZT0iU0NSVUJCQVJTVEFUVVNfVklEUExBWUlORyIgdmFsdWU9Iuu5hOuUlOyYpCDsnqzsg50g7KSRIi8+DQoJCTx1aXRleHQgbmFtZT0iU0NSVUJCQVJTVEFUVVNfTE9BRElORyIgdmFsdWU9IuuhnOuUqSIvPg0KCQk8dWl0ZXh0IG5hbWU9IlNDUlVCQkFSU1RBVFVTX0JVRkZFUklORyIgdmFsdWU9IuuyhO2NvOungSIvPg0KCQk8dWl0ZXh0IG5hbWU9IlNDUlVCQkFSU1RBVFVTX1FVRVNUSU9OIiB2YWx1ZT0i7KeI66y47JeQIOuLte2VmOq4sCIvPg0KCQk8dWl0ZXh0IG5hbWU9IlNDUlVCQkFSU1RBVFVTX1JFVklFV1FVSVoiIHZhbHVlPSLsp4jrrLgg64uk7Iuc67O06riwIi8+DQoJCTwhLS0gc3Vic3RpdHV0aW9uOiAlbSA9PSBtaW51dGVzIHJlbWFpbmluZyAtLT4NCgkJPCEtLSBzdWJzdGl0dXRpb246ICVzID09IHNlY29uZHMgcmVtYWluaW5nIC0tPg0KCQk8dWl0ZXh0IG5hbWU9IkVMQVBTRUQiIHZhbHVlPSIlbeu2hCAlc+y0iCDrgqjsnYwiLz4NCgkJPHVpdGV4dCBuYW1lPSJOT1RGT1VORCIgdmFsdWU9IuyXhuydjCIvPg0KCQk8dWl0ZXh0IG5hbWU9IkFUVEFDSE1FTlRTIiB2YWx1ZT0i7LKo67aAIO2MjOydvCIvPg0KCQk8IS0tIHN1YnN0aXR1dGlvbjogJXAgPT0gY3VycmVudCBzcGVha2VyJ3MgdGl0bGUgLS0+DQoJCTx1aXRleHQgbmFtZT0iQklPV0lOX1RJVExFIiB2YWx1ZT0i6rK966ClIOyGjOqwnDogJXAiLz4NCgkJPHVpdGV4dCBuYW1lPSJCSU9CVE5fVElUTEUiIHZhbHVlPSLqsr3roKUg7IaM6rCcIi8+DQoJCTx1aXRleHQgbmFtZT0iRElWSURFUkJUTl9USVRMRSIgdmFsdWU9InwiLz4NCgkJPHVpdGV4dCBuYW1lPSJDT05UQUNUQlROX1RJVExFIiB2YWx1ZT0i7Jew65297LKYIi8+DQoJCTx1aXRleHQgbmFtZT0iVEFCX1FVSVoiIHZhbHVlPSLtgLTspogiLz4NCgkJPHVpdGV4dCBuYW1lPSJUQUJfT1VUTElORSIgdmFsdWU9IuqwnOyalCIvPg0KCQk8dWl0ZXh0IG5hbWU9IlRBQl9USFVNQiIgdmFsdWU9Iuy2leyGjO2MkCIvPg0KCQk8dWl0ZXh0IG5hbWU9IlRBQl9OT1RFUyIgdmFsdWU9IuuFuO2KuCIvPg0KCQk8dWl0ZXh0IG5hbWU9IlRBQl9TRUFSQ0giIHZhbHVlPSLqsoDsg4kiLz4NCgkJPHVpdGV4dCBuYW1lPSJTTElERV9IRUFESU5HIiB2YWx1ZT0i7Iqs65287J2065OcIOygnOuqqSIvPg0KCQk8dWl0ZXh0IG5hbWU9IkRVUkFUSU9OX0hFQURJTkciIHZhbHVlPSLsnqzsg53si5zqsIQiLz4NCgkJPHVpdGV4dCBuYW1lPSJTRUFSQ0hfSEVBRElORyIgdmFsdWU9Iu2FjeyKpO2KuCDqsoDsg4k6Ii8+DQoJCTx1aXRleHQgbmFtZT0iVEhVTUJfSEVBRElORyIgdmFsdWU9IuyKrOudvOydtOuTnCIvPg0KCQk8dWl0ZXh0IG5hbWU9IlRIVU1CX0lORk8iIHZhbHVlPSLsoJzrqqkv7J6s7IOd7Iuc6rCEIi8+DQoJCTx1aXRleHQgbmFtZT0iQVRUQUNITkFNRV9IRUFESU5HIiB2YWx1ZT0i7YyM7J28IOydtOumhCIvPg0KCQk8dWl0ZXh0IG5hbWU9IkFUVEFDSFNJWkVfSEVBRElORyIgdmFsdWU9Iu2BrOq4sCIvPg0KCQk8dWl0ZXh0IG5hbWU9IlNMSURFX05PVEVTIiB2YWx1ZT0i7Iqs65287J2065OcIOuFuO2KuCIvPg0KCQk8IS0tcXVpeiBwb2QgYW5kIG1lc3NhZ2UgYm94IHRleHRzLS0+DQoJCTx1aXRleHQgbmFtZT0iUVVJWlBPRF9RVUlaX0FUVEVNUFQiIHZhbHVlPSLtgLTspogg7Iuc64+EIO2an+yImDoiLz4NCgkJPHVpdGV4dCBuYW1lPSJRVUlaUE9EX1FVSVpfQVRURU1QVF9WQUxVRSIgdmFsdWU9IiVuLyV0Ii8+DQoJCTx1aXRleHQgbmFtZT0iUVVJWlBPRF9RVUlaX1NDT1JFIiB2YWx1ZT0i65Od7KCQOiIvPg0KCQk8dWl0ZXh0IG5hbWU9IlFVSVpQT0RfUVVJWl9QQVNTU0NPUkUiIHZhbHVlPSLthrXqs7wg7KCQ7IiYOiIvPg0KCQk8dWl0ZXh0IG5hbWU9IlFVSVpQT0RfUVVJWl9NQVhTQ09SRSIgdmFsdWU9Iuy1nOqzoCDsoJDsiJg6Ii8+DQoJCTx1aXRleHQgbmFtZT0iUVVJWlBPRF9RVUVTQVRNUFRfU1RSIiB2YWx1ZT0i7Iuc64+EIO2an+yImDogJW4vJXQiLz4NCgkJPHVpdGV4dCBuYW1lPSJRVUlaUE9EX1FVRVNUWVBFX1NUUiIgdmFsdWU9IuycoO2YlTogJXMiLz4NCgkJPHVpdGV4dCBuYW1lPSJRVUlaUE9EX1FVRVNUWVBFX0dSRCIgdmFsdWU9IuygkOyImCDrp6TquLDquLAg7JmE66OMIi8+DQoJCTx1aXRleHQgbmFtZT0iUVVJWlBPRF9RVUVTVFlQRV9TVlkiIHZhbHVlPSLshKTrrLgg7KGw7IKsIi8+DQoJCTx1aXRleHQgbmFtZT0iUVVJWlBPRF9RVUlaQVRNUFRfSU5GIiB2YWx1ZT0i66y07ZWcIi8+DQoJCTx1aXRleHQgbmFtZT0iUVVJWlBPRF9RVUVTQVRNUFRfSU5GIiB2YWx1ZT0i66y07ZWcIi8+DQoJCTx1aXRleHQgbmFtZT0iV0FSTklOR01TR19ZRVNTVFJJTkciIHZhbHVlPSLsmIgiLz4NCgkJPHVpdGV4dCBuYW1lPSJXQVJOSU5HTVNHX05PU1RSSU5HIiB2YWx1ZT0i7JWE64uI7JikIi8+DQoJCTx1aXRleHQgbmFtZT0iV0FSTklOR01TR19USVRMRVNUUklORyIgdmFsdWU9Iu2AtOymiCDrgrTruYTqsozsnbTshZgg6rK96rOgIi8+DQoJCTx1aXRleHQgbmFtZT0iV0FSTklOR01TR19NU0dTVFJJTkciIHZhbHVlPSLsnbQg7YC07KaI7JeQ7IScIOyLnOuPhO2VmOyngCDslYrsnYAg7KeI66y47J20IOyeiOyKteuLiOuLpC4mI3hBOyYjeEE77YC07KaI66W8IOyiheujjO2VmOugpOuptCBb7JiIXeulvCDtgbTrpq3tlZjqs6AsIO2AtOymiOulvCDqs4Tsho3tlZjroKTrqbQgW+yVhOuLiOyYpF3rpbwg7YG066at7ZWY7Iut7Iuc7JikLiIvPg0KCQk8dWl0ZXh0IG5hbWU9IklORk9STUFUSU9OX0gyNjRfRkxBU0hQTEFZRVIiIHZhbHVlPSLsi5zsiqTthZzsl5Ag7ISk7LmY65CY7Ja0IOyeiOuKlCDtmITsnqwg67KE7KCE7J2YIEZsYXNoIFBsYXllcuuKlCDsnbQg67mE65SU7Jik66W8IOyngOybkO2VmOyngCDslYrsirXri4jri6QuIOy1nOyLoCBGbGFzaCBQbGF5ZXLrpbwg64uk7Jq066Gc65Oc7ZWY66Ck66m0IOu5hOuUlOyYpCDsmIHsl63snYQg7YG066at7ZWY7Iut7Iuc7Jik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ssLjsl6zsnpDsl5Dqsowg7IS466GcIOunieuMgCDrs7TsnbTquLAiLz4NCgkJPHVpdGV4dCBuYW1lPSJNVVRFIiB2YWx1ZT0i7J2M7IaM6rGwIi8+DQoJCTx1aXRleHQgbmFtZT0iRE9DV1JBUF9USVRMRSIgdmFsdWU9IlByZXNlbnRlciDtjIzsnbwg7LKo67aAIi8+DQoJCTx1aXRleHQgbmFtZT0iRE9DV1JBUF9NU0ciIHZhbHVlPSLrgrQg7Lu07ZOo7YSw7JeQIOyggOyepSIvPg0KCQk8dWl0ZXh0IG5hbWU9IkRPQ1dSQVBfUFJPTVBUIiB2YWx1ZT0i7YG066at7ZWY7JesIOuLpOyatOuhnOuTnCIvPg0KCTwvbGFuZ3VhZ2U+DQoJPGxhbmd1YWdlIGlkPSJlcy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YSAlbiIvPg0KCQk8IS0tIHN1YnN0aXR1dGlvbjogJW4gPT0gc2xpZGUgbnVtYmVyIC0tPg0KCQk8IS0tIHN1YnN0aXR1dGlvbjogJXQgPT0gdG90YWwgc2xpZGUgY291bnQgLS0+DQoJCTx1aXRleHQgbmFtZT0iU0NSVUJCQVJTVEFUVVNfU0xJREVJTkZPIiB2YWx1ZT0iRGlhcG9zaXRpdmEgJW4gLyAldCB8ICIvPg0KCQk8dWl0ZXh0IG5hbWU9IlNDUlVCQkFSU1RBVFVTX1NUT1BQRUQiIHZhbHVlPSJEZXRlbmlkYSIvPg0KCQk8dWl0ZXh0IG5hbWU9IlNDUlVCQkFSU1RBVFVTX1BMQVlJTkciIHZhbHVlPSJSZXByb2R1Y2llbmRvIi8+DQoJCTx1aXRleHQgbmFtZT0iU0NSVUJCQVJTVEFUVVNfTk9BVURJTyIgdmFsdWU9IlNpbiBzb25pZG8iLz4NCgkJPHVpdGV4dCBuYW1lPSJTQ1JVQkJBUlNUQVRVU19WSURQTEFZSU5HIiB2YWx1ZT0iVsOtZGVvIGVuIHJlcHJvZC4iLz4NCgkJPHVpdGV4dCBuYW1lPSJTQ1JVQkJBUlNUQVRVU19MT0FESU5HIiB2YWx1ZT0iQ2FyZ2FuZG8iLz4NCgkJPHVpdGV4dCBuYW1lPSJTQ1JVQkJBUlNUQVRVU19CVUZGRVJJTkciIHZhbHVlPSJBbG1hY2VuYW5kbyBlbiBiw7pmZXIiLz4NCgkJPHVpdGV4dCBuYW1lPSJTQ1JVQkJBUlNUQVRVU19RVUVTVElPTiIgdmFsdWU9IkNvbnRlc3RhciBwcmVndW50YSIvPg0KCQk8dWl0ZXh0IG5hbWU9IlNDUlVCQkFSU1RBVFVTX1JFVklFV1FVSVoiIHZhbHVlPSJSZXZpc2FuZG8gcHJ1ZWJhIi8+DQoJCTwhLS0gc3Vic3RpdHV0aW9uOiAlbSA9PSBtaW51dGVzIHJlbWFpbmluZyAtLT4NCgkJPCEtLSBzdWJzdGl0dXRpb246ICVzID09IHNlY29uZHMgcmVtYWluaW5nIC0tPg0KCQk8dWl0ZXh0IG5hbWU9IkVMQVBTRUQiIHZhbHVlPSIlbSBtaW51dG9zICVzIHNlZ3VuZG9zIHJlc3RhbnRlcyIvPg0KCQk8dWl0ZXh0IG5hbWU9Ik5PVEZPVU5EIiB2YWx1ZT0iTm8gc2UgaGEgZW5jb250cmFkbyBuYWRhIi8+DQoJCTx1aXRleHQgbmFtZT0iQVRUQUNITUVOVFMiIHZhbHVlPSJBcmNoaXZvcyBhZGp1bnRvcyIvPg0KCQk8IS0tIHN1YnN0aXR1dGlvbjogJXAgPT0gY3VycmVudCBzcGVha2VyJ3MgdGl0bGUgLS0+DQoJCTx1aXRleHQgbmFtZT0iQklPV0lOX1RJVExFIiB2YWx1ZT0iQmlvZ3JhZsOtYTogJXAiLz4NCgkJPHVpdGV4dCBuYW1lPSJCSU9CVE5fVElUTEUiIHZhbHVlPSJCaW9ncmFmw61hIi8+DQoJCTx1aXRleHQgbmFtZT0iRElWSURFUkJUTl9USVRMRSIgdmFsdWU9InwiLz4NCgkJPHVpdGV4dCBuYW1lPSJDT05UQUNUQlROX1RJVExFIiB2YWx1ZT0iQ29udGFjdG8iLz4NCgkJPHVpdGV4dCBuYW1lPSJUQUJfUVVJWiIgdmFsdWU9IlBydWViYSIvPg0KCQk8dWl0ZXh0IG5hbWU9IlRBQl9PVVRMSU5FIiB2YWx1ZT0iQ29udG9ybm8iLz4NCgkJPHVpdGV4dCBuYW1lPSJUQUJfVEhVTUIiIHZhbHVlPSJNaW5pYXQuIi8+DQoJCTx1aXRleHQgbmFtZT0iVEFCX05PVEVTIiB2YWx1ZT0iTm90YXMiLz4NCgkJPHVpdGV4dCBuYW1lPSJUQUJfU0VBUkNIIiB2YWx1ZT0iQnVzY2FyIi8+DQoJCTx1aXRleHQgbmFtZT0iU0xJREVfSEVBRElORyIgdmFsdWU9IlTDrXR1bG8gZGUgZGlhcG9zaXRpdmEiLz4NCgkJPHVpdGV4dCBuYW1lPSJEVVJBVElPTl9IRUFESU5HIiB2YWx1ZT0iRHVyYWMuIi8+DQoJCTx1aXRleHQgbmFtZT0iU0VBUkNIX0hFQURJTkciIHZhbHVlPSJCdXNjYXIgdGV4dG86Ii8+DQoJCTx1aXRleHQgbmFtZT0iVEhVTUJfSEVBRElORyIgdmFsdWU9IkRpYXBvc2l0aXZhIi8+DQoJCTx1aXRleHQgbmFtZT0iVEhVTUJfSU5GTyIgdmFsdWU9IkR1ci4vVMOtdC4gZGlhcC4iLz4NCgkJPHVpdGV4dCBuYW1lPSJBVFRBQ0hOQU1FX0hFQURJTkciIHZhbHVlPSJOb21icmUgZGUgYXJjaGl2byIvPg0KCQk8dWl0ZXh0IG5hbWU9IkFUVEFDSFNJWkVfSEVBRElORyIgdmFsdWU9IlRhbWHDsW8iLz4NCgkJPHVpdGV4dCBuYW1lPSJTTElERV9OT1RFUyIgdmFsdWU9Ik5vdGFzIGRlIGRpYXBvc2l0aXZhIi8+DQoJCTwhLS1xdWl6IHBvZCBhbmQgbWVzc2FnZSBib3ggdGV4dHMtLT4NCgkJPHVpdGV4dCBuYW1lPSJRVUlaUE9EX1FVSVpfQVRURU1QVCIgdmFsdWU9IkludGVudG8gZGUgcHJ1ZWJhOiIvPg0KCQk8dWl0ZXh0IG5hbWU9IlFVSVpQT0RfUVVJWl9BVFRFTVBUX1ZBTFVFIiB2YWx1ZT0iJW4gZGUgJXQiLz4NCgkJPHVpdGV4dCBuYW1lPSJRVUlaUE9EX1FVSVpfU0NPUkUiIHZhbHVlPSJQdW50dWFjacOzbjoiLz4NCgkJPHVpdGV4dCBuYW1lPSJRVUlaUE9EX1FVSVpfUEFTU1NDT1JFIiB2YWx1ZT0iUHVudHVhY2nDs24gcGFyYSBhcHJvYmFyOiIvPg0KCQk8dWl0ZXh0IG5hbWU9IlFVSVpQT0RfUVVJWl9NQVhTQ09SRSIgdmFsdWU9IlB1bnR1YWNpw7NuIG3DoXhpbWE6Ii8+DQoJCTx1aXRleHQgbmFtZT0iUVVJWlBPRF9RVUVTQVRNUFRfU1RSIiB2YWx1ZT0iSW50ZW50b3M6ICVuIGRlICV0Ii8+DQoJCTx1aXRleHQgbmFtZT0iUVVJWlBPRF9RVUVTVFlQRV9TVFIiIHZhbHVlPSJUaXBvOiAlcyIvPg0KCQk8dWl0ZXh0IG5hbWU9IlFVSVpQT0RfUVVFU1RZUEVfR1JEIiB2YWx1ZT0iQ29uIHB1bnR1YWNpw7NuIi8+DQoJCTx1aXRleHQgbmFtZT0iUVVJWlBPRF9RVUVTVFlQRV9TVlkiIHZhbHVlPSJFbmN1ZXN0YSIvPg0KCQk8dWl0ZXh0IG5hbWU9IlFVSVpQT0RfUVVJWkFUTVBUX0lORiIgdmFsdWU9IkluZmluaXRvIi8+DQoJCTx1aXRleHQgbmFtZT0iUVVJWlBPRF9RVUVTQVRNUFRfSU5GIiB2YWx1ZT0iSW5maW5pdG8iLz4NCgkJPHVpdGV4dCBuYW1lPSJXQVJOSU5HTVNHX1lFU1NUUklORyIgdmFsdWU9IlPDrSIvPg0KCQk8dWl0ZXh0IG5hbWU9IldBUk5JTkdNU0dfTk9TVFJJTkciIHZhbHVlPSJObyIvPg0KCQk8dWl0ZXh0IG5hbWU9IldBUk5JTkdNU0dfVElUTEVTVFJJTkciIHZhbHVlPSJBdmlzbyBkZSBuYXZlZ2FjacOzbiBkZSBwcnVlYmEiLz4NCgkJPHVpdGV4dCBuYW1lPSJXQVJOSU5HTVNHX01TR1NUUklORyIgdmFsdWU9IkhheSBwcmVndW50YXMgc2luIGludGVudG9zIGVuIGVzdGEgcHJ1ZWJhLiYjeEE7JiN4QTtQYXJhIHNhbGlyIGRlIGxhIHBydWViYSwgaGFnYSBjbGljIGVuIFPDrS4gUGFyYSBjb250aW51YXIsIGhhZ2EgY2xpYyBlbiBOby4iLz4NCgkJPHVpdGV4dCBuYW1lPSJJTkZPUk1BVElPTl9IMjY0X0ZMQVNIUExBWUVSIiB2YWx1ZT0iTGEgdmVyc2nDs24gYWN0dWFsIGRlIEZsYXNoIFBsYXllciBpbnN0YWxhZGEgZW4gZWwgb3JkZW5hZG9yIG5vIGVzIGNvbXBhdGlibGUgY29uIGVzdGUgdsOtZGVvLiBIYWdhIGNsaWMgZW4gZWwgw6FyZWEgZGUgdsOtZGVvIHBhcmEgZGVzY2FyZ2FyIGxhIMO6bHRpbWEgdmVyc2nDs24gZGUgRmxhc2ggUGxheWVyLiIvPg0KCQk8IS0tIHN1YnN0aXR1dGlvbjogJXAgPT0gcHJlc2VudGF0aW9uIHRpdGxlIC0tPg0KCQk8IS0tIHN1YnN0aXR1dGlvbjogJXMgPT0gc2xpZGUgdGl0bGUgLS0+DQoJCTwhLS0gc3Vic3RpdHV0aW9uOiAlbiA9PSBzbGlkZSBudW1iZXIgLS0+DQoJCTx1aXRleHQgbmFtZT0iQk9PS01BUksiIHZhbHVlPSJBZG9iZSBQcmVzZW50ZXI6ICVwIi8+DQoJCTwhLS0gc3Vic3RpdHV0aW9uOiAlcCA9PSBwcmVzZW50YXRpb24gdGl0bGUgLS0+DQoJCTwhLS0gc3Vic3RpdHV0aW9uOiAlcyA9PSBzbGlkZSB0aXRsZSAtLT4NCgkJPCEtLSBzdWJzdGl0dXRpb246ICVuID09IHNsaWRlIG51bWJlciAtLT4NCgkJPHVpdGV4dCBuYW1lPSJCT09LTUFSS1NMSURFIiB2YWx1ZT0iQWRvYmUgUHJlc2VudGVyOiAlcCAlcyIvPg0KCQk8dWl0ZXh0IG5hbWU9IlNIT1dTSURFQkFSIiB2YWx1ZT0iTW9zdHJhciBiYXJyYSBsYXRlcmFsIGEgbG9zIHBhcnRpY2lwYW50ZXMiLz4NCgkJPHVpdGV4dCBuYW1lPSJNVVRFIiB2YWx1ZT0iU2lsZW5jaWFyIi8+DQoJCTx1aXRleHQgbmFtZT0iRE9DV1JBUF9USVRMRSIgdmFsdWU9IkFyY2hpdm8gYWRqdW50byBkZSBQcmVzZW50ZXIiLz4NCgkJPHVpdGV4dCBuYW1lPSJET0NXUkFQX01TRyIgdmFsdWU9Ikd1YXJkYXIgZW4gTWkgUEMiLz4NCgkJPHVpdGV4dCBuYW1lPSJET0NXUkFQX1BST01QVCIgdmFsdWU9IkhhZ2EgY2xpYyBlbiBEZXNjYXJnYXIiLz4NCgk8L2xhbmd1YWdlPg0KCTxsYW5ndWFnZSBpZD0icHQ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whLS1xdWl6IHBvZCBhbmQgbWVzc2FnZSBib3ggdGV4dHMtLT4NCgkJPHVpdGV4dCBuYW1lPSJRVUlaUE9EX1FVSVpfQVRURU1QVCIgdmFsdWU9IlRlbnRhdGl2YSBubyBxdWVzdGlvbsOhcmlvOiIvPg0KCQk8dWl0ZXh0IG5hbWU9IlFVSVpQT0RfUVVJWl9BVFRFTVBUX1ZBTFVFIiB2YWx1ZT0iJW4gZGUgJXQiLz4NCgkJPHVpdGV4dCBuYW1lPSJRVUlaUE9EX1FVSVpfU0NPUkUiIHZhbHVlPSJQb250dWHDp8OjbzoiLz4NCgkJPHVpdGV4dCBuYW1lPSJRVUlaUE9EX1FVSVpfUEFTU1NDT1JFIiB2YWx1ZT0iUG9udHVhw6fDo28gZGUgYXByb3Zhw6fDo286Ii8+DQoJCTx1aXRleHQgbmFtZT0iUVVJWlBPRF9RVUlaX01BWFNDT1JFIiB2YWx1ZT0iUG9udHVhw6fDo28gbcOheGltYToiLz4NCgkJPHVpdGV4dCBuYW1lPSJRVUlaUE9EX1FVRVNBVE1QVF9TVFIiIHZhbHVlPSJUZW50YXRpdmE6ICVuIGRlICV0Ii8+DQoJCTx1aXRleHQgbmFtZT0iUVVJWlBPRF9RVUVTVFlQRV9TVFIiIHZhbHVlPSJUaXBvOiAlcyIvPg0KCQk8dWl0ZXh0IG5hbWU9IlFVSVpQT0RfUVVFU1RZUEVfR1JEIiB2YWx1ZT0iQ2xhc3NpZmljYXTDs3JpYSIvPg0KCQk8dWl0ZXh0IG5hbWU9IlFVSVpQT0RfUVVFU1RZUEVfU1ZZIiB2YWx1ZT0iUGVzcXVpc2EiLz4NCgkJPHVpdGV4dCBuYW1lPSJRVUlaUE9EX1FVSVpBVE1QVF9JTkYiIHZhbHVlPSJJbmZpbml0byIvPg0KCQk8dWl0ZXh0IG5hbWU9IlFVSVpQT0RfUVVFU0FUTVBUX0lORiIgdmFsdWU9IkluZmluaXRvIi8+DQoJCTx1aXRleHQgbmFtZT0iV0FSTklOR01TR19ZRVNTVFJJTkciIHZhbHVlPSJTaW0iLz4NCgkJPHVpdGV4dCBuYW1lPSJXQVJOSU5HTVNHX05PU1RSSU5HIiB2YWx1ZT0iTsOjbyIvPg0KCQk8dWl0ZXh0IG5hbWU9IldBUk5JTkdNU0dfVElUTEVTVFJJTkciIHZhbHVlPSJBbGVydGEgZGUgbmF2ZWdhw6fDo28gZG8gcXVlc3Rpb27DoXJpbyIvPg0KCQk8dWl0ZXh0IG5hbWU9IldBUk5JTkdNU0dfTVNHU1RSSU5HIiB2YWx1ZT0iRXhpc3RlbSBwZXJndW50YXMgcXVlIG7Do28gZm9yYW0gcmVzcG9uZGlkYXMgbmVzdGUgcXVlc3Rpb27DoXJpby4mI3hBOyYjeEE7Q2xpcXVlIGVtIFNpbSBwYXJhIHNhaXIgZG8gcXVlc3Rpb27DoXJpbyBvdSBlbSBOw6NvIHNlIHF1aXNlciBjb250aW51YXIuIi8+DQoJCTx1aXRleHQgbmFtZT0iSU5GT1JNQVRJT05fSDI2NF9GTEFTSFBMQVlFUiIgdmFsdWU9IkEgdmVyc8OjbyBhdHVhbCBkbyBGbGFzaCBQbGF5ZXIgaW5zdGFsYWRhIG5vIGNvbXB1dGFkb3IgbsOjbyBvZmVyZWNlIHN1cG9ydGUgYSBlc3NlIHbDrWRlby4gQ2xpcXVlIG5hIMOhcmVhIGRvIHbDrWRlbyBwYXJhIGJhaXhhciBhIHZlcnPDo28gbWFpcyByZWNlbnRlIGRv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zdHJhciBiYXJyYSBsYXRlcmFsIGFvIHBhcnRpY2lwYW50ZXMiLz4NCgkJPHVpdGV4dCBuYW1lPSJNVVRFIiB2YWx1ZT0iTXVkbyIvPg0KCQk8dWl0ZXh0IG5hbWU9IkRPQ1dSQVBfVElUTEUiIHZhbHVlPSJBbmV4byBkZSBhcnF1aXZvIGRvIFByZXNlbnRlciIvPg0KCQk8dWl0ZXh0IG5hbWU9IkRPQ1dSQVBfTVNHIiB2YWx1ZT0iU2FsdmFyIGVtIE1ldSBjb21wdXRhZG9yIi8+DQoJCTx1aXRleHQgbmFtZT0iRE9DV1JBUF9QUk9NUFQiIHZhbHVlPSJDbGlxdWUgcGFyYSBiYWl4YXIiLz4NCgk8L2xhbmd1YWdlPg0KCTxsYW5ndWFnZSBpZD0iaXQ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SW50ZXJyb3R0byIvPg0KCQk8dWl0ZXh0IG5hbWU9IlNDUlVCQkFSU1RBVFVTX1BMQVlJTkciIHZhbHVlPSJSaXByb2R1emlvbmUiLz4NCgkJPHVpdGV4dCBuYW1lPSJTQ1JVQkJBUlNUQVRVU19OT0FVRElPIiB2YWx1ZT0iQXVkaW8gaW5hdHQuIi8+DQoJCTx1aXRleHQgbmFtZT0iU0NSVUJCQVJTVEFUVVNfVklEUExBWUlORyIgdmFsdWU9IlZpZGVvIGluIHJpcHJvZHV6aW9uZSIvPg0KCQk8dWl0ZXh0IG5hbWU9IlNDUlVCQkFSU1RBVFVTX0xPQURJTkciIHZhbHVlPSJDYXJpY2FtZW50byIvPg0KCQk8dWl0ZXh0IG5hbWU9IlNDUlVCQkFSU1RBVFVTX0JVRkZFUklORyIgdmFsdWU9IkJ1ZmZlcmluZyIvPg0KCQk8dWl0ZXh0IG5hbWU9IlNDUlVCQkFSU1RBVFVTX1FVRVNUSU9OIiB2YWx1ZT0iUmlzcG9uZGkgYSBkb21hbmRhIi8+DQoJCTx1aXRleHQgbmFtZT0iU0NSVUJCQVJTVEFUVVNfUkVWSUVXUVVJWiIgdmFsdWU9IlJldmlzaW9uZSBkZWwgcXVpeiIvPg0KCQk8IS0tIHN1YnN0aXR1dGlvbjogJW0gPT0gbWludXRlcyByZW1haW5pbmcgLS0+DQoJCTwhLS0gc3Vic3RpdHV0aW9uOiAlcyA9PSBzZWNvbmRzIHJlbWFpbmluZyAtLT4NCgkJPHVpdGV4dCBuYW1lPSJFTEFQU0VEIiB2YWx1ZT0iJW0gTWludXRpICVzIFNlY29uZGkgcmltYW5lbnRpIi8+DQoJCTx1aXRleHQgbmFtZT0iTk9URk9VTkQiIHZhbHVlPSJOZXNzdW4gZWxlbWVudG8gdHJvdmF0byIvPg0KCQk8dWl0ZXh0IG5hbWU9IkFUVEFDSE1FTlRTIiB2YWx1ZT0iQWxsZWdhdGk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LiIvPg0KCQk8dWl0ZXh0IG5hbWU9IlRBQl9RVUlaIiB2YWx1ZT0iUXVpeiIvPg0KCQk8dWl0ZXh0IG5hbWU9IlRBQl9PVVRMSU5FIiB2YWx1ZT0iU3RydXR0dXJhIi8+DQoJCTx1aXRleHQgbmFtZT0iVEFCX1RIVU1CIiB2YWx1ZT0iTWluaWF0dXJlIi8+DQoJCTx1aXRleHQgbmFtZT0iVEFCX05PVEVTIiB2YWx1ZT0iTm90ZSIvPg0KCQk8dWl0ZXh0IG5hbWU9IlRBQl9TRUFSQ0giIHZhbHVlPSJDZXJjYSIvPg0KCQk8dWl0ZXh0IG5hbWU9IlNMSURFX0hFQURJTkciIHZhbHVlPSJUaXRvbG8gZGlhcG9zaXRpdmEiLz4NCgkJPHVpdGV4dCBuYW1lPSJEVVJBVElPTl9IRUFESU5HIiB2YWx1ZT0iRHVyYXRhIi8+DQoJCTx1aXRleHQgbmFtZT0iU0VBUkNIX0hFQURJTkciIHZhbHVlPSJDZXJjYSB0ZXN0bzoiLz4NCgkJPHVpdGV4dCBuYW1lPSJUSFVNQl9IRUFESU5HIiB2YWx1ZT0iRGlhcG9zaXRpdmEiLz4NCgkJPHVpdGV4dCBuYW1lPSJUSFVNQl9JTkZPIiB2YWx1ZT0iVGl0b2xvL1RlbXBvIi8+DQoJCTx1aXRleHQgbmFtZT0iQVRUQUNITkFNRV9IRUFESU5HIiB2YWx1ZT0iTm9tZSBmaWxlIi8+DQoJCTx1aXRleHQgbmFtZT0iQVRUQUNIU0laRV9IRUFESU5HIiB2YWx1ZT0iRGltZW5zaW9uZSIvPg0KCQk8dWl0ZXh0IG5hbWU9IlNMSURFX05PVEVTIiB2YWx1ZT0iTm90ZSBkaWFwb3NpdGl2YSIvPg0KCQk8IS0tcXVpeiBwb2QgYW5kIG1lc3NhZ2UgYm94IHRleHRzLS0+DQoJCTx1aXRleHQgbmFtZT0iUVVJWlBPRF9RVUlaX0FUVEVNUFQiIHZhbHVlPSJUZW50YXRpdm8gcXVpejoiLz4NCgkJPHVpdGV4dCBuYW1lPSJRVUlaUE9EX1FVSVpfQVRURU1QVF9WQUxVRSIgdmFsdWU9IiVuIGRpICV0Ii8+DQoJCTx1aXRleHQgbmFtZT0iUVVJWlBPRF9RVUlaX1NDT1JFIiB2YWx1ZT0iUHVudGVnZ2lvOiIvPg0KCQk8dWl0ZXh0IG5hbWU9IlFVSVpQT0RfUVVJWl9QQVNTU0NPUkUiIHZhbHVlPSJQdW50ZWdnaW8gbWluaW1vOiIvPg0KCQk8dWl0ZXh0IG5hbWU9IlFVSVpQT0RfUVVJWl9NQVhTQ09SRSIgdmFsdWU9IlB1bnRlZ2dpbyBtYXNzaW1vOiIvPg0KCQk8dWl0ZXh0IG5hbWU9IlFVSVpQT0RfUVVFU0FUTVBUX1NUUiIgdmFsdWU9IlRlbnRhdGl2bzogJW4gZGkgJXQiLz4NCgkJPHVpdGV4dCBuYW1lPSJRVUlaUE9EX1FVRVNUWVBFX1NUUiIgdmFsdWU9IlRpcG86ICVzIi8+DQoJCTx1aXRleHQgbmFtZT0iUVVJWlBPRF9RVUVTVFlQRV9HUkQiIHZhbHVlPSJDb24gdmFsdXRhemlvbmUiLz4NCgkJPHVpdGV4dCBuYW1lPSJRVUlaUE9EX1FVRVNUWVBFX1NWWSIgdmFsdWU9IkluZGFnaW5lIi8+DQoJCTx1aXRleHQgbmFtZT0iUVVJWlBPRF9RVUlaQVRNUFRfSU5GIiB2YWx1ZT0iSW5maW5pdGkiLz4NCgkJPHVpdGV4dCBuYW1lPSJRVUlaUE9EX1FVRVNBVE1QVF9JTkYiIHZhbHVlPSJJbmZpbml0aSIvPg0KCQk8dWl0ZXh0IG5hbWU9IldBUk5JTkdNU0dfWUVTU1RSSU5HIiB2YWx1ZT0iU8OsIi8+DQoJCTx1aXRleHQgbmFtZT0iV0FSTklOR01TR19OT1NUUklORyIgdmFsdWU9Ik5vIi8+DQoJCTx1aXRleHQgbmFtZT0iV0FSTklOR01TR19USVRMRVNUUklORyIgdmFsdWU9IkF2dmVydGVuemEgbmF2aWdhemlvbmUgcXVpeiIvPg0KCQk8dWl0ZXh0IG5hbWU9IldBUk5JTkdNU0dfTVNHU1RSSU5HIiB2YWx1ZT0iT2Njb3JyZSBhbmNvcmEgcmlzcG9uZGVyZSBhZCBhbGN1bmUgZG9tYW5kZSBkZWwgcXVpei4mI3hBOyYjeEE7U2UgZmF0ZSBjbGljIHN1IFPDrCwgdXNjaXJldGUgZGFsIHF1aXouIEZhdGUgY2xpYyBzdSBObyBwZXIgY29udGludWFyZSBpbCBxdWl6LiIvPg0KCQk8dWl0ZXh0IG5hbWU9IklORk9STUFUSU9OX0gyNjRfRkxBU0hQTEFZRVIiIHZhbHVlPSJMYSB2ZXJzaW9uZSBkaSBGbGFzaCBQbGF5ZXIgYXR0dWFsbWVudGUgaW5zdGFsbGF0YSBub24gc3VwcG9ydGEgcXVlc3RvIHZpZGVvLiBGYXRlIGNsaWMgc3VsbCdhcmVhIGRlbCB2aWRlbyBwZXIgc2NhcmljYXJlIGwndWx0aW1hIHZlcnNpb25lIGRp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zdHJhIGJhcnJhIGxhdGVyYWxlIGFpIHBhcnRlY2lwYW50aSIvPg0KCQk8dWl0ZXh0IG5hbWU9Ik1VVEUiIHZhbHVlPSJEaXNhdHRpdmEgYXVkaW8iLz4NCgkJPHVpdGV4dCBuYW1lPSJET0NXUkFQX1RJVExFIiB2YWx1ZT0iQWxsZWdhdG8gZmlsZSBQcmVzZW50ZXIiLz4NCgkJPHVpdGV4dCBuYW1lPSJET0NXUkFQX01TRyIgdmFsdWU9IlNhbHZhIGluIFJpc29yc2UgZGVsIGNvbXB1dGVyIi8+DQoJCTx1aXRleHQgbmFtZT0iRE9DV1JBUF9QUk9NUFQiIHZhbHVlPSJDbGljIHBlciBzY2FyaWNhcmUiLz4NCgk8L2xhbmd1YWdlPg0KCTxsYW5ndWFnZSBpZD0ibmw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ICVuIi8+DQoJCTwhLS0gc3Vic3RpdHV0aW9uOiAlbiA9PSBzbGlkZSBudW1iZXIgLS0+DQoJCTwhLS0gc3Vic3RpdHV0aW9uOiAldCA9PSB0b3RhbCBzbGlkZSBjb3VudCAtLT4NCgkJPHVpdGV4dCBuYW1lPSJTQ1JVQkJBUlNUQVRVU19TTElERUlORk8iIHZhbHVlPSJEaWEgJW4gLyAldCB8ICIvPg0KCQk8dWl0ZXh0IG5hbWU9IlNDUlVCQkFSU1RBVFVTX1NUT1BQRUQiIHZhbHVlPSJHZXN0b3B0Ii8+DQoJCTx1aXRleHQgbmFtZT0iU0NSVUJCQVJTVEFUVVNfUExBWUlORyIgdmFsdWU9IkFmc3BlbGVuIi8+DQoJCTx1aXRleHQgbmFtZT0iU0NSVUJCQVJTVEFUVVNfTk9BVURJTyIgdmFsdWU9IkdlZW4gYXVkaW8iLz4NCgkJPHVpdGV4dCBuYW1lPSJTQ1JVQkJBUlNUQVRVU19WSURQTEFZSU5HIiB2YWx1ZT0iVmlkZW8gYWZzcGVsZW4iLz4NCgkJPHVpdGV4dCBuYW1lPSJTQ1JVQkJBUlNUQVRVU19MT0FESU5HIiB2YWx1ZT0iTGFkZW4iLz4NCgkJPHVpdGV4dCBuYW1lPSJTQ1JVQkJBUlNUQVRVU19CVUZGRVJJTkciIHZhbHVlPSJCdWZmZXJlbiIvPg0KCQk8dWl0ZXh0IG5hbWU9IlNDUlVCQkFSU1RBVFVTX1FVRVNUSU9OIiB2YWx1ZT0iVnJhYWcgbWV0IGFudHdvb3JkIi8+DQoJCTx1aXRleHQgbmFtZT0iU0NSVUJCQVJTVEFUVVNfUkVWSUVXUVVJWiIgdmFsdWU9IlF1aXogY29udHJvbGVyZW4iLz4NCgkJPCEtLSBzdWJzdGl0dXRpb246ICVtID09IG1pbnV0ZXMgcmVtYWluaW5nIC0tPg0KCQk8IS0tIHN1YnN0aXR1dGlvbjogJXMgPT0gc2Vjb25kcyByZW1haW5pbmcgLS0+DQoJCTx1aXRleHQgbmFtZT0iRUxBUFNFRCIgdmFsdWU9IkVyIHJlc3RlcmVuICVtIG1pbnV0ZW4gJXMgc2Vjb25kZW4iLz4NCgkJPHVpdGV4dCBuYW1lPSJOT1RGT1VORCIgdmFsdWU9Ik5pZXRzIGdldm9uZGVuIi8+DQoJCTx1aXRleHQgbmFtZT0iQVRUQUNITUVOVFMiIHZhbHVlPSJCaWpsYWdlbiIvPg0KCQk8IS0tIHN1YnN0aXR1dGlvbjogJXAgPT0gY3VycmVudCBzcGVha2VyJ3MgdGl0bGUgLS0+DQoJCTx1aXRleHQgbmFtZT0iQklPV0lOX1RJVExFIiB2YWx1ZT0iQmlvZ3JhZmllOiAlcCIvPg0KCQk8dWl0ZXh0IG5hbWU9IkJJT0JUTl9USVRMRSIgdmFsdWU9IkJpb2dyYWZpZSIvPg0KCQk8dWl0ZXh0IG5hbWU9IkRJVklERVJCVE5fVElUTEUiIHZhbHVlPSJ8Ii8+DQoJCTx1aXRleHQgbmFtZT0iQ09OVEFDVEJUTl9USVRMRSIgdmFsdWU9IkNvbnRhY3QiLz4NCgkJPHVpdGV4dCBuYW1lPSJUQUJfUVVJWiIgdmFsdWU9IlF1aXoiLz4NCgkJPHVpdGV4dCBuYW1lPSJUQUJfT1VUTElORSIgdmFsdWU9Ik92ZXJ6aWNodCIvPg0KCQk8dWl0ZXh0IG5hbWU9IlRBQl9USFVNQiIgdmFsdWU9Ik1pbmlhdHV1ciIvPg0KCQk8dWl0ZXh0IG5hbWU9IlRBQl9OT1RFUyIgdmFsdWU9Ik5vdGl0aWVzIi8+DQoJCTx1aXRleHQgbmFtZT0iVEFCX1NFQVJDSCIgdmFsdWU9IlpvZWtlbiIvPg0KCQk8dWl0ZXh0IG5hbWU9IlNMSURFX0hFQURJTkciIHZhbHVlPSJUaXRlbCB2YW4gZGlhIi8+DQoJCTx1aXRleHQgbmFtZT0iRFVSQVRJT05fSEVBRElORyIgdmFsdWU9IkR1dXIiLz4NCgkJPHVpdGV4dCBuYW1lPSJTRUFSQ0hfSEVBRElORyIgdmFsdWU9IlpvZWtlbiBuYWFyIHRla3N0OiIvPg0KCQk8dWl0ZXh0IG5hbWU9IlRIVU1CX0hFQURJTkciIHZhbHVlPSJEaWEiLz4NCgkJPHVpdGV4dCBuYW1lPSJUSFVNQl9JTkZPIiB2YWx1ZT0iVGl0ZWwvZHV1ciB2YW4gZGlhIi8+DQoJCTx1aXRleHQgbmFtZT0iQVRUQUNITkFNRV9IRUFESU5HIiB2YWx1ZT0iQmVzdGFuZHNuYWFtIi8+DQoJCTx1aXRleHQgbmFtZT0iQVRUQUNIU0laRV9IRUFESU5HIiB2YWx1ZT0iR3Jvb3R0ZSIvPg0KCQk8dWl0ZXh0IG5hbWU9IlNMSURFX05PVEVTIiB2YWx1ZT0iRGlhbm90aXRpZXM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CEtLXF1aXogcG9kIGFuZCBtZXNzYWdlIGJveCB0ZXh0cy0tPg0KCQk8dWl0ZXh0IG5hbWU9IlFVSVpQT0RfUVVJWl9BVFRFTVBUIiB2YWx1ZT0i5rWL6aqM5bCd6K+V5qyh5pWwOiIvPg0KCQk8dWl0ZXh0IG5hbWU9IlFVSVpQT0RfUVVJWl9BVFRFTVBUX1ZBTFVFIiB2YWx1ZT0i56ysICVuIOasoe+8jOWFsSAldCDmrKEiLz4NCgkJPHVpdGV4dCBuYW1lPSJRVUlaUE9EX1FVSVpfU0NPUkUiIHZhbHVlPSLlvpfliIY6Ii8+DQoJCTx1aXRleHQgbmFtZT0iUVVJWlBPRF9RVUlaX1BBU1NTQ09SRSIgdmFsdWU9IuWPiuagvOWIhuaVsDoiLz4NCgkJPHVpdGV4dCBuYW1lPSJRVUlaUE9EX1FVSVpfTUFYU0NPUkUiIHZhbHVlPSLmnIDpq5jliIbmlbA6Ii8+DQoJCTx1aXRleHQgbmFtZT0iUVVJWlBPRF9RVUVTQVRNUFRfU1RSIiB2YWx1ZT0i5bCd6K+V5qyh5pWwOiDnrKwgJW4g5qyh77yM5YWxICV0IOasoSIvPg0KCQk8dWl0ZXh0IG5hbWU9IlFVSVpQT0RfUVVFU1RZUEVfU1RSIiB2YWx1ZT0i57G75Z6LOiAlcyIvPg0KCQk8dWl0ZXh0IG5hbWU9IlFVSVpQT0RfUVVFU1RZUEVfR1JEIiB2YWx1ZT0i6K+E57qnIi8+DQoJCTx1aXRleHQgbmFtZT0iUVVJWlBPRF9RVUVTVFlQRV9TVlkiIHZhbHVlPSLosIPmn6UiLz4NCgkJPHVpdGV4dCBuYW1lPSJRVUlaUE9EX1FVSVpBVE1QVF9JTkYiIHZhbHVlPSLml6DpmZAiLz4NCgkJPHVpdGV4dCBuYW1lPSJRVUlaUE9EX1FVRVNBVE1QVF9JTkYiIHZhbHVlPSLml6DpmZAiLz4NCgkJPHVpdGV4dCBuYW1lPSJXQVJOSU5HTVNHX1lFU1NUUklORyIgdmFsdWU9IuaYryIvPg0KCQk8dWl0ZXh0IG5hbWU9IldBUk5JTkdNU0dfTk9TVFJJTkciIHZhbHVlPSLlkKYiLz4NCgkJPHVpdGV4dCBuYW1lPSJXQVJOSU5HTVNHX1RJVExFU1RSSU5HIiB2YWx1ZT0i5rWL6aqM5a+86Iiq6K2m5ZGKIi8+DQoJCTx1aXRleHQgbmFtZT0iV0FSTklOR01TR19NU0dTVFJJTkciIHZhbHVlPSLmraTmtYvpqozkuK3mnInmnKrlsJ3or5XkvZznrZTnmoTpl67popjjgIImI3hBOyYjeEE75Y2V5Ye74oCc5piv4oCd6YCA5Ye65q2k5rWL6aqM44CC5Y2V5Ye74oCc5ZCm4oCd57un57ut5rWL6aqM44CCIi8+DQoJCTx1aXRleHQgbmFtZT0iSU5GT1JNQVRJT05fSDI2NF9GTEFTSFBMQVlFUiIgdmFsdWU9IuW9k+WJjeWuieijheWcqOaCqOeahOiuoeeul+acuuS4iueahCBGbGFzaCBQbGF5ZXIg54mI5pys5LiN5pSv5oyB6K+l6KeG6aKR44CC5Y2V5Ye76KeG6aKR5Yy65Z+f5LiL6L295pyA5paw54mI5pys55qEIEZsYXNoIFBsYXllcuOAg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lkJHlj4LliqDogIXmmL7npLrmj5DopoHmoI8iLz4NCgkJPHVpdGV4dCBuYW1lPSJNVVRFIiB2YWx1ZT0i6Z2Z6Z+zIi8+DQoJCTx1aXRleHQgbmFtZT0iRE9DV1JBUF9USVRMRSIgdmFsdWU9IlByZXNlbnRlciDmlofku7bpmYTku7YiLz4NCgkJPHVpdGV4dCBuYW1lPSJET0NXUkFQX01TRyIgdmFsdWU9IuS/neWtmOWIsOaIkeeahOiuoeeul+acuiIvPg0KCQk8dWl0ZXh0IG5hbWU9IkRPQ1dSQVBfUFJPTVBUIiB2YWx1ZT0i5Y2V5Ye75Lul5LiL6L29Ii8+DQoJPC9sYW5ndWFnZT4NCgk8bGFuZ3VhZ2UgaWQ9InRy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YXl0ICVuIi8+DQoJCTwhLS0gc3Vic3RpdHV0aW9uOiAlbiA9PSBzbGlkZSBudW1iZXIgLS0+DQoJCTwhLS0gc3Vic3RpdHV0aW9uOiAldCA9PSB0b3RhbCBzbGlkZSBjb3VudCAtLT4NCgkJPHVpdGV4dCBuYW1lPSJTQ1JVQkJBUlNUQVRVU19TTElERUlORk8iIHZhbHVlPSJTbGF5dCAlbiAvICV0IHwgIi8+DQoJCTx1aXRleHQgbmFtZT0iU0NSVUJCQVJTVEFUVVNfU1RPUFBFRCIgdmFsdWU9IkR1cmR1cnVsZHUiLz4NCgkJPHVpdGV4dCBuYW1lPSJTQ1JVQkJBUlNUQVRVU19QTEFZSU5HIiB2YWx1ZT0iT3luYXTEsWzEsXlvciIvPg0KCQk8dWl0ZXh0IG5hbWU9IlNDUlVCQkFSU1RBVFVTX05PQVVESU8iIHZhbHVlPSJTZXMgWW9rIi8+DQoJCTx1aXRleHQgbmFtZT0iU0NSVUJCQVJTVEFUVVNfVklEUExBWUlORyIgdmFsdWU9IlZpZGVvIE95bmF0xLFsxLF5b3IiLz4NCgkJPHVpdGV4dCBuYW1lPSJTQ1JVQkJBUlNUQVRVU19MT0FESU5HIiB2YWx1ZT0iWcO8a2xlbml5b3IiLz4NCgkJPHVpdGV4dCBuYW1lPSJTQ1JVQkJBUlNUQVRVU19CVUZGRVJJTkciIHZhbHVlPSJBcmFiZWxsZcSfZSBBbMSxbsSxeW9yIi8+DQoJCTx1aXRleHQgbmFtZT0iU0NSVUJCQVJTVEFUVVNfUVVFU1RJT04iIHZhbHVlPSJTb3J1eXUgWWFuxLF0bGEiLz4NCgkJPHVpdGV4dCBuYW1lPSJTQ1JVQkJBUlNUQVRVU19SRVZJRVdRVUlaIiB2YWx1ZT0iU8SxbmF2IMSwbmNlbGVuaXlvciIvPg0KCQk8IS0tIHN1YnN0aXR1dGlvbjogJW0gPT0gbWludXRlcyByZW1haW5pbmcgLS0+DQoJCTwhLS0gc3Vic3RpdHV0aW9uOiAlcyA9PSBzZWNvbmRzIHJlbWFpbmluZyAtLT4NCgkJPHVpdGV4dCBuYW1lPSJFTEFQU0VEIiB2YWx1ZT0iJW0gRGFraWthICVzIFNhbml5ZSBLYWxkxLEiLz4NCgkJPHVpdGV4dCBuYW1lPSJOT1RGT1VORCIgdmFsdWU9IkhlcmhhbmdpIEJpciDFnmV5IEJ1bHVubWFkxLEiLz4NCgkJPHVpdGV4dCBuYW1lPSJBVFRBQ0hNRU5UUyIgdmFsdWU9IkVrbGVy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xLBydGliYXQiLz4NCgkJPHVpdGV4dCBuYW1lPSJUQUJfUVVJWiIgdmFsdWU9IlPEsW5hdiIvPg0KCQk8dWl0ZXh0IG5hbWU9IlRBQl9PVVRMSU5FIiB2YWx1ZT0iQW5hIEhhdCIvPg0KCQk8dWl0ZXh0IG5hbWU9IlRBQl9USFVNQiIgdmFsdWU9IlJlc2ltIi8+DQoJCTx1aXRleHQgbmFtZT0iVEFCX05PVEVTIiB2YWx1ZT0iTm90bGFyIi8+DQoJCTx1aXRleHQgbmFtZT0iVEFCX1NFQVJDSCIgdmFsdWU9IkFyYSIvPg0KCQk8dWl0ZXh0IG5hbWU9IlNMSURFX0hFQURJTkciIHZhbHVlPSJTbGF5dCBCYcWfbMSxxJ/EsSIvPg0KCQk8dWl0ZXh0IG5hbWU9IkRVUkFUSU9OX0hFQURJTkciIHZhbHVlPSJTw7xyZSIvPg0KCQk8dWl0ZXh0IG5hbWU9IlNFQVJDSF9IRUFESU5HIiB2YWx1ZT0iTWV0bmkgYXJhOiIvPg0KCQk8dWl0ZXh0IG5hbWU9IlRIVU1CX0hFQURJTkciIHZhbHVlPSJTbGF5dCIvPg0KCQk8dWl0ZXh0IG5hbWU9IlRIVU1CX0lORk8iIHZhbHVlPSJTbGF5dCBCYcWfbMSxxJ/EsS9Tw7xyZXNpIi8+DQoJCTx1aXRleHQgbmFtZT0iQVRUQUNITkFNRV9IRUFESU5HIiB2YWx1ZT0iRG9zeWEgQWTEsSIvPg0KCQk8dWl0ZXh0IG5hbWU9IkFUVEFDSFNJWkVfSEVBRElORyIgdmFsdWU9IkJveXV0Ii8+DQoJCTx1aXRleHQgbmFtZT0iU0xJREVfTk9URVMiIHZhbHVlPSJTbGF5dCBOb3RsYXLEsSIvPg0KCQk8IS0tcXVpeiBwb2QgYW5kIG1lc3NhZ2UgYm94IHRleHRzLS0+DQoJCTx1aXRleHQgbmFtZT0iUVVJWlBPRF9RVUlaX0FUVEVNUFQiIHZhbHVlPSJTxLFuYXYgRGVuZW1lc2k6Ii8+DQoJCTx1aXRleHQgbmFtZT0iUVVJWlBPRF9RVUlaX0FUVEVNUFRfVkFMVUUiIHZhbHVlPSIlbi8ldCIvPg0KCQk8dWl0ZXh0IG5hbWU9IlFVSVpQT0RfUVVJWl9TQ09SRSIgdmFsdWU9IlB1YW46Ii8+DQoJCTx1aXRleHQgbmFtZT0iUVVJWlBPRF9RVUlaX1BBU1NTQ09SRSIgdmFsdWU9Ikdlw6dtZSBQdWFuxLE6Ii8+DQoJCTx1aXRleHQgbmFtZT0iUVVJWlBPRF9RVUlaX01BWFNDT1JFIiB2YWx1ZT0iTWFrc2ltdW0gUHVhbjoiLz4NCgkJPHVpdGV4dCBuYW1lPSJRVUlaUE9EX1FVRVNBVE1QVF9TVFIiIHZhbHVlPSJEZW5lbWU6ICVuLyV0Ii8+DQoJCTx1aXRleHQgbmFtZT0iUVVJWlBPRF9RVUVTVFlQRV9TVFIiIHZhbHVlPSJUw7xyOiAlcyIvPg0KCQk8dWl0ZXh0IG5hbWU9IlFVSVpQT0RfUVVFU1RZUEVfR1JEIiB2YWx1ZT0iQmFzYW1ha2zEsSIvPg0KCQk8dWl0ZXh0IG5hbWU9IlFVSVpQT0RfUVVFU1RZUEVfU1ZZIiB2YWx1ZT0iQW5rZXQiLz4NCgkJPHVpdGV4dCBuYW1lPSJRVUlaUE9EX1FVSVpBVE1QVF9JTkYiIHZhbHVlPSJTxLFuxLFyc8SxeiIvPg0KCQk8dWl0ZXh0IG5hbWU9IlFVSVpQT0RfUVVFU0FUTVBUX0lORiIgdmFsdWU9IlPEsW7EsXJzxLF6Ii8+DQoJCTx1aXRleHQgbmFtZT0iV0FSTklOR01TR19ZRVNTVFJJTkciIHZhbHVlPSJFdmV0Ii8+DQoJCTx1aXRleHQgbmFtZT0iV0FSTklOR01TR19OT1NUUklORyIgdmFsdWU9IkhhecSxciIvPg0KCQk8dWl0ZXh0IG5hbWU9IldBUk5JTkdNU0dfVElUTEVTVFJJTkciIHZhbHVlPSJTxLFuYXYgR2V6aW5tZSBVeWFyxLFzxLEiLz4NCgkJPHVpdGV4dCBuYW1lPSJXQVJOSU5HTVNHX01TR1NUUklORyIgdmFsdWU9IkJ1IFPEsW5hdmRhIGRlbmVubWVtacWfIHNvcnVsYXIgdmFyLiYjeEE7JiN4QTtFdmV0IHNlw6dlbmXEn2luaSB0xLFrbGF0xLFyc2FuxLF6IFPEsW5hdmRhbiDDp8Sxa2FjYWtzxLFuxLF6LiBTxLFuYXZhIGRldmFtIGV0bWVrIGnDp2luIEhhecSxciBzZcOnZW5lxJ9pbmkgdMSxa2xhdMSxbi4iLz4NCgkJPHVpdGV4dCBuYW1lPSJJTkZPUk1BVElPTl9IMjY0X0ZMQVNIUExBWUVSIiB2YWx1ZT0iQmlsZ2lzYXlhcsSxbsSxemEgecO8a2zDvCBvbGFuIGdlw6dlcmxpIEZsYXNoIFBsYXllciBzw7xyw7xtw7wgYnUgdmlkZW95dSBkZXN0ZWtsZW1peW9yLiBFbiBzb24gRmxhc2ggUGxheWVyIHPDvHLDvG3DvG7DvCBpbmRpcm1layBpw6dpbiB2aWRlbyBhbGFuxLFuxLEgdMSxa2xhdMSx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S2F0xLFsxLFtY8SxbGFyYSBrZW5hciDDp3VidcSfdW51IGfDtnN0ZXIiLz4NCgkJPHVpdGV4dCBuYW1lPSJNVVRFIiB2YWx1ZT0iU2Vzc2l6Ii8+DQoJCTx1aXRleHQgbmFtZT0iRE9DV1JBUF9USVRMRSIgdmFsdWU9IlByZXNlbnRlciBEb3N5YSBFa2kiLz4NCgkJPHVpdGV4dCBuYW1lPSJET0NXUkFQX01TRyIgdmFsdWU9IkJpbGdpc2F5YXLEsW1hIEtheWRldCIvPg0KCQk8dWl0ZXh0IG5hbWU9IkRPQ1dSQVBfUFJPTVBUIiB2YWx1ZT0ixLBuZGlybWVrIGnDp2luIFTEsWtsYXTEsW4iLz4NCgk8L2xhbmd1YWdlPg0KCTxsYW5ndWFnZSBpZD0icn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0KHQu9Cw0LnQtCAlbiIvPg0KCQk8IS0tIHN1YnN0aXR1dGlvbjogJW4gPT0gc2xpZGUgbnVtYmVyIC0tPg0KCQk8IS0tIHN1YnN0aXR1dGlvbjogJXQgPT0gdG90YWwgc2xpZGUgY291bnQgLS0+DQoJCTx1aXRleHQgbmFtZT0iU0NSVUJCQVJTVEFUVVNfU0xJREVJTkZPIiB2YWx1ZT0i0KHQu9Cw0LnQtCAlbiAvICV0IHwgIi8+DQoJCTx1aXRleHQgbmFtZT0iU0NSVUJCQVJTVEFUVVNfU1RPUFBFRCIgdmFsdWU9ItCe0YHRgtCw0L3QvtCy0LvQtdC90L4iLz4NCgkJPHVpdGV4dCBuYW1lPSJTQ1JVQkJBUlNUQVRVU19QTEFZSU5HIiB2YWx1ZT0i0JLQvtGB0L/RgNC+0LjQt9Cy0LXQtNC10L3QuNC1Ii8+DQoJCTx1aXRleHQgbmFtZT0iU0NSVUJCQVJTVEFUVVNfTk9BVURJTyIgdmFsdWU9ItCd0LXRgiDQsNGD0LTQuNC+Ii8+DQoJCTx1aXRleHQgbmFtZT0iU0NSVUJCQVJTVEFUVVNfVklEUExBWUlORyIgdmFsdWU9ItCS0L7RgdC/0YDQvtC40LfQstC10LTQtdC90LjQtSDQstC40LTQtdC+Ii8+DQoJCTx1aXRleHQgbmFtZT0iU0NSVUJCQVJTVEFUVVNfTE9BRElORyIgdmFsdWU9ItCX0LDQs9GA0YPQt9C60LAiLz4NCgkJPHVpdGV4dCBuYW1lPSJTQ1JVQkJBUlNUQVRVU19CVUZGRVJJTkciIHZhbHVlPSLQkdGD0YTQtdGA0LjQt9Cw0YbQuNGPIi8+DQoJCTx1aXRleHQgbmFtZT0iU0NSVUJCQVJTVEFUVVNfUVVFU1RJT04iIHZhbHVlPSLQntGC0LLQtdGCINC90LAg0LLQvtC/0YDQvtGBIi8+DQoJCTx1aXRleHQgbmFtZT0iU0NSVUJCQVJTVEFUVVNfUkVWSUVXUVVJWiIgdmFsdWU9ItCe0LHQt9C+0YAg0L7Qv9GA0L7RgdCwIi8+DQoJCTwhLS0gc3Vic3RpdHV0aW9uOiAlbSA9PSBtaW51dGVzIHJlbWFpbmluZyAtLT4NCgkJPCEtLSBzdWJzdGl0dXRpb246ICVzID09IHNlY29uZHMgcmVtYWluaW5nIC0tPg0KCQk8dWl0ZXh0IG5hbWU9IkVMQVBTRUQiIHZhbHVlPSLQntGB0YLQsNC70L7RgdGMICVtINC80LjQvS4gJXMg0YEiLz4NCgkJPHVpdGV4dCBuYW1lPSJOT1RGT1VORCIgdmFsdWU9ItCd0LjRh9C10LPQviDQvdC1INC90LDQudC00LXQvdC+Ii8+DQoJCTx1aXRleHQgbmFtZT0iQVRUQUNITUVOVFMiIHZhbHVlPSLQktC70L7QttC10L3QuNGPIi8+DQoJCTwhLS0gc3Vic3RpdHV0aW9uOiAlcCA9PSBjdXJyZW50IHNwZWFrZXIncyB0aXRsZSAtLT4NCgkJPHVpdGV4dCBuYW1lPSJCSU9XSU5fVElUTEUiIHZhbHVlPSLQkdC40L7Qs9GA0LDRhNC40Y86ICVwIi8+DQoJCTx1aXRleHQgbmFtZT0iQklPQlROX1RJVExFIiB2YWx1ZT0i0JHQuNC+0LPRgNCw0YTQuNGPIi8+DQoJCTx1aXRleHQgbmFtZT0iRElWSURFUkJUTl9USVRMRSIgdmFsdWU9InwiLz4NCgkJPHVpdGV4dCBuYW1lPSJDT05UQUNUQlROX1RJVExFIiB2YWx1ZT0i0JrQvtC90YLQsNC60YIiLz4NCgkJPHVpdGV4dCBuYW1lPSJUQUJfUVVJWiIgdmFsdWU9ItCe0L/RgNC+0YEiLz4NCgkJPHVpdGV4dCBuYW1lPSJUQUJfT1VUTElORSIgdmFsdWU9ItCh0YXQtdC80LAiLz4NCgkJPHVpdGV4dCBuYW1lPSJUQUJfVEhVTUIiIHZhbHVlPSLQkdC10LPRg9C90L7QuiIvPg0KCQk8dWl0ZXh0IG5hbWU9IlRBQl9OT1RFUyIgdmFsdWU9ItCX0LDQvNC10YLQutC4Ii8+DQoJCTx1aXRleHQgbmFtZT0iVEFCX1NFQVJDSCIgdmFsdWU9ItCf0L7QuNGB0LoiLz4NCgkJPHVpdGV4dCBuYW1lPSJTTElERV9IRUFESU5HIiB2YWx1ZT0i0JfQsNCz0L7Qu9C+0LLQvtC6INGB0LvQsNC50LTQsCIvPg0KCQk8dWl0ZXh0IG5hbWU9IkRVUkFUSU9OX0hFQURJTkciIHZhbHVlPSLQlNC70LjRgi3RgdGC0YwiLz4NCgkJPHVpdGV4dCBuYW1lPSJTRUFSQ0hfSEVBRElORyIgdmFsdWU9ItCf0L7QuNGB0Log0YLQtdC60YHRgtCwOiIvPg0KCQk8dWl0ZXh0IG5hbWU9IlRIVU1CX0hFQURJTkciIHZhbHVlPSLQodC70LDQudC0Ii8+DQoJCTx1aXRleHQgbmFtZT0iVEhVTUJfSU5GTyIgdmFsdWU9ItCd0LDQt9Cy0LDQvdC40LUv0LTQu9C40YIt0L3QvtGB0YLRjCIvPg0KCQk8dWl0ZXh0IG5hbWU9IkFUVEFDSE5BTUVfSEVBRElORyIgdmFsdWU9ItCY0LzRjyDRhNCw0LnQu9CwIi8+DQoJCTx1aXRleHQgbmFtZT0iQVRUQUNIU0laRV9IRUFESU5HIiB2YWx1ZT0i0KDQsNC30LzQtdGAIi8+DQoJCTx1aXRleHQgbmFtZT0iU0xJREVfTk9URVMiIHZhbHVlPSLQl9Cw0LzQtdGC0LrQuCDQuiDRgdC70LDQudC00YM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4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4&quot;/&gt;&lt;lineCharCount val=&quot;14&quot;/&gt;&lt;lineCharCount val=&quot;15&quot;/&gt;&lt;lineCharCount val=&quot;13&quot;/&gt;&lt;lineCharCount val=&quot;12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8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31&quot;/&gt;&lt;lineCharCount val=&quot;13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31&quot;/&gt;&lt;lineCharCount val=&quot;13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8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4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4&quot;/&gt;&lt;lineCharCount val=&quot;14&quot;/&gt;&lt;lineCharCount val=&quot;15&quot;/&gt;&lt;lineCharCount val=&quot;13&quot;/&gt;&lt;lineCharCount val=&quot;12&quot;/&gt;&lt;/TableIndex&gt;&lt;/ShapeTextInfo&gt;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9</TotalTime>
  <Words>1179</Words>
  <Application>Microsoft Office PowerPoint</Application>
  <PresentationFormat>Apresentação na tela (4:3)</PresentationFormat>
  <Paragraphs>137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Roboto</vt:lpstr>
      <vt:lpstr>Roboto Condensed</vt:lpstr>
      <vt:lpstr>Roboto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Adriana Mitsue Matsuda</dc:creator>
  <cp:lastModifiedBy>Silmara Gomes</cp:lastModifiedBy>
  <cp:revision>2</cp:revision>
  <dcterms:created xsi:type="dcterms:W3CDTF">2013-06-03T20:16:43Z</dcterms:created>
  <dcterms:modified xsi:type="dcterms:W3CDTF">2025-02-21T20:38:40Z</dcterms:modified>
</cp:coreProperties>
</file>