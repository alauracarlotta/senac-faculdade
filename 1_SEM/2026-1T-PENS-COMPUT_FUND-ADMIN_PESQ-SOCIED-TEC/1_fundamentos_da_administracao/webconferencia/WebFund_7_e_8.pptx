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98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35" r:id="rId10"/>
    <p:sldId id="336" r:id="rId11"/>
    <p:sldId id="338" r:id="rId12"/>
    <p:sldId id="339" r:id="rId13"/>
    <p:sldId id="340" r:id="rId14"/>
    <p:sldId id="341" r:id="rId15"/>
    <p:sldId id="322" r:id="rId16"/>
    <p:sldId id="310" r:id="rId17"/>
    <p:sldId id="312" r:id="rId18"/>
    <p:sldId id="314" r:id="rId19"/>
    <p:sldId id="313" r:id="rId20"/>
    <p:sldId id="315" r:id="rId21"/>
    <p:sldId id="316" r:id="rId22"/>
    <p:sldId id="317" r:id="rId23"/>
    <p:sldId id="319" r:id="rId24"/>
    <p:sldId id="320" r:id="rId25"/>
    <p:sldId id="326" r:id="rId26"/>
    <p:sldId id="328" r:id="rId27"/>
    <p:sldId id="329" r:id="rId28"/>
    <p:sldId id="330" r:id="rId29"/>
    <p:sldId id="331" r:id="rId30"/>
    <p:sldId id="332" r:id="rId31"/>
    <p:sldId id="333" r:id="rId32"/>
    <p:sldId id="334" r:id="rId33"/>
  </p:sldIdLst>
  <p:sldSz cx="9144000" cy="6858000" type="screen4x3"/>
  <p:notesSz cx="6858000" cy="9144000"/>
  <p:custDataLst>
    <p:tags r:id="rId35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7753D-7EC3-8FD4-94E9-7B5ED2DC6019}" v="7" dt="2026-03-07T15:02:07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61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mara Cristiane Gomes" userId="S::silmara.cgomes@sp.senac.br::c18ed8b1-30ab-4227-bb94-24578034ab2f" providerId="AD" clId="Web-{3397753D-7EC3-8FD4-94E9-7B5ED2DC6019}"/>
    <pc:docChg chg="addSld">
      <pc:chgData name="Silmara Cristiane Gomes" userId="S::silmara.cgomes@sp.senac.br::c18ed8b1-30ab-4227-bb94-24578034ab2f" providerId="AD" clId="Web-{3397753D-7EC3-8FD4-94E9-7B5ED2DC6019}" dt="2026-03-07T15:02:07.489" v="6"/>
      <pc:docMkLst>
        <pc:docMk/>
      </pc:docMkLst>
      <pc:sldChg chg="add">
        <pc:chgData name="Silmara Cristiane Gomes" userId="S::silmara.cgomes@sp.senac.br::c18ed8b1-30ab-4227-bb94-24578034ab2f" providerId="AD" clId="Web-{3397753D-7EC3-8FD4-94E9-7B5ED2DC6019}" dt="2026-03-07T15:02:07.192" v="0"/>
        <pc:sldMkLst>
          <pc:docMk/>
          <pc:sldMk cId="974837873" sldId="342"/>
        </pc:sldMkLst>
      </pc:sldChg>
      <pc:sldChg chg="add">
        <pc:chgData name="Silmara Cristiane Gomes" userId="S::silmara.cgomes@sp.senac.br::c18ed8b1-30ab-4227-bb94-24578034ab2f" providerId="AD" clId="Web-{3397753D-7EC3-8FD4-94E9-7B5ED2DC6019}" dt="2026-03-07T15:02:07.239" v="1"/>
        <pc:sldMkLst>
          <pc:docMk/>
          <pc:sldMk cId="3843974518" sldId="343"/>
        </pc:sldMkLst>
      </pc:sldChg>
      <pc:sldChg chg="add">
        <pc:chgData name="Silmara Cristiane Gomes" userId="S::silmara.cgomes@sp.senac.br::c18ed8b1-30ab-4227-bb94-24578034ab2f" providerId="AD" clId="Web-{3397753D-7EC3-8FD4-94E9-7B5ED2DC6019}" dt="2026-03-07T15:02:07.286" v="2"/>
        <pc:sldMkLst>
          <pc:docMk/>
          <pc:sldMk cId="3110120637" sldId="344"/>
        </pc:sldMkLst>
      </pc:sldChg>
      <pc:sldChg chg="add">
        <pc:chgData name="Silmara Cristiane Gomes" userId="S::silmara.cgomes@sp.senac.br::c18ed8b1-30ab-4227-bb94-24578034ab2f" providerId="AD" clId="Web-{3397753D-7EC3-8FD4-94E9-7B5ED2DC6019}" dt="2026-03-07T15:02:07.333" v="3"/>
        <pc:sldMkLst>
          <pc:docMk/>
          <pc:sldMk cId="2252750173" sldId="345"/>
        </pc:sldMkLst>
      </pc:sldChg>
      <pc:sldChg chg="add">
        <pc:chgData name="Silmara Cristiane Gomes" userId="S::silmara.cgomes@sp.senac.br::c18ed8b1-30ab-4227-bb94-24578034ab2f" providerId="AD" clId="Web-{3397753D-7EC3-8FD4-94E9-7B5ED2DC6019}" dt="2026-03-07T15:02:07.396" v="4"/>
        <pc:sldMkLst>
          <pc:docMk/>
          <pc:sldMk cId="3460731817" sldId="346"/>
        </pc:sldMkLst>
      </pc:sldChg>
      <pc:sldChg chg="add">
        <pc:chgData name="Silmara Cristiane Gomes" userId="S::silmara.cgomes@sp.senac.br::c18ed8b1-30ab-4227-bb94-24578034ab2f" providerId="AD" clId="Web-{3397753D-7EC3-8FD4-94E9-7B5ED2DC6019}" dt="2026-03-07T15:02:07.442" v="5"/>
        <pc:sldMkLst>
          <pc:docMk/>
          <pc:sldMk cId="703926838" sldId="347"/>
        </pc:sldMkLst>
      </pc:sldChg>
      <pc:sldChg chg="add">
        <pc:chgData name="Silmara Cristiane Gomes" userId="S::silmara.cgomes@sp.senac.br::c18ed8b1-30ab-4227-bb94-24578034ab2f" providerId="AD" clId="Web-{3397753D-7EC3-8FD4-94E9-7B5ED2DC6019}" dt="2026-03-07T15:02:07.489" v="6"/>
        <pc:sldMkLst>
          <pc:docMk/>
          <pc:sldMk cId="47653339" sldId="3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2A037-7541-41AD-B154-52522D86A5EF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FDCB2-7140-45F5-B0BB-25F223B157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73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5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2"/>
          <p:cNvSpPr/>
          <p:nvPr userDrawn="1">
            <p:custDataLst>
              <p:tags r:id="rId1"/>
            </p:custDataLst>
          </p:nvPr>
        </p:nvSpPr>
        <p:spPr bwMode="auto">
          <a:xfrm>
            <a:off x="0" y="2949588"/>
            <a:ext cx="9144000" cy="2356326"/>
          </a:xfrm>
          <a:prstGeom prst="rect">
            <a:avLst/>
          </a:prstGeom>
          <a:solidFill>
            <a:schemeClr val="accent1">
              <a:lumMod val="20000"/>
              <a:lumOff val="80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15" name="Rectangle 3"/>
          <p:cNvSpPr/>
          <p:nvPr userDrawn="1">
            <p:custDataLst>
              <p:tags r:id="rId2"/>
            </p:custDataLst>
          </p:nvPr>
        </p:nvSpPr>
        <p:spPr bwMode="auto">
          <a:xfrm>
            <a:off x="0" y="5305914"/>
            <a:ext cx="9144000" cy="12653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18" name="Rectangle 8"/>
          <p:cNvSpPr/>
          <p:nvPr userDrawn="1">
            <p:custDataLst>
              <p:tags r:id="rId3"/>
            </p:custDataLst>
          </p:nvPr>
        </p:nvSpPr>
        <p:spPr bwMode="auto">
          <a:xfrm>
            <a:off x="0" y="5305914"/>
            <a:ext cx="9144000" cy="1552085"/>
          </a:xfrm>
          <a:prstGeom prst="rect">
            <a:avLst/>
          </a:prstGeom>
          <a:solidFill>
            <a:schemeClr val="accent6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4"/>
          <p:cNvCxnSpPr/>
          <p:nvPr userDrawn="1"/>
        </p:nvCxnSpPr>
        <p:spPr bwMode="auto">
          <a:xfrm flipH="1">
            <a:off x="0" y="5305914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2" name="Straight Connector 7"/>
          <p:cNvCxnSpPr/>
          <p:nvPr userDrawn="1"/>
        </p:nvCxnSpPr>
        <p:spPr bwMode="auto">
          <a:xfrm flipH="1">
            <a:off x="0" y="6584108"/>
            <a:ext cx="9144000" cy="0"/>
          </a:xfrm>
          <a:prstGeom prst="line">
            <a:avLst/>
          </a:prstGeom>
          <a:solidFill>
            <a:srgbClr val="FFFFFF"/>
          </a:solidFill>
          <a:ln w="12700" cap="rnd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3" name="Straight Connector 20"/>
          <p:cNvCxnSpPr/>
          <p:nvPr userDrawn="1"/>
        </p:nvCxnSpPr>
        <p:spPr bwMode="auto">
          <a:xfrm flipH="1">
            <a:off x="0" y="2322525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4" name="Straight Connector 23"/>
          <p:cNvCxnSpPr/>
          <p:nvPr userDrawn="1"/>
        </p:nvCxnSpPr>
        <p:spPr bwMode="auto">
          <a:xfrm flipH="1">
            <a:off x="0" y="2955172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6" name="Rectangle 12"/>
          <p:cNvSpPr/>
          <p:nvPr userDrawn="1">
            <p:custDataLst>
              <p:tags r:id="rId4"/>
            </p:custDataLst>
          </p:nvPr>
        </p:nvSpPr>
        <p:spPr bwMode="auto">
          <a:xfrm>
            <a:off x="0" y="6571226"/>
            <a:ext cx="9144000" cy="286773"/>
          </a:xfrm>
          <a:prstGeom prst="rect">
            <a:avLst/>
          </a:prstGeom>
          <a:solidFill>
            <a:srgbClr val="144D8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pic>
        <p:nvPicPr>
          <p:cNvPr id="27" name="Imagem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191" y="751851"/>
            <a:ext cx="1794811" cy="105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Espaço Reservado para Texto 9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468313" y="5661025"/>
            <a:ext cx="7848600" cy="432271"/>
          </a:xfrm>
        </p:spPr>
        <p:txBody>
          <a:bodyPr>
            <a:normAutofit/>
          </a:bodyPr>
          <a:lstStyle>
            <a:lvl1pPr marL="0" indent="0">
              <a:buNone/>
              <a:defRPr lang="pt-BR" sz="1800" kern="1200" dirty="0">
                <a:solidFill>
                  <a:srgbClr val="FFC77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/>
              <a:t>Clique para editar o nome do professor</a:t>
            </a:r>
          </a:p>
        </p:txBody>
      </p:sp>
      <p:sp>
        <p:nvSpPr>
          <p:cNvPr id="30" name="Subtítulo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1371600" y="34290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pt-BR" sz="4000" b="1" kern="1200" dirty="0">
                <a:solidFill>
                  <a:srgbClr val="144D8D"/>
                </a:solidFill>
                <a:latin typeface="Calibri"/>
                <a:ea typeface="+mj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2067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191" y="751851"/>
            <a:ext cx="1794811" cy="105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2"/>
          <p:cNvSpPr/>
          <p:nvPr userDrawn="1">
            <p:custDataLst>
              <p:tags r:id="rId1"/>
            </p:custDataLst>
          </p:nvPr>
        </p:nvSpPr>
        <p:spPr bwMode="auto">
          <a:xfrm>
            <a:off x="0" y="3377642"/>
            <a:ext cx="9144000" cy="1909186"/>
          </a:xfrm>
          <a:prstGeom prst="rect">
            <a:avLst/>
          </a:prstGeom>
          <a:solidFill>
            <a:schemeClr val="accent1">
              <a:lumMod val="20000"/>
              <a:lumOff val="80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30" name="Rectangle 3"/>
          <p:cNvSpPr/>
          <p:nvPr userDrawn="1">
            <p:custDataLst>
              <p:tags r:id="rId2"/>
            </p:custDataLst>
          </p:nvPr>
        </p:nvSpPr>
        <p:spPr bwMode="auto">
          <a:xfrm>
            <a:off x="0" y="5305914"/>
            <a:ext cx="9144000" cy="12653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31" name="Rectangle 8"/>
          <p:cNvSpPr/>
          <p:nvPr userDrawn="1">
            <p:custDataLst>
              <p:tags r:id="rId3"/>
            </p:custDataLst>
          </p:nvPr>
        </p:nvSpPr>
        <p:spPr bwMode="auto">
          <a:xfrm>
            <a:off x="0" y="5305914"/>
            <a:ext cx="9144000" cy="1552085"/>
          </a:xfrm>
          <a:prstGeom prst="rect">
            <a:avLst/>
          </a:prstGeom>
          <a:solidFill>
            <a:schemeClr val="accent6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charset="0"/>
            </a:endParaRPr>
          </a:p>
        </p:txBody>
      </p:sp>
      <p:cxnSp>
        <p:nvCxnSpPr>
          <p:cNvPr id="32" name="Straight Connector 4"/>
          <p:cNvCxnSpPr/>
          <p:nvPr userDrawn="1"/>
        </p:nvCxnSpPr>
        <p:spPr bwMode="auto">
          <a:xfrm flipH="1">
            <a:off x="0" y="5305914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4" name="Straight Connector 7"/>
          <p:cNvCxnSpPr/>
          <p:nvPr userDrawn="1"/>
        </p:nvCxnSpPr>
        <p:spPr bwMode="auto">
          <a:xfrm flipH="1">
            <a:off x="0" y="6584108"/>
            <a:ext cx="9144000" cy="0"/>
          </a:xfrm>
          <a:prstGeom prst="line">
            <a:avLst/>
          </a:prstGeom>
          <a:solidFill>
            <a:srgbClr val="FFFFFF"/>
          </a:solidFill>
          <a:ln w="12700" cap="rnd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5" name="Straight Connector 20"/>
          <p:cNvCxnSpPr/>
          <p:nvPr userDrawn="1"/>
        </p:nvCxnSpPr>
        <p:spPr bwMode="auto">
          <a:xfrm flipH="1">
            <a:off x="0" y="2699428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6" name="Straight Connector 23"/>
          <p:cNvCxnSpPr/>
          <p:nvPr userDrawn="1"/>
        </p:nvCxnSpPr>
        <p:spPr bwMode="auto">
          <a:xfrm flipH="1">
            <a:off x="0" y="3369604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9" name="Rectangle 12"/>
          <p:cNvSpPr/>
          <p:nvPr userDrawn="1">
            <p:custDataLst>
              <p:tags r:id="rId4"/>
            </p:custDataLst>
          </p:nvPr>
        </p:nvSpPr>
        <p:spPr bwMode="auto">
          <a:xfrm>
            <a:off x="0" y="6571226"/>
            <a:ext cx="9144000" cy="286773"/>
          </a:xfrm>
          <a:prstGeom prst="rect">
            <a:avLst/>
          </a:prstGeom>
          <a:solidFill>
            <a:srgbClr val="144D8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40" name="Subtítulo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371600" y="3692624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pt-BR" sz="4000" b="1" kern="1200" dirty="0">
                <a:solidFill>
                  <a:srgbClr val="144D8D"/>
                </a:solidFill>
                <a:latin typeface="Calibri"/>
                <a:ea typeface="+mj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41" name="Espaço Reservado para Texto 9"/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468313" y="5661025"/>
            <a:ext cx="7848600" cy="432271"/>
          </a:xfrm>
        </p:spPr>
        <p:txBody>
          <a:bodyPr>
            <a:normAutofit/>
          </a:bodyPr>
          <a:lstStyle>
            <a:lvl1pPr marL="0" indent="0">
              <a:buNone/>
              <a:defRPr lang="pt-BR" sz="1800" kern="1200" dirty="0">
                <a:solidFill>
                  <a:srgbClr val="FFC77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/>
              <a:t>Clique para editar o 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1317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18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12572" y="274638"/>
            <a:ext cx="5626968" cy="418058"/>
          </a:xfrm>
        </p:spPr>
        <p:txBody>
          <a:bodyPr>
            <a:normAutofit/>
          </a:bodyPr>
          <a:lstStyle>
            <a:lvl1pPr marL="0" algn="r" defTabSz="457200" rtl="0" eaLnBrk="1" latinLnBrk="0" hangingPunct="1">
              <a:spcBef>
                <a:spcPct val="0"/>
              </a:spcBef>
              <a:buNone/>
              <a:defRPr lang="pt-BR" sz="3100" b="1" kern="1200" dirty="0">
                <a:solidFill>
                  <a:schemeClr val="accent6">
                    <a:lumMod val="75000"/>
                  </a:schemeClr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7031032" y="6135446"/>
            <a:ext cx="2133600" cy="365125"/>
          </a:xfrm>
        </p:spPr>
        <p:txBody>
          <a:bodyPr/>
          <a:lstStyle>
            <a:lvl1pPr>
              <a:defRPr lang="pt-BR" sz="18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0C52AAA-52BA-4E9F-ACEC-F67C74DBBBA3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30003" y="1052736"/>
            <a:ext cx="8109538" cy="439248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9" name="Imagem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26" y="156881"/>
            <a:ext cx="877948" cy="514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1"/>
          <p:cNvCxnSpPr/>
          <p:nvPr userDrawn="1"/>
        </p:nvCxnSpPr>
        <p:spPr bwMode="auto">
          <a:xfrm flipH="1">
            <a:off x="5589917" y="631422"/>
            <a:ext cx="3554084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37091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1"/>
          <p:cNvCxnSpPr/>
          <p:nvPr userDrawn="1"/>
        </p:nvCxnSpPr>
        <p:spPr bwMode="auto">
          <a:xfrm flipH="1">
            <a:off x="5055419" y="631422"/>
            <a:ext cx="4088581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9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7031032" y="6135446"/>
            <a:ext cx="2133600" cy="365125"/>
          </a:xfrm>
        </p:spPr>
        <p:txBody>
          <a:bodyPr/>
          <a:lstStyle>
            <a:lvl1pPr>
              <a:defRPr lang="pt-BR" sz="18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0C52AAA-52BA-4E9F-ACEC-F67C74DBBBA3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8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26" y="156881"/>
            <a:ext cx="877948" cy="514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60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1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D5541-FFC0-4DB6-AF7F-B5786F76AFD7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43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52AAA-52BA-4E9F-ACEC-F67C74DBB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3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4" r:id="rId4"/>
    <p:sldLayoutId id="2147483655" r:id="rId5"/>
    <p:sldLayoutId id="2147483658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020907" y="4036468"/>
            <a:ext cx="7169728" cy="14317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 fontAlgn="base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</a:pPr>
            <a:endParaRPr lang="pt-BR" sz="2400" b="1">
              <a:solidFill>
                <a:srgbClr val="002060"/>
              </a:solidFill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fontAlgn="base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b="1">
                <a:solidFill>
                  <a:srgbClr val="00206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Fundamentos da Administração</a:t>
            </a:r>
          </a:p>
          <a:p>
            <a:pPr algn="ctr" fontAlgn="base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b="1">
                <a:solidFill>
                  <a:srgbClr val="00206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Professora Dra. Silmara Gomes</a:t>
            </a:r>
          </a:p>
        </p:txBody>
      </p:sp>
      <p:pic>
        <p:nvPicPr>
          <p:cNvPr id="8" name="Picture 2" descr="http://www.go.senac.br/bancodeoportunidades/assets/img/logo-senac-70-anos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9709" b="-13178"/>
          <a:stretch/>
        </p:blipFill>
        <p:spPr bwMode="auto">
          <a:xfrm>
            <a:off x="2965818" y="1916832"/>
            <a:ext cx="3279905" cy="185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84686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7D5541-FFC0-4DB6-AF7F-B5786F76AFD7}" type="slidenum">
              <a:rPr lang="pt-BR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79512" y="980728"/>
            <a:ext cx="8640960" cy="560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  <a:defRPr/>
            </a:pPr>
            <a:r>
              <a:rPr lang="pt-BR" sz="1800" i="0" u="none" strike="noStrike" baseline="0" dirty="0">
                <a:latin typeface="Roboto Condensed" panose="02000000000000000000" pitchFamily="2" charset="0"/>
              </a:rPr>
              <a:t>A transformação digital e as organizações </a:t>
            </a:r>
            <a:endParaRPr lang="pt-BR" dirty="0">
              <a:latin typeface="Arial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899592" y="1916832"/>
            <a:ext cx="77768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O termo transformação digital foi criado recentemente e de forma conjunta pelo MIT e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Roboto Light" panose="02000000000000000000" pitchFamily="2" charset="0"/>
              </a:rPr>
              <a:t>Capgemini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em 2011. A ideia era sumarizar um movimento que vinha ocorrendo a aproximadamente 60 anos. Esse movimento teve início em 1948, com o matemático Claude E. Shannon, quando publica seu trabalho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Roboto Light" panose="02000000000000000000" pitchFamily="2" charset="0"/>
              </a:rPr>
              <a:t>Mathematical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Roboto Light" panose="02000000000000000000" pitchFamily="2" charset="0"/>
              </a:rPr>
              <a:t>Theory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Roboto Light" panose="02000000000000000000" pitchFamily="2" charset="0"/>
              </a:rPr>
              <a:t>of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Communication. Esse trabalho começa a definir a teoria da informação, na qual é introduzida o termo bit, fundamental para a computação moderna. 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Atualmente, entende-se transformação digital como um fenômeno que incorpora o uso da tecnologia digital a solução de questões e problemas tradicionais e organizacionais 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97483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755576" y="1916832"/>
            <a:ext cx="73448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É fundamental entrar no campo de visão dessas pessoas, que muitas vezes está na tela de aparelhos eletrônicos. Não há perspectiva de um retrocesso nas questões tecnológicas, por isso é crucial se adequar e compreender que o físico está perdendo espaço para o digital, pouco a pouco, ano a ano. Assim, as organizações precisam se ajustar as novas realidades.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3974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467544" y="1412776"/>
            <a:ext cx="80648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Na atualidade, vemos um modelo de produção de bens e serviços cada vez mais dominado por máquinas, robôs e autoatendimentos. Ao mesmo tempo, profissionais ansiosos em se manter no mercado de trabalho. Esses profissionais gradativamente se veem obrigados a buscar qualificação constante e essas qualificações devem passar pelo desenvolvimento de competências comportamentais, pois é o diferencial central entre homem e máquina.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012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467544" y="1268760"/>
            <a:ext cx="84969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 inteligência emocional passa a ser um ativo do indivíduo e a ser uma das habilidades mais importantes dos profissionais. Com a transformação digital, a busca por profissionais mais qualificados aumenta, tornando-se as qualificações múltiplas necessárias. Apenas habilidades técnicas podem ser substituídas por máquinas, mas o conjunto de habilidades técnicas com habilidade emocionais traz o diferencial para o indivíduo. Atividades que exigem múltiplas inteligências têm a tendência de serem executadas apenas pelo indivíduo e não pela máquina.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2750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899592" y="1484784"/>
            <a:ext cx="74168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Segundo o relatório do Fórum Econômico Mundial sobre o futuro do trabalho de 2023, espera-se que cerca de 23% dos empregos mudem até 2027, resultando na criação de 69 milhões de novos empregos criados e 83 milhões eliminados. As mudanças são múltiplas e um dos fatores determinantes para tamanha mudança é a tecnologia. Os avanços tecnológicos são indiscutíveis e mostram que não é mais possível gerir as organizações nos mesmos moldes de Ford. </a:t>
            </a:r>
          </a:p>
          <a:p>
            <a:pPr algn="just"/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pPr algn="just"/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 gestão das organizações com foco na divisão do trabalho, na produtividade e produção em massa não faz mais sentido na sociedade atual. Intensidade de produção se pode obter com máquinas, mas qualidade, valor agregado e vantagem competitiva são questões que passam por vias distintas. O indivíduo, além de entender a importância do seu trabalho de forma diferente do século passado, também aprende sua relação com as organizações de forma diferente.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0731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7</a:t>
            </a:fld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23528" y="1916832"/>
            <a:ext cx="84249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As habilidades passam a ter papel fundamental na construção do indivíduo que deseja se manter ativo profissionalmente na atualidade. </a:t>
            </a: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Esse indivíduo, empreendedor de si mesmo, deve estar atento as necessidades do mercado e das organizações. Entender que atividades repetitivas, de execução linear e que necessitam de inteligências programáveis, tendem a ser entregues para máquinas e inteligências artificiais e isso não deveria ser um problema. Afinal, tira-se do indivíduo atividades monótonas para que ele possa executar atividades criativas, complexas, múltiplas. Nesse período de transição, é essencial investir em construção de habilidade diversas e principalmente na construção de caminhos que lhe agrade em termos laborais.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3926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755576" y="1700808"/>
            <a:ext cx="74888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Toda ruptura tecnológica exige dos indivíduos novas formas de ação. Negócios comuns em uma época em um momento seguinte podem desaparecer. </a:t>
            </a:r>
          </a:p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Os trabalhadores que pretendem se desenvolver no novo cenário que se desenha devem buscar o desenvolvimento daquilo que os diferenciem diretamente das máquinas, ou seja, suas habilidades socioemocionais ou </a:t>
            </a:r>
            <a:r>
              <a:rPr lang="pt-BR" sz="1800" b="0" i="1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soft skills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653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9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539552" y="1268760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800" i="0" u="none" strike="noStrike" baseline="0" dirty="0">
                <a:latin typeface="Roboto Condensed" panose="02000000000000000000" pitchFamily="2" charset="0"/>
              </a:rPr>
              <a:t>Cultura e diversidade 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5AC1A21-07FD-8365-705A-816CA777069B}"/>
              </a:ext>
            </a:extLst>
          </p:cNvPr>
          <p:cNvSpPr txBox="1"/>
          <p:nvPr/>
        </p:nvSpPr>
        <p:spPr>
          <a:xfrm>
            <a:off x="683568" y="2852936"/>
            <a:ext cx="7920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u="none" strike="noStrike" baseline="0">
                <a:solidFill>
                  <a:srgbClr val="000000"/>
                </a:solidFill>
                <a:latin typeface="Roboto Light" panose="02000000000000000000" pitchFamily="2" charset="0"/>
              </a:rPr>
              <a:t>A cultura é considerada uma das principais características que diferencia o homem dos outros seres vivos. É construída por meio de compartilhamento de informações, valores, saberes, costumes e vivências. Considerando o que ela é, conseguimos conceber que cada individuo, diante de sua construção social, carrega consigo sua cultura.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9866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611560" y="1124744"/>
            <a:ext cx="77048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Existem variadas definições do que é essa cultura. Segundo Santos (1994, p.42), pode ser definida como: [...] </a:t>
            </a:r>
            <a:r>
              <a:rPr lang="pt-BR" sz="1800" b="0" i="1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valores e crenças compartilhados pelos membros de uma organização, a qual funciona como um mecanismo de controle organizacional, informalmente aprovando ou proibindo comportamentos e que dá significado, direção e mobilização para os membros da organização.</a:t>
            </a:r>
            <a:endParaRPr lang="pt-BR" dirty="0">
              <a:solidFill>
                <a:srgbClr val="000000"/>
              </a:solidFill>
              <a:latin typeface="Roboto Lt"/>
            </a:endParaRPr>
          </a:p>
        </p:txBody>
      </p:sp>
    </p:spTree>
    <p:extLst>
      <p:ext uri="{BB962C8B-B14F-4D97-AF65-F5344CB8AC3E}">
        <p14:creationId xmlns:p14="http://schemas.microsoft.com/office/powerpoint/2010/main" val="230807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11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215516" y="1700808"/>
            <a:ext cx="8712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As organizações são compostas por pessoas e ambientes em que indivíduos de culturas diferentes convivem continuamente. Sabe-se que as subculturas impactam a diretamente na cultura da empresa. Entende-se como subcultura comportamentos e características próprios de um grupo ou departamento da organização. Por vezes, podemos observar que alguns grupos ou departamentos têm formas e formatos de agir que se dissociam da cultura organizacional. É importante perceber que isso não invalida a cultura. A maneira como a empresa compreende e age em relação as subculturas é importante para conceber sua cultura organizacional como um todo.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0193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12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611560" y="1340768"/>
            <a:ext cx="77768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Existem três níveis de cultura organizacional: as observáveis, que são os artefatos; os valores adotados, que são as justificativas que as pessoas dão para agir como agem, normalmente estão vinculados a pessoas que já passaram pela organização; e por último, as hipóteses básicas que são as crenças estabelecidas.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513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13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323528" y="1412776"/>
            <a:ext cx="86409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Somos múltiplos e complexos, quanto a essa afirmação não conseguimos argumentar de forma contrária. </a:t>
            </a: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Cada indivíduo é diferente. Sente, pensa, fala, age, entende de forma diferente. Essas diferenças incontestáveis de cada indivíduo estão atreladas diretamente as suas experiências, crenças, educação, construção social e familiar, renda, acesso à informação entre outros elementos. O que nos forma também é múltiplo.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1845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14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791580" y="2132856"/>
            <a:ext cx="75608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Cox Jr. (1993, p. 5-6) define diversidade como: </a:t>
            </a:r>
          </a:p>
          <a:p>
            <a:pPr marR="2800"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(...) a representação, em um sistema social, de pessoas com afiliações a grupos claramente diferentes em termos de significado cultural. A questão da diversidade em um contexto de sistema social é caracterizada por um grupo majoritário e por grupos minoritários, isto é, aqueles grupos com menor quantidade de membros representados no sistema social.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651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Número de Slide 1">
            <a:extLst>
              <a:ext uri="{FF2B5EF4-FFF2-40B4-BE49-F238E27FC236}">
                <a16:creationId xmlns:a16="http://schemas.microsoft.com/office/drawing/2014/main" id="{E23D3135-CD19-43BA-B8C9-7FB301C9086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7031038" y="6135688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B9CDE5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6AC1123-5B84-46A6-AFFE-682FAF693ED0}" type="slidenum">
              <a:rPr lang="pt-BR" altLang="pt-BR" smtClean="0"/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pt-BR" altLang="pt-BR" sz="1800">
              <a:solidFill>
                <a:srgbClr val="B9CDE5"/>
              </a:solidFill>
            </a:endParaRPr>
          </a:p>
        </p:txBody>
      </p:sp>
      <p:sp>
        <p:nvSpPr>
          <p:cNvPr id="10243" name="Retângulo 2">
            <a:extLst>
              <a:ext uri="{FF2B5EF4-FFF2-40B4-BE49-F238E27FC236}">
                <a16:creationId xmlns:a16="http://schemas.microsoft.com/office/drawing/2014/main" id="{4FB45985-324E-45C1-A647-64B7969C7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16113"/>
            <a:ext cx="7848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Equipes de alta performance se constroem com treinamento, com construção de capital intelectual, mas principalmente com o desenvolvimento humano e neste quesito a diversidade tem papel fundamental. </a:t>
            </a:r>
            <a:endParaRPr lang="pt-BR" altLang="pt-BR" sz="1800" dirty="0">
              <a:solidFill>
                <a:srgbClr val="000000"/>
              </a:solidFill>
              <a:latin typeface="Roboto 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7D5541-FFC0-4DB6-AF7F-B5786F76AFD7}" type="slidenum">
              <a:rPr lang="pt-BR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74613" y="980109"/>
            <a:ext cx="8640960" cy="410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  <a:defRPr/>
            </a:pPr>
            <a:r>
              <a:rPr lang="pt-BR" b="1" dirty="0"/>
              <a:t>O futuro dos empregos </a:t>
            </a:r>
          </a:p>
          <a:p>
            <a:pPr lvl="0">
              <a:lnSpc>
                <a:spcPct val="200000"/>
              </a:lnSpc>
              <a:defRPr/>
            </a:pPr>
            <a:endParaRPr lang="pt-BR" b="1" dirty="0">
              <a:solidFill>
                <a:srgbClr val="000000"/>
              </a:solidFill>
              <a:latin typeface="Arial"/>
            </a:endParaRPr>
          </a:p>
          <a:p>
            <a:endParaRPr lang="pt-BR" dirty="0"/>
          </a:p>
          <a:p>
            <a:r>
              <a:rPr lang="pt-BR" b="1" dirty="0"/>
              <a:t>Perspectivas sobre o trabalho: o impacto das novas tecnologias </a:t>
            </a:r>
          </a:p>
          <a:p>
            <a:endParaRPr lang="pt-BR" dirty="0"/>
          </a:p>
          <a:p>
            <a:pPr lvl="0">
              <a:lnSpc>
                <a:spcPct val="150000"/>
              </a:lnSpc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Trabalhamos! O trabalho por muitas vezes é um definidor de como</a:t>
            </a:r>
          </a:p>
          <a:p>
            <a:pPr lvl="0">
              <a:lnSpc>
                <a:spcPct val="150000"/>
              </a:lnSpc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devemos agir, um definir do indivíduo. Se olharmos nossa agenda no</a:t>
            </a:r>
          </a:p>
          <a:p>
            <a:pPr lvl="0">
              <a:lnSpc>
                <a:spcPct val="150000"/>
              </a:lnSpc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celular, vamos identificar vários nomes caracterizados pela função dos</a:t>
            </a:r>
          </a:p>
          <a:p>
            <a:pPr lvl="0">
              <a:lnSpc>
                <a:spcPct val="150000"/>
              </a:lnSpc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indivíduos, por sua atividade ou pelo seu trabalho. O trabalho passou a</a:t>
            </a:r>
          </a:p>
          <a:p>
            <a:pPr lvl="0">
              <a:lnSpc>
                <a:spcPct val="150000"/>
              </a:lnSpc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ajudar a nos definir, mas nem sempre foi assim.</a:t>
            </a:r>
          </a:p>
        </p:txBody>
      </p:sp>
    </p:spTree>
    <p:extLst>
      <p:ext uri="{BB962C8B-B14F-4D97-AF65-F5344CB8AC3E}">
        <p14:creationId xmlns:p14="http://schemas.microsoft.com/office/powerpoint/2010/main" val="2312668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462091" y="1172044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 definição de trabalho como pena, distante da aristocracia e próxima da servidão, foi transformada com a chegada do cristianismo, que o posicionou como natural a todo o indivíduo. Isso nos ajuda a compreender a construção do conceito e entendimento do trabalho. Compreenda que há uma construção do valor do trabalho em nossas vidas, cuja centralidade perpassa por questões de construção social.</a:t>
            </a:r>
          </a:p>
          <a:p>
            <a:endParaRPr lang="pt-BR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/>
              <a:t>Para autores da pós-modernidade, o trabalho auxilia dando configuração ao que é transitório. A vida, transitória por natureza, toma forma com a materialidade do trabalho e assim, o indivíduo solidifica sua função: seu papel na construção social. </a:t>
            </a:r>
          </a:p>
          <a:p>
            <a:endParaRPr lang="pt-BR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/>
              <a:t>O capitalismo se estabelece e com isso, as noções sobre ganhos de capital, do valor do dinheiro na construção da vida e dignidade dos indivíduos mudam. </a:t>
            </a:r>
            <a:endParaRPr lang="pt-BR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158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18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55576" y="2413338"/>
            <a:ext cx="79208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pt-BR" dirty="0"/>
              <a:t>O sonho americano representava a construção da prosperidade, por meio do trabalho sem dificuldades. Com isso, as pessoas querem e precisam consumir, ter para ser e sempre querendo ter mais. Ter bens, ter poder, ter mais que o outro para ser mais que os outros, como se efetivamente estivéssemos todos em uma grande competição. O mercado passa a ser visto como o campo de batalha. As conquistas de território, tão comuns antes do capitalismo, passam a acontecer no mundo capitalista, com os espaços de trabalho. </a:t>
            </a:r>
            <a:endParaRPr lang="pt-BR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9897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19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983730" y="1190410"/>
            <a:ext cx="72019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/>
              <a:t>A economia global está atravessando uma mudança radical na natureza do trabalho, com profundas consequências para o futuro da sociedade. Na era industrial, o trabalho humano massificado coexistia com as máquinas para produzir bens e serviços básicos. Na era do acesso, máquinas inteligentes, na forma de programas de computador – da robótica, da nanotecnologia e da biotecnologia –, substituíram rapidamente a mão de obra humana na agricultura, nas manufaturas e nos setores de serviços. Fazendas, fábricas e muitas áreas de colarinho branco estão rapidamente se automatizando. No século XXI, uma proporção crescente do trabalho físico e mental será desempenhada por máquinas inteligentes mais baratas e mais eficientes, englobando desde meras tarefas repetitivas até atividades profissionais altamente complexas. Os trabalhadores mais baratos do mundo provavelmente não o serão tanto quanto a tecnologia que os há de substituir (</a:t>
            </a:r>
            <a:r>
              <a:rPr lang="pt-BR" dirty="0" err="1"/>
              <a:t>Rifkin</a:t>
            </a:r>
            <a:r>
              <a:rPr lang="pt-BR" dirty="0"/>
              <a:t>, 2004, p. 342). </a:t>
            </a:r>
          </a:p>
        </p:txBody>
      </p:sp>
    </p:spTree>
    <p:extLst>
      <p:ext uri="{BB962C8B-B14F-4D97-AF65-F5344CB8AC3E}">
        <p14:creationId xmlns:p14="http://schemas.microsoft.com/office/powerpoint/2010/main" val="1236624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899592" y="1484784"/>
            <a:ext cx="74168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/>
              <a:t>O emprego como o conhecemos tende a terminar as estruturas de trabalho, como as entendemos tendem ao fim. Semana de trabalho de 40 horas, trabalho presencial, atividades programadas para cinco anos ou mais, são aspectos que tendem a chegar ao fim. Um mundo mais ágil tem estabelecido as atividades repetitivas. E as atividades que exigem uma única inteligência tendem a desaparecer ou se transformar. </a:t>
            </a:r>
          </a:p>
        </p:txBody>
      </p:sp>
    </p:spTree>
    <p:extLst>
      <p:ext uri="{BB962C8B-B14F-4D97-AF65-F5344CB8AC3E}">
        <p14:creationId xmlns:p14="http://schemas.microsoft.com/office/powerpoint/2010/main" val="2866266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681008" y="1815142"/>
            <a:ext cx="74168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/>
              <a:t>Para muitos pesquisadores sobre o tema, o grande diferencial nesse momento é saber que a tecnologia tende a empregar mais do que desempregar. Se aliar a tecnologia é o caminho mais lógico. Compreender que muitas coisas que a tecnologia pode substituir o indivíduo eram atividades que são bem-vindas à substituição deixando espaço para que o indivíduo possa executar atividades mais complexas. Se empregos somem, outros tantos aparecem, isso acontece a décadas. </a:t>
            </a:r>
            <a:endParaRPr lang="pt-BR" sz="1800" b="0" i="0" u="none" strike="noStrike" baseline="0" dirty="0">
              <a:solidFill>
                <a:srgbClr val="000000"/>
              </a:solidFill>
              <a:latin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636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22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827584" y="1405150"/>
            <a:ext cx="748883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Os gestores de equipes devem entender que não basta contratar o colaborador, é preciso dar suporte de ação e premissas básicas. Segundo Sobral e </a:t>
            </a:r>
            <a:r>
              <a:rPr lang="pt-BR" dirty="0" err="1"/>
              <a:t>Peci</a:t>
            </a:r>
            <a:r>
              <a:rPr lang="pt-BR" dirty="0"/>
              <a:t> (2013, p. 339), para esse funcionamento adequado, as premissas são: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ambientar os recém-contratados à organização por meio de um programa de orientação;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desenvolver programas de treinamento que capacitem os novos membros para a execução das atividades esperadas com eficácia e de uma forma consistente com os objetivos da organização;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avaliar o desempenho dos trabalhadores para detectar eventuais lacunas e áreas que necessitem de melhorias. </a:t>
            </a:r>
          </a:p>
        </p:txBody>
      </p:sp>
    </p:spTree>
    <p:extLst>
      <p:ext uri="{BB962C8B-B14F-4D97-AF65-F5344CB8AC3E}">
        <p14:creationId xmlns:p14="http://schemas.microsoft.com/office/powerpoint/2010/main" val="1283613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23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467544" y="1340768"/>
            <a:ext cx="78488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Carreiras </a:t>
            </a:r>
          </a:p>
          <a:p>
            <a:pPr algn="just"/>
            <a:endParaRPr lang="pt-BR" sz="1800" b="1" i="0" u="none" strike="noStrike" baseline="0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pPr algn="just"/>
            <a:r>
              <a:rPr lang="pt-BR" dirty="0"/>
              <a:t>Com o advento da tecnologia, foi ficando cada vez mais evidente as diferenças que o mercado de trabalho sofria. As relações deixaram de ser de longo prazo e se tornaram transitórias. O trabalhador que obedecia sem pensar foi dando espaço para aquele que refletia sobre os problemas e trazia soluções. Ambientes sem comunicação foram sendo substituídos por espaços colaborativos e, conforme o mundo do trabalho se adaptou, o indivíduo também precisou se adaptar.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04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24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392976" y="1003657"/>
            <a:ext cx="770485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Roboto Condensed" panose="02000000000000000000" pitchFamily="2" charset="0"/>
            </a:endParaRPr>
          </a:p>
          <a:p>
            <a:r>
              <a:rPr lang="pt-BR" dirty="0"/>
              <a:t>Uma das grandes atividades dos gestores é incentivar os colaboradores para que alcancem suas potencialidades e realizem entregas de qualidade.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As </a:t>
            </a:r>
            <a:r>
              <a:rPr lang="pt-BR" i="1" dirty="0"/>
              <a:t>hard </a:t>
            </a:r>
            <a:r>
              <a:rPr lang="pt-BR" i="1" dirty="0" err="1"/>
              <a:t>skills</a:t>
            </a:r>
            <a:r>
              <a:rPr lang="pt-BR" i="1" dirty="0"/>
              <a:t> </a:t>
            </a:r>
            <a:r>
              <a:rPr lang="pt-BR" dirty="0"/>
              <a:t>e </a:t>
            </a:r>
            <a:r>
              <a:rPr lang="pt-BR" i="1" dirty="0"/>
              <a:t>soft </a:t>
            </a:r>
            <a:r>
              <a:rPr lang="pt-BR" i="1" dirty="0" err="1"/>
              <a:t>skills</a:t>
            </a:r>
            <a:r>
              <a:rPr lang="pt-BR" i="1" dirty="0"/>
              <a:t> </a:t>
            </a:r>
            <a:r>
              <a:rPr lang="pt-BR" dirty="0"/>
              <a:t>são determinantes na atualidade e devem ser construídas e lapidadas. Entende-se que as hard </a:t>
            </a:r>
            <a:r>
              <a:rPr lang="pt-BR" dirty="0" err="1"/>
              <a:t>skills</a:t>
            </a:r>
            <a:r>
              <a:rPr lang="pt-BR" dirty="0"/>
              <a:t> são desenvolvidas por meio da educação formal, como escolas, faculdades, cursos e atividades de pesquisa e extensão. Já as soft </a:t>
            </a:r>
            <a:r>
              <a:rPr lang="pt-BR" dirty="0" err="1"/>
              <a:t>skills</a:t>
            </a:r>
            <a:r>
              <a:rPr lang="pt-BR" dirty="0"/>
              <a:t> são desenvolvidas por meio da educação adquirida por meio do convívio, da troca e da colaboração.  </a:t>
            </a:r>
          </a:p>
        </p:txBody>
      </p:sp>
    </p:spTree>
    <p:extLst>
      <p:ext uri="{BB962C8B-B14F-4D97-AF65-F5344CB8AC3E}">
        <p14:creationId xmlns:p14="http://schemas.microsoft.com/office/powerpoint/2010/main" val="872208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25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820461" y="1484784"/>
            <a:ext cx="74168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Roboto Condensed" panose="02000000000000000000" pitchFamily="2" charset="0"/>
            </a:endParaRPr>
          </a:p>
          <a:p>
            <a:r>
              <a:rPr lang="pt-BR" dirty="0"/>
              <a:t>Há alguns anos, um CEO de uma empresa no Vale do Silício afirmou em uma entrevista que naquele momento eles não estavam mais preocupados com o diploma de seus futuros contratados. Em vez disso, estavam mais preocupados com habilidades como resiliência, empatia e cordialidade. Ele explicou que conhecimentos técnicos eram mais simples de explicar do que valores. Ou seja, é mais fácil explicar </a:t>
            </a:r>
            <a:r>
              <a:rPr lang="pt-BR" i="1" dirty="0"/>
              <a:t>hard </a:t>
            </a:r>
            <a:r>
              <a:rPr lang="pt-BR" i="1" dirty="0" err="1"/>
              <a:t>skills</a:t>
            </a:r>
            <a:r>
              <a:rPr lang="pt-BR" i="1" dirty="0"/>
              <a:t> </a:t>
            </a:r>
            <a:r>
              <a:rPr lang="pt-BR" dirty="0"/>
              <a:t>do que </a:t>
            </a:r>
            <a:r>
              <a:rPr lang="pt-BR" i="1" dirty="0"/>
              <a:t>soft </a:t>
            </a:r>
            <a:r>
              <a:rPr lang="pt-BR" i="1" dirty="0" err="1"/>
              <a:t>skills</a:t>
            </a:r>
            <a:r>
              <a:rPr lang="pt-BR" dirty="0"/>
              <a:t>. É bem mais fácil explicar a alguém uma linha de programação do que a ser empático. </a:t>
            </a:r>
          </a:p>
        </p:txBody>
      </p:sp>
    </p:spTree>
    <p:extLst>
      <p:ext uri="{BB962C8B-B14F-4D97-AF65-F5344CB8AC3E}">
        <p14:creationId xmlns:p14="http://schemas.microsoft.com/office/powerpoint/2010/main" val="3486457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570937" y="1217231"/>
            <a:ext cx="781692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Segundo Maximiano (2016, p. 244), o teste do </a:t>
            </a:r>
            <a:r>
              <a:rPr lang="pt-BR" dirty="0" err="1"/>
              <a:t>Marshmallow</a:t>
            </a:r>
            <a:r>
              <a:rPr lang="pt-BR" dirty="0"/>
              <a:t> ocorreu da seguinte forma: </a:t>
            </a:r>
          </a:p>
          <a:p>
            <a:r>
              <a:rPr lang="pt-BR" dirty="0"/>
              <a:t>Uma das experiências mais famosas em que se baseou o desenvolvimento da teoria da inteligência emocional é o teste do </a:t>
            </a:r>
            <a:r>
              <a:rPr lang="pt-BR" dirty="0" err="1"/>
              <a:t>Marshmallow</a:t>
            </a:r>
            <a:r>
              <a:rPr lang="pt-BR" dirty="0"/>
              <a:t>. Nessa experiência, feita pelo psicólogo Walter </a:t>
            </a:r>
            <a:r>
              <a:rPr lang="pt-BR" dirty="0" err="1"/>
              <a:t>Mischel</a:t>
            </a:r>
            <a:r>
              <a:rPr lang="pt-BR" dirty="0"/>
              <a:t> nos anos 60, crianças de quatro anos foram expostas ao seguinte problema: </a:t>
            </a:r>
          </a:p>
          <a:p>
            <a:r>
              <a:rPr lang="pt-BR" i="1" dirty="0"/>
              <a:t>Se você esperar até eu voltar, você ganha dois </a:t>
            </a:r>
            <a:r>
              <a:rPr lang="pt-BR" i="1" dirty="0" err="1"/>
              <a:t>marshmallows</a:t>
            </a:r>
            <a:r>
              <a:rPr lang="pt-BR" i="1" dirty="0"/>
              <a:t>. Se você não esperar, ganha apenas um, agora.</a:t>
            </a:r>
          </a:p>
          <a:p>
            <a:endParaRPr lang="pt-BR" i="1" dirty="0"/>
          </a:p>
          <a:p>
            <a:endParaRPr lang="pt-BR" i="1" dirty="0"/>
          </a:p>
          <a:p>
            <a:r>
              <a:rPr lang="pt-BR" dirty="0"/>
              <a:t>Experiências como essa foram realizadas ao longo do tempo e possibilitaram a identificação da chamada </a:t>
            </a:r>
            <a:r>
              <a:rPr lang="pt-BR" i="1" dirty="0"/>
              <a:t>aptidão mestra</a:t>
            </a:r>
            <a:r>
              <a:rPr lang="pt-BR" dirty="0"/>
              <a:t>: o autocontrole emocional. Segundo Maximiano (2016, p. 245): “Essa aptidão é a essência da capacidade de esperar e da perseverança na realização de meta de qualquer tipo, empresariais, técnicas ou esportivas”. </a:t>
            </a:r>
          </a:p>
        </p:txBody>
      </p:sp>
    </p:spTree>
    <p:extLst>
      <p:ext uri="{BB962C8B-B14F-4D97-AF65-F5344CB8AC3E}">
        <p14:creationId xmlns:p14="http://schemas.microsoft.com/office/powerpoint/2010/main" val="3160392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27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539552" y="1893014"/>
            <a:ext cx="78488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/>
              <a:t>A inteligência emocional possui cinco ingredientes centrais: autoconhecimento, autocontrole, automotivação, empatia e habilidades interpessoais – as soft </a:t>
            </a:r>
            <a:r>
              <a:rPr lang="pt-BR" dirty="0" err="1"/>
              <a:t>skills</a:t>
            </a:r>
            <a:r>
              <a:rPr lang="pt-BR" dirty="0"/>
              <a:t>. Segundo Maximiano (2016, p. 246), “o melhor da ideia da inteligência emocional é a proposta, de </a:t>
            </a:r>
            <a:r>
              <a:rPr lang="pt-BR" dirty="0" err="1"/>
              <a:t>Goleman</a:t>
            </a:r>
            <a:r>
              <a:rPr lang="pt-BR" dirty="0"/>
              <a:t> e outros, como Gardner, de que essa aptidão pode ser desenvolvida. As pessoas podem ser “emocionalmente alfabetizadas” e educadas para lidar com suas emoções e seu comportamento.” 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6253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28</a:t>
            </a:fld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668" y="1380084"/>
            <a:ext cx="6723185" cy="347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4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8383F1E-F8F7-130B-4C2F-40A80FD7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29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C2D3059-2AF0-6844-27C3-9ACF3B2C26DA}"/>
              </a:ext>
            </a:extLst>
          </p:cNvPr>
          <p:cNvSpPr txBox="1"/>
          <p:nvPr/>
        </p:nvSpPr>
        <p:spPr>
          <a:xfrm>
            <a:off x="949123" y="1327021"/>
            <a:ext cx="73730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82" y="772990"/>
            <a:ext cx="6910754" cy="506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84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A801172-DF47-B7CB-67AD-A431A283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30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EB0D28-75F7-7474-AD95-4783E247CB69}"/>
              </a:ext>
            </a:extLst>
          </p:cNvPr>
          <p:cNvSpPr txBox="1"/>
          <p:nvPr/>
        </p:nvSpPr>
        <p:spPr>
          <a:xfrm>
            <a:off x="433605" y="1431222"/>
            <a:ext cx="820645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gestão de equipes é uma tarefa árdua e complexa. Compreender as necessidades organizacionais é o </a:t>
            </a:r>
            <a:r>
              <a:rPr lang="pt-BR" dirty="0" err="1"/>
              <a:t>ponto-chave</a:t>
            </a:r>
            <a:r>
              <a:rPr lang="pt-BR" dirty="0"/>
              <a:t> por um lado e por outro lado, é preciso entender as necessidades dos indivíduos, seu desenvolvimento, qualidade de vida e crescimento.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Para que tenhamos equipes de alta performance, é essencial considerar três necessidades psicológicas básicas: autonomia, competência e relacionamento. O indivíduo deve ser autônomo, ter suas competências lapidadas e ser capaz de ter bom relacionamento com os colegas, visando atender às necessidades organizacionais. Existem metas a serem cumpridas, atividades a serem executadas. Quem gerencia equipes precisa estar atento a esses aspectos, pois a performance está diretamente relacionada com a execução de atividades com qualidade. </a:t>
            </a:r>
          </a:p>
        </p:txBody>
      </p:sp>
    </p:spTree>
    <p:extLst>
      <p:ext uri="{BB962C8B-B14F-4D97-AF65-F5344CB8AC3E}">
        <p14:creationId xmlns:p14="http://schemas.microsoft.com/office/powerpoint/2010/main" val="873673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31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545123" y="1859340"/>
            <a:ext cx="76493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Uma das estratégias comuns para a gestão de equipes de alta performance</a:t>
            </a:r>
          </a:p>
          <a:p>
            <a:r>
              <a:rPr lang="pt-BR" dirty="0"/>
              <a:t>é a aplicação do </a:t>
            </a:r>
            <a:r>
              <a:rPr lang="pt-BR" dirty="0" err="1"/>
              <a:t>empowerment</a:t>
            </a:r>
            <a:r>
              <a:rPr lang="pt-BR" dirty="0"/>
              <a:t>, que nada mais é do que a passagem</a:t>
            </a:r>
          </a:p>
          <a:p>
            <a:r>
              <a:rPr lang="pt-BR" dirty="0"/>
              <a:t>da autoridade e da responsabilidade no processo de tomada de</a:t>
            </a:r>
          </a:p>
          <a:p>
            <a:r>
              <a:rPr lang="pt-BR" dirty="0"/>
              <a:t>decisão para os funcionários. O </a:t>
            </a:r>
            <a:r>
              <a:rPr lang="pt-BR" dirty="0" err="1"/>
              <a:t>empoderamento</a:t>
            </a:r>
            <a:r>
              <a:rPr lang="pt-BR" dirty="0"/>
              <a:t> do trabalhador fazendo</a:t>
            </a:r>
          </a:p>
          <a:p>
            <a:r>
              <a:rPr lang="pt-BR" dirty="0"/>
              <a:t>com que se sinta corresponsável pelas atividades e decisões, e assim,</a:t>
            </a:r>
          </a:p>
          <a:p>
            <a:r>
              <a:rPr lang="pt-BR" dirty="0"/>
              <a:t>possa dedicar-se inteiramente a atividade.</a:t>
            </a:r>
          </a:p>
        </p:txBody>
      </p:sp>
    </p:spTree>
    <p:extLst>
      <p:ext uri="{BB962C8B-B14F-4D97-AF65-F5344CB8AC3E}">
        <p14:creationId xmlns:p14="http://schemas.microsoft.com/office/powerpoint/2010/main" val="40918405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32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694593" y="1245891"/>
            <a:ext cx="795703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000000"/>
                </a:solidFill>
                <a:latin typeface="Roboto Light"/>
              </a:rPr>
              <a:t>Além de </a:t>
            </a:r>
            <a:r>
              <a:rPr lang="pt-BR" dirty="0" err="1">
                <a:solidFill>
                  <a:srgbClr val="000000"/>
                </a:solidFill>
                <a:latin typeface="Roboto Light"/>
              </a:rPr>
              <a:t>empoderar</a:t>
            </a:r>
            <a:r>
              <a:rPr lang="pt-BR" dirty="0">
                <a:solidFill>
                  <a:srgbClr val="000000"/>
                </a:solidFill>
                <a:latin typeface="Roboto Light"/>
              </a:rPr>
              <a:t>, auxiliar e integrar o colaborador na organização, é preciso manter os indivíduos motivados, criar condições para que se sintam satisfeitos e realizados no trabalho. Para isso, alguns elementos são fundamentais: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Roboto Light"/>
              </a:rPr>
              <a:t>Estruturar uma política de remuneração clara, compatível com o perfil dos profissionais, alinhada com o que o mercado oferece e com o impacto de cada colaborador para a organização.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Roboto Light"/>
              </a:rPr>
              <a:t>Recompensar os trabalhadores com promoções, transferências, bônus, etc. Dessa forma, o colaborador compreende de forma prática sua importância na organização.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Roboto Light"/>
              </a:rPr>
              <a:t>Administrar de forma adequada o quadro de pessoal, demitindo quando necessário pessoas que não estão contribuindo com a organização. </a:t>
            </a:r>
          </a:p>
        </p:txBody>
      </p:sp>
    </p:spTree>
    <p:extLst>
      <p:ext uri="{BB962C8B-B14F-4D97-AF65-F5344CB8AC3E}">
        <p14:creationId xmlns:p14="http://schemas.microsoft.com/office/powerpoint/2010/main" val="35638548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property id=&quot;20141&quot; value=&quot;Modelo AN 2014&quot;/&gt;&lt;property id=&quot;20144&quot; value=&quot;1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0&quot;/&gt;&lt;property id=&quot;20183&quot; value=&quot;1&quot;/&gt;&lt;property id=&quot;20184&quot; value=&quot;7&quot;/&gt;&lt;property id=&quot;20193&quot; value=&quot;-1&quot;/&gt;&lt;property id=&quot;20221&quot; value=&quot;E:\Dri\Adriana\logos senac\MARCA_RGB\&quot;/&gt;&lt;property id=&quot;20224&quot; value=&quot;C:\Users\adriana.mmatsuda\Documents\My Adobe Presentations\modelo_2014&quot;/&gt;&lt;property id=&quot;20250&quot; value=&quot;0&quot;/&gt;&lt;property id=&quot;20251&quot; value=&quot;0&quot;/&gt;&lt;property id=&quot;20259&quot; value=&quot;0&quot;/&gt;&lt;property id=&quot;20600&quot; value=&quot;0&quot;/&gt;&lt;property id=&quot;20700&quot; value=&quot;0&quot;/&gt;&lt;object type=&quot;2&quot; unique_id=&quot;10118&quot;&gt;&lt;object type=&quot;3&quot; unique_id=&quot;10253&quot;&gt;&lt;property id=&quot;20148&quot; value=&quot;5&quot;/&gt;&lt;property id=&quot;20300&quot; value=&quot;Slide 3&quot;/&gt;&lt;property id=&quot;20303&quot; value=&quot;-1&quot;/&gt;&lt;property id=&quot;20307&quot; value=&quot;257&quot;/&gt;&lt;property id=&quot;20309&quot; value=&quot;-1&quot;/&gt;&lt;/object&gt;&lt;object type=&quot;3&quot; unique_id=&quot;10271&quot;&gt;&lt;property id=&quot;20148&quot; value=&quot;5&quot;/&gt;&lt;property id=&quot;20300&quot; value=&quot;Slide 5 - &amp;quot;Referências bibliográficas&amp;quot;&quot;/&gt;&lt;property id=&quot;20303&quot; value=&quot;-1&quot;/&gt;&lt;property id=&quot;20307&quot; value=&quot;258&quot;/&gt;&lt;property id=&quot;20309&quot; value=&quot;-1&quot;/&gt;&lt;/object&gt;&lt;object type=&quot;3&quot; unique_id=&quot;10272&quot;&gt;&lt;property id=&quot;20148&quot; value=&quot;5&quot;/&gt;&lt;property id=&quot;20300&quot; value=&quot;Slide 4 - &amp;quot;Conclusão&amp;quot;&quot;/&gt;&lt;property id=&quot;20303&quot; value=&quot;-1&quot;/&gt;&lt;property id=&quot;20307&quot; value=&quot;259&quot;/&gt;&lt;property id=&quot;20309&quot; value=&quot;-1&quot;/&gt;&lt;/object&gt;&lt;object type=&quot;3&quot; unique_id=&quot;10415&quot;&gt;&lt;property id=&quot;20148&quot; value=&quot;5&quot;/&gt;&lt;property id=&quot;20300&quot; value=&quot;Slide 1&quot;/&gt;&lt;property id=&quot;20301&quot; value=&quot;Título- 1linha&quot;/&gt;&lt;property id=&quot;20303&quot; value=&quot;-1&quot;/&gt;&lt;property id=&quot;20307&quot; value=&quot;261&quot;/&gt;&lt;property id=&quot;20309&quot; value=&quot;-1&quot;/&gt;&lt;/object&gt;&lt;object type=&quot;3&quot; unique_id=&quot;10497&quot;&gt;&lt;property id=&quot;20148&quot; value=&quot;5&quot;/&gt;&lt;property id=&quot;20300&quot; value=&quot;Slide 6 - &amp;quot;Donec eget nisi dolor - nec risus&amp;quot;&quot;/&gt;&lt;property id=&quot;20303&quot; value=&quot;-1&quot;/&gt;&lt;property id=&quot;20307&quot; value=&quot;262&quot;/&gt;&lt;property id=&quot;20309&quot; value=&quot;-1&quot;/&gt;&lt;/object&gt;&lt;object type=&quot;3&quot; unique_id=&quot;10808&quot;&gt;&lt;property id=&quot;20148&quot; value=&quot;5&quot;/&gt;&lt;property id=&quot;20300&quot; value=&quot;Slide 2&quot;/&gt;&lt;property id=&quot;20301&quot; value=&quot;Título - 2 linhas&quot;/&gt;&lt;property id=&quot;20303&quot; value=&quot;-1&quot;/&gt;&lt;property id=&quot;20307&quot; value=&quot;263&quot;/&gt;&lt;property id=&quot;20309&quot; value=&quot;-1&quot;/&gt;&lt;/object&gt;&lt;/object&gt;&lt;object type=&quot;8&quot; unique_id=&quot;10122&quot;&gt;&lt;/object&gt;&lt;object type=&quot;4&quot; unique_id=&quot;10304&quot;&gt;&lt;/object&gt;&lt;object type=&quot;10&quot; unique_id=&quot;10305&quot;&gt;&lt;object type=&quot;11&quot; unique_id=&quot;10306&quot;&gt;&lt;property id=&quot;20180&quot; value=&quot;0&quot;/&gt;&lt;property id=&quot;20181&quot; value=&quot;0&quot;/&gt;&lt;property id=&quot;20183&quot; value=&quot;1&quot;/&gt;&lt;/object&gt;&lt;object type=&quot;12&quot; unique_id=&quot;10538&quot;&gt;&lt;/object&gt;&lt;/object&gt;&lt;/object&gt;&lt;/database&gt;"/>
  <p:tag name="SECTOMILLISECCONVERTED" val="1"/>
  <p:tag name="MMPROD_THEME_BG_IMAGE" val=""/>
  <p:tag name="MMPROD_TAG_VCONFIG" val="PD94bWwgdmVyc2lvbj0iMS4wIiBlbmNvZGluZz0iVVRGLTgiPz4NCjxjb25maWd1cmF0aW9uPg0KCTxicmFuZGluZz4NCgkJPHVpZm9udCBuYW1lPSJGT05UX05PVEVTX1RFWFQiIHZhbHVlPSJWZXJkYW5hLDE0LGZhbHNlLGZhbHNlLGZhbHNlIi8+DQoJPC9icmFuZGluZz4NCgk8Y29sb3JzPg0KCQk8dWljb2xvciBuYW1lPSJwcmltYXJ5IiB2YWx1ZT0iMHhDQ0NDQ0MiLz4NCgkJPHVpY29sb3IgbmFtZT0iZ2xvdyIgdmFsdWU9IjB4RkRDMTgwIi8+DQoJCTx1aWNvbG9yIG5hbWU9InRleHQiIHZhbHVlPSIweDAwMDAwMCIvPg0KCQk8dWljb2xvciBuYW1lPSJsaWdodCIgdmFsdWU9IjB4OEY4RjhGIi8+DQoJCTx1aWNvbG9yIG5hbWU9InNoYWRvdyIgdmFsdWU9IjB4RkZGRkZGIi8+DQoJCTx1aWNvbG9yIG5hbWU9ImJhY2tncm91bmQiIHZhbHVlPSIweDAwMzM2NiIvPg0KCQk8dWljb2xvciBuYW1lPSJub3Rlc1RleHRCYWNrZ3JvdW5kIiB2YWx1ZT0iMHhGRkZGRkYiLz4NCgk8L2NvbG9ycz4NCgk8bGF5b3V0Pg0KCQk8dWlzaG93IG5hbWU9InByZXNlbnRhdGlvbnRpdGxlIiB2YWx1ZT0idHJ1ZSIvPg0KCQk8dWlzaG93IG5hbWU9InByZXNlbnRlcnBob3RvIiB2YWx1ZT0idHJ1ZSIvPg0KCQk8dWlzaG93IG5hbWU9InByZXNlbnRlcm5hbWUiIHZhbHVlPSJ0cnVlIi8+DQoJCTx1aXNob3cgbmFtZT0icHJlc2VudGVydGl0bGUiIHZhbHVlPSJ0cnVlIi8+DQoJCTx1aXNob3cgbmFtZT0icHJlc2VudGVyZW1haWwiIHZhbHVlPSJ0cnVlIi8+DQoJCTx1aXNob3cgbmFtZT0icHJlc2VudGVyYmlvIiB2YWx1ZT0idHJ1ZSIvPg0KCQk8dWlzaG93IG5hbWU9ImNvbXBhbnlsb2dvIiB2YWx1ZT0idHJ1ZSIvPg0KCQk8dWlzaG93IG5hbWU9InNpZGViYXIiIHZhbHVlPSJ0cnVlIi8+DQoJCTx1aXNob3cgbmFtZT0ib3V0bGluZSIgdmFsdWU9InRydWUiLz4NCgkJPHVpc2hvdyBuYW1lPSJ0aHVtYm5haWwiIHZhbHVlPSJ0cnVlIi8+DQoJCTx1aXNob3cgbmFtZT0ibm90ZXMiIHZhbHVlPSJ0cnVlIi8+DQoJCTx1aXNob3cgbmFtZT0ic2VhcmNoIiB2YWx1ZT0idHJ1ZSIvPg0KCQk8dWlzaG93IG5hbWU9InF1aXoiIHZhbHVlPSJ0cnVlIi8+DQoJCTx1aXNob3cgbmFtZT0iYXR0YWNobWVudHMiIHZhbHVlPSJ0cnVlIi8+DQoJCTx1aXNob3cgbmFtZT0idXRpbHMiIHZhbHVlPSJ0cnVlIi8+DQoJCTx1aXNob3cgbmFtZT0idm9sdW1lIiB2YWx1ZT0idHJ1ZSIvPg0KCQk8dWlzaG93IG5hbWU9InBsYXliYXIiIHZhbHVlPSJ0cnVlIi8+DQoJCTx1aXNob3cgbmFtZT0idGFsa2luZ2hlYWQiIHZhbHVlPSJ0cnVlIi8+DQoJCTx1aXNob3cgbmFtZT0ic2lkZWJhcm9ucmlnaHQiIHZhbHVlPSJ0cnVlIi8+DQoJCTx1aXNob3cgbmFtZT0idmlld2NoYW5nZSIgdmFsdWU9InRydWUiLz4NCgkJPHVpc2hvdyBuYW1lPSJhbHdheXNTY3J1bmNoIiB2YWx1ZT0iZmFsc2UiLz4NCgkJPHVpc2hvdyBuYW1lPSJpbml0aWFsZGlzcGxheW1vZGVpc25vcm1hbCIgdmFsdWU9InRydWUiLz4NCgkJPHVpc2hvdyBuYW1lPSJjY3RleHRoaWdobGlnaHRpbmciIHZhbHVlPSJ0cnVlIi8+DQoJCTx1aXJlcGxhY2UgbmFtZT0ibG9nbyIgdmFsdWU9IiIvPg0KCQk8dWlyZXBsYWNlIG5hbWU9ImJnaW1hZ2UiIHZhbHVlPSIiLz4NCgkJPHVpcmVwbGFjZSBuYW1lPSJpbml0aWFsdGFiIiB2YWx1ZT0ib3V0bGluZSIvPg0KCTwvbGF5b3V0Pg0KCTxwcmVsb2FkZXI+PHNldEJvb2wgbmFtZT0iZGlzYWJsZUFzc2V0UHJlbG9hZGVyIiB2YWx1ZT0idHJ1ZSIvPjwvcHJlbG9hZGVyPj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BdXMiLz4NCgkJPHVpdGV4dCBuYW1lPSJET0NXUkFQX1RJVExFIiB2YWx1ZT0iUHJlc2VudGVyLUFuaGFuZyIvPg0KCQk8dWl0ZXh0IG5hbWU9IkRPQ1dSQVBfTVNHIiB2YWx1ZT0iQXVmIG1laW5lbSBBcmJlaXRzcGxhdHogc3BlaWNoZXJuIi8+DQoJCTx1aXRleHQgbmFtZT0iRE9DV1JBUF9QUk9NUFQiIHZhbHVlPSJadW0gSGVydW50ZXJsYWRlbiBrbGlja2VuIi8+DQoJPC9sYW5ndWFnZT4NCgk8bGFuZ3VhZ2UgaWQ9ImZy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lICVuIi8+DQoJCTwhLS0gc3Vic3RpdHV0aW9uOiAlbiA9PSBzbGlkZSBudW1iZXIgLS0+DQoJCTwhLS0gc3Vic3RpdHV0aW9uOiAldCA9PSB0b3RhbCBzbGlkZSBjb3VudCAtLT4NCgkJPHVpdGV4dCBuYW1lPSJTQ1JVQkJBUlNUQVRVU19TTElERUlORk8iIHZhbHVlPSJEaWFwb3NpdGl2ZSAlbiAvICV0IHwgIi8+DQoJCTx1aXRleHQgbmFtZT0iU0NSVUJCQVJTVEFUVVNfU1RPUFBFRCIgdmFsdWU9IkFycsOqdMOpZSIvPg0KCQk8dWl0ZXh0IG5hbWU9IlNDUlVCQkFSU1RBVFVTX1BMQVlJTkciIHZhbHVlPSJMZWN0dXJlIi8+DQoJCTx1aXRleHQgbmFtZT0iU0NSVUJCQVJTVEFUVVNfTk9BVURJTyIgdmFsdWU9IlBhcyBkZSBzb24iLz4NCgkJPHVpdGV4dCBuYW1lPSJTQ1JVQkJBUlNUQVRVU19WSURQTEFZSU5HIiB2YWx1ZT0iTGVjdHVyZSB2aWTDqW8gZW4gY291cnMiLz4NCgkJPHVpdGV4dCBuYW1lPSJTQ1JVQkJBUlNUQVRVU19MT0FESU5HIiB2YWx1ZT0iQ2hhcmdlbWVudCBlbiBjb3VycyIvPg0KCQk8dWl0ZXh0IG5hbWU9IlNDUlVCQkFSU1RBVFVTX0JVRkZFUklORyIgdmFsdWU9Ik1pc2UgZW4gbcOpbW9pcmUiLz4NCgkJPHVpdGV4dCBuYW1lPSJTQ1JVQkJBUlNUQVRVU19RVUVTVElPTiIgdmFsdWU9IlLDqXBvbmRyZSDDoCBsYSBxdWVzdGlvbiIvPg0KCQk8dWl0ZXh0IG5hbWU9IlNDUlVCQkFSU1RBVFVTX1JFVklFV1FVSVoiIHZhbHVlPSJSw6l2aXNpb24gZHUgcXVlc3Rpb25uYWlyZSIvPg0KCQk8IS0tIHN1YnN0aXR1dGlvbjogJW0gPT0gbWludXRlcyByZW1haW5pbmcgLS0+DQoJCTwhLS0gc3Vic3RpdHV0aW9uOiAlcyA9PSBzZWNvbmRzIHJlbWFpbmluZyAtLT4NCgkJPHVpdGV4dCBuYW1lPSJFTEFQU0VEIiB2YWx1ZT0iJW0gbWludXRlcyAlcyBzZWNvbmRlcyByZXN0YW50ZXMiLz4NCgkJPHVpdGV4dCBuYW1lPSJOT1RGT1VORCIgdmFsdWU9IlJpZW4gdHJvdXbDqSIvPg0KCQk8dWl0ZXh0IG5hbWU9IkFUVEFDSE1FTlRTIiB2YWx1ZT0iUGnDqGNlcyBqb2ludGVzIi8+DQoJCTwhLS0gc3Vic3RpdHV0aW9uOiAlcCA9PSBjdXJyZW50IHNwZWFrZXIncyB0aXRsZSAtLT4NCgkJPHVpdGV4dCBuYW1lPSJCSU9XSU5fVElUTEUiIHZhbHVlPSJCaW8gOiAlcCIvPg0KCQk8dWl0ZXh0IG5hbWU9IkJJT0JUTl9USVRMRSIgdmFsdWU9IkJpbyA6Ii8+DQoJCTx1aXRleHQgbmFtZT0iRElWSURFUkJUTl9USVRMRSIgdmFsdWU9InwiLz4NCgkJPHVpdGV4dCBuYW1lPSJDT05UQUNUQlROX1RJVExFIiB2YWx1ZT0iQ29udGFjdCIvPg0KCQk8dWl0ZXh0IG5hbWU9IlRBQl9RVUlaIiB2YWx1ZT0iUXVpeiIvPg0KCQk8dWl0ZXh0IG5hbWU9IlRBQl9PVVRMSU5FIiB2YWx1ZT0iUGxhbiIvPg0KCQk8dWl0ZXh0IG5hbWU9IlRBQl9USFVNQiIgdmFsdWU9IkRpYXBvcyIvPg0KCQk8dWl0ZXh0IG5hbWU9IlRBQl9OT1RFUyIgdmFsdWU9Ik5vdGVzIi8+DQoJCTx1aXRleHQgbmFtZT0iVEFCX1NFQVJDSCIgdmFsdWU9IlJlY2hlcmNoZSIvPg0KCQk8dWl0ZXh0IG5hbWU9IlNMSURFX0hFQURJTkciIHZhbHVlPSJUaXRyZSBkZSBsYSBkaWFwb3NpdGl2ZSIvPg0KCQk8dWl0ZXh0IG5hbWU9IkRVUkFUSU9OX0hFQURJTkciIHZhbHVlPSJEdXLDqWUiLz4NCgkJPHVpdGV4dCBuYW1lPSJTRUFSQ0hfSEVBRElORyIgdmFsdWU9IlJlY2hlcmNoZSBkZSB0ZXh0ZSA6Ii8+DQoJCTx1aXRleHQgbmFtZT0iVEhVTUJfSEVBRElORyIgdmFsdWU9IkRpYXBvc2l0aXZlIi8+DQoJCTx1aXRleHQgbmFtZT0iVEhVTUJfSU5GTyIgdmFsdWU9IlRpdHJlL2R1csOpZSIvPg0KCQk8dWl0ZXh0IG5hbWU9IkFUVEFDSE5BTUVfSEVBRElORyIgdmFsdWU9Ik5vbSBkZSBmaWNoaWVyIi8+DQoJCTx1aXRleHQgbmFtZT0iQVRUQUNIU0laRV9IRUFESU5HIiB2YWx1ZT0iVGFpbGxlIi8+DQoJCTx1aXRleHQgbmFtZT0iU0xJREVfTk9URVMiIHZhbHVlPSJDb21tZW50YWlyZXMgZGVzIGRpYXBvc2l0aXZlcyIvPg0KCQk8IS0tcXVpeiBwb2QgYW5kIG1lc3NhZ2UgYm94IHRleHRzLS0+DQoJCTx1aXRleHQgbmFtZT0iUVVJWlBPRF9RVUlaX0FUVEVNUFQiIHZhbHVlPSJUZW50YXRpdmUgZGUgcXVlc3Rpb25uYWlyZSA6Ii8+DQoJCTx1aXRleHQgbmFtZT0iUVVJWlBPRF9RVUlaX0FUVEVNUFRfVkFMVUUiIHZhbHVlPSIlbiBzdXIgJXQiLz4NCgkJPHVpdGV4dCBuYW1lPSJRVUlaUE9EX1FVSVpfU0NPUkUiIHZhbHVlPSJOb3RlIG9idGVudWUgOiIvPg0KCQk8dWl0ZXh0IG5hbWU9IlFVSVpQT0RfUVVJWl9QQVNTU0NPUkUiIHZhbHVlPSJOb3RlIGQnYWRtaXNzaWJpbGl0w6nCoDoiLz4NCgkJPHVpdGV4dCBuYW1lPSJRVUlaUE9EX1FVSVpfTUFYU0NPUkUiIHZhbHVlPSJOb3RlIG1heGltYWxlIDoiLz4NCgkJPHVpdGV4dCBuYW1lPSJRVUlaUE9EX1FVRVNBVE1QVF9TVFIiIHZhbHVlPSJUZW50YXRpdmUgOiAlbiBzdXIgJXQiLz4NCgkJPHVpdGV4dCBuYW1lPSJRVUlaUE9EX1FVRVNUWVBFX1NUUiIgdmFsdWU9IlR5cGU6ICVzIi8+DQoJCTx1aXRleHQgbmFtZT0iUVVJWlBPRF9RVUVTVFlQRV9HUkQiIHZhbHVlPSJOb3TDqSIvPg0KCQk8dWl0ZXh0IG5hbWU9IlFVSVpQT0RfUVVFU1RZUEVfU1ZZIiB2YWx1ZT0iRW5xdcOqdGUiLz4NCgkJPHVpdGV4dCBuYW1lPSJRVUlaUE9EX1FVSVpBVE1QVF9JTkYiIHZhbHVlPSJJbGxpbWl0w6kiLz4NCgkJPHVpdGV4dCBuYW1lPSJRVUlaUE9EX1FVRVNBVE1QVF9JTkYiIHZhbHVlPSJJbGxpbWl0w6kiLz4NCgkJPHVpdGV4dCBuYW1lPSJXQVJOSU5HTVNHX1lFU1NUUklORyIgdmFsdWU9Ik91aSIvPg0KCQk8dWl0ZXh0IG5hbWU9IldBUk5JTkdNU0dfTk9TVFJJTkciIHZhbHVlPSJOb24iLz4NCgkJPHVpdGV4dCBuYW1lPSJXQVJOSU5HTVNHX1RJVExFU1RSSU5HIiB2YWx1ZT0iQXZlcnRpc3NlbWVudCBkZSBuYXZpZ2F0aW9uIGR1IHF1ZXN0aW9ubmFpcmUiLz4NCgkJPHVpdGV4dCBuYW1lPSJXQVJOSU5HTVNHX01TR1NUUklORyIgdmFsdWU9IlZvdXMgbidhdmV6IHBhcyByw6lwb25kdSDDoCBjZXJ0YWluZXMgcXVlc3Rpb25zIGRlIGNlIHF1ZXN0aW9ubmFpcmUuJiN4QTsmI3hBO1NpIHZvdXMgY2xpcXVleiBzdXIgT3VpLCB2b3VzIHF1aXR0ZXJleiBsZSBxdWVzdGlvbm5haXJlLiBDbGlxdWV6IHN1ciBOb24gcG91ciBjb250aW51ZXIgbGUgcXVlc3Rpb25uYWlyZS4iLz4NCgkJPHVpdGV4dCBuYW1lPSJJTkZPUk1BVElPTl9IMjY0X0ZMQVNIUExBWUVSIiB2YWx1ZT0iTGEgdmVyc2lvbiBkZSBGbGFzaCBQbGF5ZXIgYWN0dWVsbGVtZW50IGluc3RhbGzDqWUgc3VyIHZvdHJlIG1hY2hpbmUgbmUgcHJlbmQgcGFzIGVuIGNoYXJnZSBjZSB0eXBlIGRlIHZpZMOpby4gQ2xpcXVleiBzdXIgbGEgem9uZSB2aWTDqW8gcG91ciB0w6lsw6ljaGFyZ2VyIGxhIGRlcm5pw6hyZSB2ZXJzaW9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udHJlciBsJ2VuY2FkcsOpIGF1eCBwYXJ0aWNpcGFudHMiLz4NCgkJPHVpdGV4dCBuYW1lPSJNVVRFIiB2YWx1ZT0iTXVldCIvPg0KCQk8dWl0ZXh0IG5hbWU9IkRPQ1dSQVBfVElUTEUiIHZhbHVlPSJQacOoY2Ugam9pbnRlIFByZXNlbnRlciIvPg0KCQk8dWl0ZXh0IG5hbWU9IkRPQ1dSQVBfTVNHIiB2YWx1ZT0iRW5yZWdpc3RyZXIgc3VyIG1vbiBvcmRpbmF0ZXVyIi8+DQoJCTx1aXRleHQgbmFtZT0iRE9DV1JBUF9QUk9NUFQiIHZhbHVlPSJDbGlxdWVyIHBvdXIgdMOpbMOpY2hhcmdlciIvPg0KCTwvbGFuZ3VhZ2U+DQoJPGxhbmd1YWdlIGlkPSJqYS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w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44K544Op44Kk44OJIDogJW4iLz4NCgkJPCEtLSBzdWJzdGl0dXRpb246ICVuID09IHNsaWRlIG51bWJlciAtLT4NCgkJPCEtLSBzdWJzdGl0dXRpb246ICV0ID09IHRvdGFsIHNsaWRlIGNvdW50IC0tPg0KCQk8dWl0ZXh0IG5hbWU9IlNDUlVCQkFSU1RBVFVTX1NMSURFSU5GTyIgdmFsdWU9IuOCueODqeOCpOODiSA6ICVuIC8gJXQgfCAiLz4NCgkJPHVpdGV4dCBuYW1lPSJTQ1JVQkJBUlNUQVRVU19TVE9QUEVEIiB2YWx1ZT0i5YGc5q2iIi8+DQoJCTx1aXRleHQgbmFtZT0iU0NSVUJCQVJTVEFUVVNfUExBWUlORyIgdmFsdWU9IuWGjeeUn+S4rSIvPg0KCQk8dWl0ZXh0IG5hbWU9IlNDUlVCQkFSU1RBVFVTX05PQVVESU8iIHZhbHVlPSLpn7Plo7DjgarjgZciLz4NCgkJPHVpdGV4dCBuYW1lPSJTQ1JVQkJBUlNUQVRVU19WSURQTEFZSU5HIiB2YWx1ZT0i44OT44OH44Kq5YaN55Sf5LitIi8+DQoJCTx1aXRleHQgbmFtZT0iU0NSVUJCQVJTVEFUVVNfTE9BRElORyIgdmFsdWU9IuODreODvOODieS4rSIvPg0KCQk8dWl0ZXh0IG5hbWU9IlNDUlVCQkFSU1RBVFVTX0JVRkZFUklORyIgdmFsdWU9IuODkOODg+ODleOCoeS4rSIvPg0KCQk8dWl0ZXh0IG5hbWU9IlNDUlVCQkFSU1RBVFVTX1FVRVNUSU9OIiB2YWx1ZT0i6LOq5ZWP44Gr562U44GI44Gm5LiL44GV44GEIi8+DQoJCTx1aXRleHQgbmFtZT0iU0NSVUJCQVJTVEFUVVNfUkVWSUVXUVVJWiIgdmFsdWU9IuOCr+OCpOOCuuOCkuODrOODk+ODpeODvOOBl+OBpuOBhOOBvuOBmSIvPg0KCQk8IS0tIHN1YnN0aXR1dGlvbjogJW0gPT0gbWludXRlcyByZW1haW5pbmcgLS0+DQoJCTwhLS0gc3Vic3RpdHV0aW9uOiAlcyA9PSBzZWNvbmRzIHJlbWFpbmluZyAtLT4NCgkJPHVpdGV4dCBuYW1lPSJFTEFQU0VEIiB2YWx1ZT0i5q6L44KKIDogJW0g5YiGICVzIOenkiIvPg0KCQk8dWl0ZXh0IG5hbWU9Ik5PVEZPVU5EIiB2YWx1ZT0i5L2V44KC6KaL44Gk44GL44KK44G+44Gb44KTIi8+DQoJCTx1aXRleHQgbmFtZT0iQVRUQUNITUVOVFMiIHZhbHVlPSLmt7vku5giLz4NCgkJPCEtLSBzdWJzdGl0dXRpb246ICVwID09IGN1cnJlbnQgc3BlYWtlcidzIHRpdGxlIC0tPg0KCQk8dWl0ZXh0IG5hbWU9IkJJT1dJTl9USVRMRSIgdmFsdWU9Iue1jOattCA6ICVwIi8+DQoJCTx1aXRleHQgbmFtZT0iQklPQlROX1RJVExFIiB2YWx1ZT0i57WM5q20Ii8+DQoJCTx1aXRleHQgbmFtZT0iRElWSURFUkJUTl9USVRMRSIgdmFsdWU9InwiLz4NCgkJPHVpdGV4dCBuYW1lPSJDT05UQUNUQlROX1RJVExFIiB2YWx1ZT0i44GK5ZWP44GE5ZCI44KP44GbIi8+DQoJCTx1aXRleHQgbmFtZT0iVEFCX1FVSVoiIHZhbHVlPSLjgq/jgqTjgroiLz4NCgkJPHVpdGV4dCBuYW1lPSJUQUJfT1VUTElORSIgdmFsdWU9IuOCouOCpuODiOODqeOCpOODsyIvPg0KCQk8dWl0ZXh0IG5hbWU9IlRBQl9USFVNQiIgdmFsdWU9IuOCteODoOODjeODvOODqyIvPg0KCQk8dWl0ZXh0IG5hbWU9IlRBQl9OT1RFUyIgdmFsdWU9IuODjuODvOODiCIvPg0KCQk8dWl0ZXh0IG5hbWU9IlRBQl9TRUFSQ0giIHZhbHVlPSLmpJzntKIiLz4NCgkJPHVpdGV4dCBuYW1lPSJTTElERV9IRUFESU5HIiB2YWx1ZT0i44K544Op44Kk44OJ44K/44Kk44OI44OrIi8+DQoJCTx1aXRleHQgbmFtZT0iRFVSQVRJT05fSEVBRElORyIgdmFsdWU9IumVt+OBlSIvPg0KCQk8dWl0ZXh0IG5hbWU9IlNFQVJDSF9IRUFESU5HIiB2YWx1ZT0i5qSc57Si44GZ44KL44OG44Kt44K544OIIDogIi8+DQoJCTx1aXRleHQgbmFtZT0iVEhVTUJfSEVBRElORyIgdmFsdWU9IuOCueODqeOCpOODiSIvPg0KCQk8dWl0ZXh0IG5hbWU9IlRIVU1CX0lORk8iIHZhbHVlPSLjgrnjg6njgqTjg4njgr/jgqTjg4jjg6sgLyDplbfjgZUiLz4NCgkJPHVpdGV4dCBuYW1lPSJBVFRBQ0hOQU1FX0hFQURJTkciIHZhbHVlPSLjg5XjgqHjgqTjg6vlkI0iLz4NCgkJPHVpdGV4dCBuYW1lPSJBVFRBQ0hTSVpFX0hFQURJTkciIHZhbHVlPSLjgrXjgqTjgroiLz4NCgkJPHVpdGV4dCBuYW1lPSJTTElERV9OT1RFUyIgdmFsdWU9IuOCueODqeOCpOODieODjuODvOODiCIvPg0KCQk8IS0tcXVpeiBwb2QgYW5kIG1lc3NhZ2UgYm94IHRleHRzLS0+DQoJCTx1aXRleHQgbmFtZT0iUVVJWlBPRF9RVUlaX0FUVEVNUFQiIHZhbHVlPSLjgq/jgqTjgrroqabooYzlm57mlbAgOiAiLz4NCgkJPHVpdGV4dCBuYW1lPSJRVUlaUE9EX1FVSVpfQVRURU1QVF9WQUxVRSIgdmFsdWU9IiVuIC8gJXQiLz4NCgkJPHVpdGV4dCBuYW1lPSJRVUlaUE9EX1FVSVpfU0NPUkUiIHZhbHVlPSLjgrnjgrPjgqIgOiAiLz4NCgkJPHVpdGV4dCBuYW1lPSJRVUlaUE9EX1FVSVpfUEFTU1NDT1JFIiB2YWx1ZT0i5ZCI5qC854K5IDoiLz4NCgkJPHVpdGV4dCBuYW1lPSJRVUlaUE9EX1FVSVpfTUFYU0NPUkUiIHZhbHVlPSLmnIDpq5jlvpfngrkgOiAiLz4NCgkJPHVpdGV4dCBuYW1lPSJRVUlaUE9EX1FVRVNBVE1QVF9TVFIiIHZhbHVlPSLoqabooYzlm57mlbAgOiAlbiAvICV0Ii8+DQoJCTx1aXRleHQgbmFtZT0iUVVJWlBPRF9RVUVTVFlQRV9TVFIiIHZhbHVlPSLjgr/jgqTjg5cgOiAlcyIvPg0KCQk8dWl0ZXh0IG5hbWU9IlFVSVpQT0RfUVVFU1RZUEVfR1JEIiB2YWx1ZT0i6KmV5L6hIi8+DQoJCTx1aXRleHQgbmFtZT0iUVVJWlBPRF9RVUVTVFlQRV9TVlkiIHZhbHVlPSLjgqLjg7PjgrHjg7zjg4giLz4NCgkJPHVpdGV4dCBuYW1lPSJRVUlaUE9EX1FVSVpBVE1QVF9JTkYiIHZhbHVlPSLnhKHliLbpmZAiLz4NCgkJPHVpdGV4dCBuYW1lPSJRVUlaUE9EX1FVRVNBVE1QVF9JTkYiIHZhbHVlPSLnhKHliLbpmZAiLz4NCgkJPHVpdGV4dCBuYW1lPSJXQVJOSU5HTVNHX1lFU1NUUklORyIgdmFsdWU9IuOBr+OBhCIvPg0KCQk8dWl0ZXh0IG5hbWU9IldBUk5JTkdNU0dfTk9TVFJJTkciIHZhbHVlPSLjgYTjgYTjgYgiLz4NCgkJPHVpdGV4dCBuYW1lPSJXQVJOSU5HTVNHX1RJVExFU1RSSU5HIiB2YWx1ZT0i44Kv44Kk44K644Gu44OK44OT44Ky44O844K344On44Oz44Gr6Zai44GZ44KL6K2m5ZGKIi8+DQoJCTx1aXRleHQgbmFtZT0iV0FSTklOR01TR19NU0dTVFJJTkciIHZhbHVlPSLjgZPjga7jgq/jgqTjgrrjgavjga/jgIHjgb7jgaDop6PnrZTjgZfjgabjgYTjgarjgYTos6rllY/jgYzjgYLjgorjgb7jgZnjgIImI3hBOyYjeEE7IOOCr+OCpOOCuuOCkue1guS6huOBmeOCi+OBq+OBr+OAgeOAjOOBr+OBhOOAjeOCkuOCr+ODquODg+OCr+OBl+OBvuOBmeOAguOCr+OCpOOCuuOCkue2muihjOOBmeOCi+OBq+OBr+OAgeOAjOOBhOOBhOOBiOOAjeOCkuOCr+ODquODg+OCr+OBl+OBvuOBmeOAgiIvPg0KCQk8dWl0ZXh0IG5hbWU9IklORk9STUFUSU9OX0gyNjRfRkxBU0hQTEFZRVIiIHZhbHVlPSLjgYrkvb/jgYTjga7jgrPjg7Pjg5Tjg6Xjg7zjgr/jgavnj77lnKjjgqTjg7Pjgrnjg4jjg7zjg6vjgZXjgozjgabjgYTjgosgRmxhc2ggUGxheWVyIOOBruODkOODvOOCuOODp+ODs+OBr+OAgeOBk+OBruODk+ODh+OCquOCkuOCteODneODvOODiOOBl+OBpuOBhOOBvuOBm+OCk+OAguacgOaWsOOBriBGbGFzaCBQbGF5ZXIg44KS44OA44Km44Oz44Ot44O844OJ44GZ44KL44Gr44Gv44CB44OT44OH44Kq6aCY5Z+f44KS44Kv44Oq44OD44Kv44GX44Gm44GP44Gg44GV44GE44CC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OCteOCpOODieODkOODvOOCkuWPguWKoOiAheOBq+imi+OBm+OCiyIvPg0KCQk8dWl0ZXh0IG5hbWU9Ik1VVEUiIHZhbHVlPSLjg5/jg6Xjg7zjg4giLz4NCgkJPHVpdGV4dCBuYW1lPSJET0NXUkFQX1RJVExFIiB2YWx1ZT0iUHJlc2VudGVyIOa3u+S7mOODleOCoeOCpOODqyIvPg0KCQk8dWl0ZXh0IG5hbWU9IkRPQ1dSQVBfTVNHIiB2YWx1ZT0i44Oe44Kk44Kz44Oz44OU44Ol44O844K/44Gr5L+d5a2YIi8+DQoJCTx1aXRleHQgbmFtZT0iRE9DV1JBUF9QUk9NUFQiIHZhbHVlPSLjgq/jg6rjg4Pjgq/jgZfjgabjg4Djgqbjg7Pjg63jg7zjg4kiLz4NCgk8L2xhbmd1YWdlPg0KCTxsYW5ndWFnZSBpZD0ia28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S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S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yKrOudvOydtOuTnCAlbiIvPg0KCQk8IS0tIHN1YnN0aXR1dGlvbjogJW4gPT0gc2xpZGUgbnVtYmVyIC0tPg0KCQk8IS0tIHN1YnN0aXR1dGlvbjogJXQgPT0gdG90YWwgc2xpZGUgY291bnQgLS0+DQoJCTx1aXRleHQgbmFtZT0iU0NSVUJCQVJTVEFUVVNfU0xJREVJTkZPIiB2YWx1ZT0i7Iqs65287J2065OcICVuIC8gJXQgfCAiLz4NCgkJPHVpdGV4dCBuYW1lPSJTQ1JVQkJBUlNUQVRVU19TVE9QUEVEIiB2YWx1ZT0i7KSR7KeA65CoIi8+DQoJCTx1aXRleHQgbmFtZT0iU0NSVUJCQVJTVEFUVVNfUExBWUlORyIgdmFsdWU9IuyerOyDnSIvPg0KCQk8dWl0ZXh0IG5hbWU9IlNDUlVCQkFSU1RBVFVTX05PQVVESU8iIHZhbHVlPSLsmKTrlJTsmKQg7JeG7J2MIi8+DQoJCTx1aXRleHQgbmFtZT0iU0NSVUJCQVJTVEFUVVNfVklEUExBWUlORyIgdmFsdWU9Iuu5hOuUlOyYpCDsnqzsg50g7KSRIi8+DQoJCTx1aXRleHQgbmFtZT0iU0NSVUJCQVJTVEFUVVNfTE9BRElORyIgdmFsdWU9IuuhnOuUqSIvPg0KCQk8dWl0ZXh0IG5hbWU9IlNDUlVCQkFSU1RBVFVTX0JVRkZFUklORyIgdmFsdWU9IuuyhO2NvOungSIvPg0KCQk8dWl0ZXh0IG5hbWU9IlNDUlVCQkFSU1RBVFVTX1FVRVNUSU9OIiB2YWx1ZT0i7KeI66y47JeQIOuLte2VmOq4sCIvPg0KCQk8dWl0ZXh0IG5hbWU9IlNDUlVCQkFSU1RBVFVTX1JFVklFV1FVSVoiIHZhbHVlPSLsp4jrrLgg64uk7Iuc67O06riwIi8+DQoJCTwhLS0gc3Vic3RpdHV0aW9uOiAlbSA9PSBtaW51dGVzIHJlbWFpbmluZyAtLT4NCgkJPCEtLSBzdWJzdGl0dXRpb246ICVzID09IHNlY29uZHMgcmVtYWluaW5nIC0tPg0KCQk8dWl0ZXh0IG5hbWU9IkVMQVBTRUQiIHZhbHVlPSIlbeu2hCAlc+y0iCDrgqjsnYwiLz4NCgkJPHVpdGV4dCBuYW1lPSJOT1RGT1VORCIgdmFsdWU9IuyXhuydjCIvPg0KCQk8dWl0ZXh0IG5hbWU9IkFUVEFDSE1FTlRTIiB2YWx1ZT0i7LKo67aAIO2MjOydvCIvPg0KCQk8IS0tIHN1YnN0aXR1dGlvbjogJXAgPT0gY3VycmVudCBzcGVha2VyJ3MgdGl0bGUgLS0+DQoJCTx1aXRleHQgbmFtZT0iQklPV0lOX1RJVExFIiB2YWx1ZT0i6rK966ClIOyGjOqwnDogJXAiLz4NCgkJPHVpdGV4dCBuYW1lPSJCSU9CVE5fVElUTEUiIHZhbHVlPSLqsr3roKUg7IaM6rCcIi8+DQoJCTx1aXRleHQgbmFtZT0iRElWSURFUkJUTl9USVRMRSIgdmFsdWU9InwiLz4NCgkJPHVpdGV4dCBuYW1lPSJDT05UQUNUQlROX1RJVExFIiB2YWx1ZT0i7Jew65297LKYIi8+DQoJCTx1aXRleHQgbmFtZT0iVEFCX1FVSVoiIHZhbHVlPSLtgLTspogiLz4NCgkJPHVpdGV4dCBuYW1lPSJUQUJfT1VUTElORSIgdmFsdWU9IuqwnOyalCIvPg0KCQk8dWl0ZXh0IG5hbWU9IlRBQl9USFVNQiIgdmFsdWU9Iuy2leyGjO2MkCIvPg0KCQk8dWl0ZXh0IG5hbWU9IlRBQl9OT1RFUyIgdmFsdWU9IuuFuO2KuCIvPg0KCQk8dWl0ZXh0IG5hbWU9IlRBQl9TRUFSQ0giIHZhbHVlPSLqsoDsg4kiLz4NCgkJPHVpdGV4dCBuYW1lPSJTTElERV9IRUFESU5HIiB2YWx1ZT0i7Iqs65287J2065OcIOygnOuqqSIvPg0KCQk8dWl0ZXh0IG5hbWU9IkRVUkFUSU9OX0hFQURJTkciIHZhbHVlPSLsnqzsg53si5zqsIQiLz4NCgkJPHVpdGV4dCBuYW1lPSJTRUFSQ0hfSEVBRElORyIgdmFsdWU9Iu2FjeyKpO2KuCDqsoDsg4k6Ii8+DQoJCTx1aXRleHQgbmFtZT0iVEhVTUJfSEVBRElORyIgdmFsdWU9IuyKrOudvOydtOuTnCIvPg0KCQk8dWl0ZXh0IG5hbWU9IlRIVU1CX0lORk8iIHZhbHVlPSLsoJzrqqkv7J6s7IOd7Iuc6rCEIi8+DQoJCTx1aXRleHQgbmFtZT0iQVRUQUNITkFNRV9IRUFESU5HIiB2YWx1ZT0i7YyM7J28IOydtOumhCIvPg0KCQk8dWl0ZXh0IG5hbWU9IkFUVEFDSFNJWkVfSEVBRElORyIgdmFsdWU9Iu2BrOq4sCIvPg0KCQk8dWl0ZXh0IG5hbWU9IlNMSURFX05PVEVTIiB2YWx1ZT0i7Iqs65287J2065OcIOuFuO2KuCIvPg0KCQk8IS0tcXVpeiBwb2QgYW5kIG1lc3NhZ2UgYm94IHRleHRzLS0+DQoJCTx1aXRleHQgbmFtZT0iUVVJWlBPRF9RVUlaX0FUVEVNUFQiIHZhbHVlPSLtgLTspogg7Iuc64+EIO2an+yImDoiLz4NCgkJPHVpdGV4dCBuYW1lPSJRVUlaUE9EX1FVSVpfQVRURU1QVF9WQUxVRSIgdmFsdWU9IiVuLyV0Ii8+DQoJCTx1aXRleHQgbmFtZT0iUVVJWlBPRF9RVUlaX1NDT1JFIiB2YWx1ZT0i65Od7KCQOiIvPg0KCQk8dWl0ZXh0IG5hbWU9IlFVSVpQT0RfUVVJWl9QQVNTU0NPUkUiIHZhbHVlPSLthrXqs7wg7KCQ7IiYOiIvPg0KCQk8dWl0ZXh0IG5hbWU9IlFVSVpQT0RfUVVJWl9NQVhTQ09SRSIgdmFsdWU9Iuy1nOqzoCDsoJDsiJg6Ii8+DQoJCTx1aXRleHQgbmFtZT0iUVVJWlBPRF9RVUVTQVRNUFRfU1RSIiB2YWx1ZT0i7Iuc64+EIO2an+yImDogJW4vJXQiLz4NCgkJPHVpdGV4dCBuYW1lPSJRVUlaUE9EX1FVRVNUWVBFX1NUUiIgdmFsdWU9IuycoO2YlTogJXMiLz4NCgkJPHVpdGV4dCBuYW1lPSJRVUlaUE9EX1FVRVNUWVBFX0dSRCIgdmFsdWU9IuygkOyImCDrp6TquLDquLAg7JmE66OMIi8+DQoJCTx1aXRleHQgbmFtZT0iUVVJWlBPRF9RVUVTVFlQRV9TVlkiIHZhbHVlPSLshKTrrLgg7KGw7IKsIi8+DQoJCTx1aXRleHQgbmFtZT0iUVVJWlBPRF9RVUlaQVRNUFRfSU5GIiB2YWx1ZT0i66y07ZWcIi8+DQoJCTx1aXRleHQgbmFtZT0iUVVJWlBPRF9RVUVTQVRNUFRfSU5GIiB2YWx1ZT0i66y07ZWcIi8+DQoJCTx1aXRleHQgbmFtZT0iV0FSTklOR01TR19ZRVNTVFJJTkciIHZhbHVlPSLsmIgiLz4NCgkJPHVpdGV4dCBuYW1lPSJXQVJOSU5HTVNHX05PU1RSSU5HIiB2YWx1ZT0i7JWE64uI7JikIi8+DQoJCTx1aXRleHQgbmFtZT0iV0FSTklOR01TR19USVRMRVNUUklORyIgdmFsdWU9Iu2AtOymiCDrgrTruYTqsozsnbTshZgg6rK96rOgIi8+DQoJCTx1aXRleHQgbmFtZT0iV0FSTklOR01TR19NU0dTVFJJTkciIHZhbHVlPSLsnbQg7YC07KaI7JeQ7IScIOyLnOuPhO2VmOyngCDslYrsnYAg7KeI66y47J20IOyeiOyKteuLiOuLpC4mI3hBOyYjeEE77YC07KaI66W8IOyiheujjO2VmOugpOuptCBb7JiIXeulvCDtgbTrpq3tlZjqs6AsIO2AtOymiOulvCDqs4Tsho3tlZjroKTrqbQgW+yVhOuLiOyYpF3rpbwg7YG066at7ZWY7Iut7Iuc7JikLiIvPg0KCQk8dWl0ZXh0IG5hbWU9IklORk9STUFUSU9OX0gyNjRfRkxBU0hQTEFZRVIiIHZhbHVlPSLsi5zsiqTthZzsl5Ag7ISk7LmY65CY7Ja0IOyeiOuKlCDtmITsnqwg67KE7KCE7J2YIEZsYXNoIFBsYXllcuuKlCDsnbQg67mE65SU7Jik66W8IOyngOybkO2VmOyngCDslYrsirXri4jri6QuIOy1nOyLoCBGbGFzaCBQbGF5ZXLrpbwg64uk7Jq066Gc65Oc7ZWY66Ck66m0IOu5hOuUlOyYpCDsmIHsl63snYQg7YG066at7ZWY7Iut7Iuc7Jik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ssLjsl6zsnpDsl5Dqsowg7IS466GcIOunieuMgCDrs7TsnbTquLAiLz4NCgkJPHVpdGV4dCBuYW1lPSJNVVRFIiB2YWx1ZT0i7J2M7IaM6rGwIi8+DQoJCTx1aXRleHQgbmFtZT0iRE9DV1JBUF9USVRMRSIgdmFsdWU9IlByZXNlbnRlciDtjIzsnbwg7LKo67aAIi8+DQoJCTx1aXRleHQgbmFtZT0iRE9DV1JBUF9NU0ciIHZhbHVlPSLrgrQg7Lu07ZOo7YSw7JeQIOyggOyepSIvPg0KCQk8dWl0ZXh0IG5hbWU9IkRPQ1dSQVBfUFJPTVBUIiB2YWx1ZT0i7YG066at7ZWY7JesIOuLpOyatOuhnOuTnCIvPg0KCTwvbGFuZ3VhZ2U+DQoJPGxhbmd1YWdlIGlkPSJlcy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YSAlbiIvPg0KCQk8IS0tIHN1YnN0aXR1dGlvbjogJW4gPT0gc2xpZGUgbnVtYmVyIC0tPg0KCQk8IS0tIHN1YnN0aXR1dGlvbjogJXQgPT0gdG90YWwgc2xpZGUgY291bnQgLS0+DQoJCTx1aXRleHQgbmFtZT0iU0NSVUJCQVJTVEFUVVNfU0xJREVJTkZPIiB2YWx1ZT0iRGlhcG9zaXRpdmEgJW4gLyAldCB8ICIvPg0KCQk8dWl0ZXh0IG5hbWU9IlNDUlVCQkFSU1RBVFVTX1NUT1BQRUQiIHZhbHVlPSJEZXRlbmlkYSIvPg0KCQk8dWl0ZXh0IG5hbWU9IlNDUlVCQkFSU1RBVFVTX1BMQVlJTkciIHZhbHVlPSJSZXByb2R1Y2llbmRvIi8+DQoJCTx1aXRleHQgbmFtZT0iU0NSVUJCQVJTVEFUVVNfTk9BVURJTyIgdmFsdWU9IlNpbiBzb25pZG8iLz4NCgkJPHVpdGV4dCBuYW1lPSJTQ1JVQkJBUlNUQVRVU19WSURQTEFZSU5HIiB2YWx1ZT0iVsOtZGVvIGVuIHJlcHJvZC4iLz4NCgkJPHVpdGV4dCBuYW1lPSJTQ1JVQkJBUlNUQVRVU19MT0FESU5HIiB2YWx1ZT0iQ2FyZ2FuZG8iLz4NCgkJPHVpdGV4dCBuYW1lPSJTQ1JVQkJBUlNUQVRVU19CVUZGRVJJTkciIHZhbHVlPSJBbG1hY2VuYW5kbyBlbiBiw7pmZXIiLz4NCgkJPHVpdGV4dCBuYW1lPSJTQ1JVQkJBUlNUQVRVU19RVUVTVElPTiIgdmFsdWU9IkNvbnRlc3RhciBwcmVndW50YSIvPg0KCQk8dWl0ZXh0IG5hbWU9IlNDUlVCQkFSU1RBVFVTX1JFVklFV1FVSVoiIHZhbHVlPSJSZXZpc2FuZG8gcHJ1ZWJhIi8+DQoJCTwhLS0gc3Vic3RpdHV0aW9uOiAlbSA9PSBtaW51dGVzIHJlbWFpbmluZyAtLT4NCgkJPCEtLSBzdWJzdGl0dXRpb246ICVzID09IHNlY29uZHMgcmVtYWluaW5nIC0tPg0KCQk8dWl0ZXh0IG5hbWU9IkVMQVBTRUQiIHZhbHVlPSIlbSBtaW51dG9zICVzIHNlZ3VuZG9zIHJlc3RhbnRlcyIvPg0KCQk8dWl0ZXh0IG5hbWU9Ik5PVEZPVU5EIiB2YWx1ZT0iTm8gc2UgaGEgZW5jb250cmFkbyBuYWRhIi8+DQoJCTx1aXRleHQgbmFtZT0iQVRUQUNITUVOVFMiIHZhbHVlPSJBcmNoaXZvcyBhZGp1bnRvcyIvPg0KCQk8IS0tIHN1YnN0aXR1dGlvbjogJXAgPT0gY3VycmVudCBzcGVha2VyJ3MgdGl0bGUgLS0+DQoJCTx1aXRleHQgbmFtZT0iQklPV0lOX1RJVExFIiB2YWx1ZT0iQmlvZ3JhZsOtYTogJXAiLz4NCgkJPHVpdGV4dCBuYW1lPSJCSU9CVE5fVElUTEUiIHZhbHVlPSJCaW9ncmFmw61hIi8+DQoJCTx1aXRleHQgbmFtZT0iRElWSURFUkJUTl9USVRMRSIgdmFsdWU9InwiLz4NCgkJPHVpdGV4dCBuYW1lPSJDT05UQUNUQlROX1RJVExFIiB2YWx1ZT0iQ29udGFjdG8iLz4NCgkJPHVpdGV4dCBuYW1lPSJUQUJfUVVJWiIgdmFsdWU9IlBydWViYSIvPg0KCQk8dWl0ZXh0IG5hbWU9IlRBQl9PVVRMSU5FIiB2YWx1ZT0iQ29udG9ybm8iLz4NCgkJPHVpdGV4dCBuYW1lPSJUQUJfVEhVTUIiIHZhbHVlPSJNaW5pYXQuIi8+DQoJCTx1aXRleHQgbmFtZT0iVEFCX05PVEVTIiB2YWx1ZT0iTm90YXMiLz4NCgkJPHVpdGV4dCBuYW1lPSJUQUJfU0VBUkNIIiB2YWx1ZT0iQnVzY2FyIi8+DQoJCTx1aXRleHQgbmFtZT0iU0xJREVfSEVBRElORyIgdmFsdWU9IlTDrXR1bG8gZGUgZGlhcG9zaXRpdmEiLz4NCgkJPHVpdGV4dCBuYW1lPSJEVVJBVElPTl9IRUFESU5HIiB2YWx1ZT0iRHVyYWMuIi8+DQoJCTx1aXRleHQgbmFtZT0iU0VBUkNIX0hFQURJTkciIHZhbHVlPSJCdXNjYXIgdGV4dG86Ii8+DQoJCTx1aXRleHQgbmFtZT0iVEhVTUJfSEVBRElORyIgdmFsdWU9IkRpYXBvc2l0aXZhIi8+DQoJCTx1aXRleHQgbmFtZT0iVEhVTUJfSU5GTyIgdmFsdWU9IkR1ci4vVMOtdC4gZGlhcC4iLz4NCgkJPHVpdGV4dCBuYW1lPSJBVFRBQ0hOQU1FX0hFQURJTkciIHZhbHVlPSJOb21icmUgZGUgYXJjaGl2byIvPg0KCQk8dWl0ZXh0IG5hbWU9IkFUVEFDSFNJWkVfSEVBRElORyIgdmFsdWU9IlRhbWHDsW8iLz4NCgkJPHVpdGV4dCBuYW1lPSJTTElERV9OT1RFUyIgdmFsdWU9Ik5vdGFzIGRlIGRpYXBvc2l0aXZhIi8+DQoJCTwhLS1xdWl6IHBvZCBhbmQgbWVzc2FnZSBib3ggdGV4dHMtLT4NCgkJPHVpdGV4dCBuYW1lPSJRVUlaUE9EX1FVSVpfQVRURU1QVCIgdmFsdWU9IkludGVudG8gZGUgcHJ1ZWJhOiIvPg0KCQk8dWl0ZXh0IG5hbWU9IlFVSVpQT0RfUVVJWl9BVFRFTVBUX1ZBTFVFIiB2YWx1ZT0iJW4gZGUgJXQiLz4NCgkJPHVpdGV4dCBuYW1lPSJRVUlaUE9EX1FVSVpfU0NPUkUiIHZhbHVlPSJQdW50dWFjacOzbjoiLz4NCgkJPHVpdGV4dCBuYW1lPSJRVUlaUE9EX1FVSVpfUEFTU1NDT1JFIiB2YWx1ZT0iUHVudHVhY2nDs24gcGFyYSBhcHJvYmFyOiIvPg0KCQk8dWl0ZXh0IG5hbWU9IlFVSVpQT0RfUVVJWl9NQVhTQ09SRSIgdmFsdWU9IlB1bnR1YWNpw7NuIG3DoXhpbWE6Ii8+DQoJCTx1aXRleHQgbmFtZT0iUVVJWlBPRF9RVUVTQVRNUFRfU1RSIiB2YWx1ZT0iSW50ZW50b3M6ICVuIGRlICV0Ii8+DQoJCTx1aXRleHQgbmFtZT0iUVVJWlBPRF9RVUVTVFlQRV9TVFIiIHZhbHVlPSJUaXBvOiAlcyIvPg0KCQk8dWl0ZXh0IG5hbWU9IlFVSVpQT0RfUVVFU1RZUEVfR1JEIiB2YWx1ZT0iQ29uIHB1bnR1YWNpw7NuIi8+DQoJCTx1aXRleHQgbmFtZT0iUVVJWlBPRF9RVUVTVFlQRV9TVlkiIHZhbHVlPSJFbmN1ZXN0YSIvPg0KCQk8dWl0ZXh0IG5hbWU9IlFVSVpQT0RfUVVJWkFUTVBUX0lORiIgdmFsdWU9IkluZmluaXRvIi8+DQoJCTx1aXRleHQgbmFtZT0iUVVJWlBPRF9RVUVTQVRNUFRfSU5GIiB2YWx1ZT0iSW5maW5pdG8iLz4NCgkJPHVpdGV4dCBuYW1lPSJXQVJOSU5HTVNHX1lFU1NUUklORyIgdmFsdWU9IlPDrSIvPg0KCQk8dWl0ZXh0IG5hbWU9IldBUk5JTkdNU0dfTk9TVFJJTkciIHZhbHVlPSJObyIvPg0KCQk8dWl0ZXh0IG5hbWU9IldBUk5JTkdNU0dfVElUTEVTVFJJTkciIHZhbHVlPSJBdmlzbyBkZSBuYXZlZ2FjacOzbiBkZSBwcnVlYmEiLz4NCgkJPHVpdGV4dCBuYW1lPSJXQVJOSU5HTVNHX01TR1NUUklORyIgdmFsdWU9IkhheSBwcmVndW50YXMgc2luIGludGVudG9zIGVuIGVzdGEgcHJ1ZWJhLiYjeEE7JiN4QTtQYXJhIHNhbGlyIGRlIGxhIHBydWViYSwgaGFnYSBjbGljIGVuIFPDrS4gUGFyYSBjb250aW51YXIsIGhhZ2EgY2xpYyBlbiBOby4iLz4NCgkJPHVpdGV4dCBuYW1lPSJJTkZPUk1BVElPTl9IMjY0X0ZMQVNIUExBWUVSIiB2YWx1ZT0iTGEgdmVyc2nDs24gYWN0dWFsIGRlIEZsYXNoIFBsYXllciBpbnN0YWxhZGEgZW4gZWwgb3JkZW5hZG9yIG5vIGVzIGNvbXBhdGlibGUgY29uIGVzdGUgdsOtZGVvLiBIYWdhIGNsaWMgZW4gZWwgw6FyZWEgZGUgdsOtZGVvIHBhcmEgZGVzY2FyZ2FyIGxhIMO6bHRpbWEgdmVyc2nDs24gZGUgRmxhc2ggUGxheWVyLiIvPg0KCQk8IS0tIHN1YnN0aXR1dGlvbjogJXAgPT0gcHJlc2VudGF0aW9uIHRpdGxlIC0tPg0KCQk8IS0tIHN1YnN0aXR1dGlvbjogJXMgPT0gc2xpZGUgdGl0bGUgLS0+DQoJCTwhLS0gc3Vic3RpdHV0aW9uOiAlbiA9PSBzbGlkZSBudW1iZXIgLS0+DQoJCTx1aXRleHQgbmFtZT0iQk9PS01BUksiIHZhbHVlPSJBZG9iZSBQcmVzZW50ZXI6ICVwIi8+DQoJCTwhLS0gc3Vic3RpdHV0aW9uOiAlcCA9PSBwcmVzZW50YXRpb24gdGl0bGUgLS0+DQoJCTwhLS0gc3Vic3RpdHV0aW9uOiAlcyA9PSBzbGlkZSB0aXRsZSAtLT4NCgkJPCEtLSBzdWJzdGl0dXRpb246ICVuID09IHNsaWRlIG51bWJlciAtLT4NCgkJPHVpdGV4dCBuYW1lPSJCT09LTUFSS1NMSURFIiB2YWx1ZT0iQWRvYmUgUHJlc2VudGVyOiAlcCAlcyIvPg0KCQk8dWl0ZXh0IG5hbWU9IlNIT1dTSURFQkFSIiB2YWx1ZT0iTW9zdHJhciBiYXJyYSBsYXRlcmFsIGEgbG9zIHBhcnRpY2lwYW50ZXMiLz4NCgkJPHVpdGV4dCBuYW1lPSJNVVRFIiB2YWx1ZT0iU2lsZW5jaWFyIi8+DQoJCTx1aXRleHQgbmFtZT0iRE9DV1JBUF9USVRMRSIgdmFsdWU9IkFyY2hpdm8gYWRqdW50byBkZSBQcmVzZW50ZXIiLz4NCgkJPHVpdGV4dCBuYW1lPSJET0NXUkFQX01TRyIgdmFsdWU9Ikd1YXJkYXIgZW4gTWkgUEMiLz4NCgkJPHVpdGV4dCBuYW1lPSJET0NXUkFQX1BST01QVCIgdmFsdWU9IkhhZ2EgY2xpYyBlbiBEZXNjYXJnYXIiLz4NCgk8L2xhbmd1YWdlPg0KCTxsYW5ndWFnZSBpZD0icHQ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whLS1xdWl6IHBvZCBhbmQgbWVzc2FnZSBib3ggdGV4dHMtLT4NCgkJPHVpdGV4dCBuYW1lPSJRVUlaUE9EX1FVSVpfQVRURU1QVCIgdmFsdWU9IlRlbnRhdGl2YSBubyBxdWVzdGlvbsOhcmlvOiIvPg0KCQk8dWl0ZXh0IG5hbWU9IlFVSVpQT0RfUVVJWl9BVFRFTVBUX1ZBTFVFIiB2YWx1ZT0iJW4gZGUgJXQiLz4NCgkJPHVpdGV4dCBuYW1lPSJRVUlaUE9EX1FVSVpfU0NPUkUiIHZhbHVlPSJQb250dWHDp8OjbzoiLz4NCgkJPHVpdGV4dCBuYW1lPSJRVUlaUE9EX1FVSVpfUEFTU1NDT1JFIiB2YWx1ZT0iUG9udHVhw6fDo28gZGUgYXByb3Zhw6fDo286Ii8+DQoJCTx1aXRleHQgbmFtZT0iUVVJWlBPRF9RVUlaX01BWFNDT1JFIiB2YWx1ZT0iUG9udHVhw6fDo28gbcOheGltYToiLz4NCgkJPHVpdGV4dCBuYW1lPSJRVUlaUE9EX1FVRVNBVE1QVF9TVFIiIHZhbHVlPSJUZW50YXRpdmE6ICVuIGRlICV0Ii8+DQoJCTx1aXRleHQgbmFtZT0iUVVJWlBPRF9RVUVTVFlQRV9TVFIiIHZhbHVlPSJUaXBvOiAlcyIvPg0KCQk8dWl0ZXh0IG5hbWU9IlFVSVpQT0RfUVVFU1RZUEVfR1JEIiB2YWx1ZT0iQ2xhc3NpZmljYXTDs3JpYSIvPg0KCQk8dWl0ZXh0IG5hbWU9IlFVSVpQT0RfUVVFU1RZUEVfU1ZZIiB2YWx1ZT0iUGVzcXVpc2EiLz4NCgkJPHVpdGV4dCBuYW1lPSJRVUlaUE9EX1FVSVpBVE1QVF9JTkYiIHZhbHVlPSJJbmZpbml0byIvPg0KCQk8dWl0ZXh0IG5hbWU9IlFVSVpQT0RfUVVFU0FUTVBUX0lORiIgdmFsdWU9IkluZmluaXRvIi8+DQoJCTx1aXRleHQgbmFtZT0iV0FSTklOR01TR19ZRVNTVFJJTkciIHZhbHVlPSJTaW0iLz4NCgkJPHVpdGV4dCBuYW1lPSJXQVJOSU5HTVNHX05PU1RSSU5HIiB2YWx1ZT0iTsOjbyIvPg0KCQk8dWl0ZXh0IG5hbWU9IldBUk5JTkdNU0dfVElUTEVTVFJJTkciIHZhbHVlPSJBbGVydGEgZGUgbmF2ZWdhw6fDo28gZG8gcXVlc3Rpb27DoXJpbyIvPg0KCQk8dWl0ZXh0IG5hbWU9IldBUk5JTkdNU0dfTVNHU1RSSU5HIiB2YWx1ZT0iRXhpc3RlbSBwZXJndW50YXMgcXVlIG7Do28gZm9yYW0gcmVzcG9uZGlkYXMgbmVzdGUgcXVlc3Rpb27DoXJpby4mI3hBOyYjeEE7Q2xpcXVlIGVtIFNpbSBwYXJhIHNhaXIgZG8gcXVlc3Rpb27DoXJpbyBvdSBlbSBOw6NvIHNlIHF1aXNlciBjb250aW51YXIuIi8+DQoJCTx1aXRleHQgbmFtZT0iSU5GT1JNQVRJT05fSDI2NF9GTEFTSFBMQVlFUiIgdmFsdWU9IkEgdmVyc8OjbyBhdHVhbCBkbyBGbGFzaCBQbGF5ZXIgaW5zdGFsYWRhIG5vIGNvbXB1dGFkb3IgbsOjbyBvZmVyZWNlIHN1cG9ydGUgYSBlc3NlIHbDrWRlby4gQ2xpcXVlIG5hIMOhcmVhIGRvIHbDrWRlbyBwYXJhIGJhaXhhciBhIHZlcnPDo28gbWFpcyByZWNlbnRlIGRv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zdHJhciBiYXJyYSBsYXRlcmFsIGFvIHBhcnRpY2lwYW50ZXMiLz4NCgkJPHVpdGV4dCBuYW1lPSJNVVRFIiB2YWx1ZT0iTXVkbyIvPg0KCQk8dWl0ZXh0IG5hbWU9IkRPQ1dSQVBfVElUTEUiIHZhbHVlPSJBbmV4byBkZSBhcnF1aXZvIGRvIFByZXNlbnRlciIvPg0KCQk8dWl0ZXh0IG5hbWU9IkRPQ1dSQVBfTVNHIiB2YWx1ZT0iU2FsdmFyIGVtIE1ldSBjb21wdXRhZG9yIi8+DQoJCTx1aXRleHQgbmFtZT0iRE9DV1JBUF9QUk9NUFQiIHZhbHVlPSJDbGlxdWUgcGFyYSBiYWl4YXIiLz4NCgk8L2xhbmd1YWdlPg0KCTxsYW5ndWFnZSBpZD0iaXQ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SW50ZXJyb3R0byIvPg0KCQk8dWl0ZXh0IG5hbWU9IlNDUlVCQkFSU1RBVFVTX1BMQVlJTkciIHZhbHVlPSJSaXByb2R1emlvbmUiLz4NCgkJPHVpdGV4dCBuYW1lPSJTQ1JVQkJBUlNUQVRVU19OT0FVRElPIiB2YWx1ZT0iQXVkaW8gaW5hdHQuIi8+DQoJCTx1aXRleHQgbmFtZT0iU0NSVUJCQVJTVEFUVVNfVklEUExBWUlORyIgdmFsdWU9IlZpZGVvIGluIHJpcHJvZHV6aW9uZSIvPg0KCQk8dWl0ZXh0IG5hbWU9IlNDUlVCQkFSU1RBVFVTX0xPQURJTkciIHZhbHVlPSJDYXJpY2FtZW50byIvPg0KCQk8dWl0ZXh0IG5hbWU9IlNDUlVCQkFSU1RBVFVTX0JVRkZFUklORyIgdmFsdWU9IkJ1ZmZlcmluZyIvPg0KCQk8dWl0ZXh0IG5hbWU9IlNDUlVCQkFSU1RBVFVTX1FVRVNUSU9OIiB2YWx1ZT0iUmlzcG9uZGkgYSBkb21hbmRhIi8+DQoJCTx1aXRleHQgbmFtZT0iU0NSVUJCQVJTVEFUVVNfUkVWSUVXUVVJWiIgdmFsdWU9IlJldmlzaW9uZSBkZWwgcXVpeiIvPg0KCQk8IS0tIHN1YnN0aXR1dGlvbjogJW0gPT0gbWludXRlcyByZW1haW5pbmcgLS0+DQoJCTwhLS0gc3Vic3RpdHV0aW9uOiAlcyA9PSBzZWNvbmRzIHJlbWFpbmluZyAtLT4NCgkJPHVpdGV4dCBuYW1lPSJFTEFQU0VEIiB2YWx1ZT0iJW0gTWludXRpICVzIFNlY29uZGkgcmltYW5lbnRpIi8+DQoJCTx1aXRleHQgbmFtZT0iTk9URk9VTkQiIHZhbHVlPSJOZXNzdW4gZWxlbWVudG8gdHJvdmF0byIvPg0KCQk8dWl0ZXh0IG5hbWU9IkFUVEFDSE1FTlRTIiB2YWx1ZT0iQWxsZWdhdGk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LiIvPg0KCQk8dWl0ZXh0IG5hbWU9IlRBQl9RVUlaIiB2YWx1ZT0iUXVpeiIvPg0KCQk8dWl0ZXh0IG5hbWU9IlRBQl9PVVRMSU5FIiB2YWx1ZT0iU3RydXR0dXJhIi8+DQoJCTx1aXRleHQgbmFtZT0iVEFCX1RIVU1CIiB2YWx1ZT0iTWluaWF0dXJlIi8+DQoJCTx1aXRleHQgbmFtZT0iVEFCX05PVEVTIiB2YWx1ZT0iTm90ZSIvPg0KCQk8dWl0ZXh0IG5hbWU9IlRBQl9TRUFSQ0giIHZhbHVlPSJDZXJjYSIvPg0KCQk8dWl0ZXh0IG5hbWU9IlNMSURFX0hFQURJTkciIHZhbHVlPSJUaXRvbG8gZGlhcG9zaXRpdmEiLz4NCgkJPHVpdGV4dCBuYW1lPSJEVVJBVElPTl9IRUFESU5HIiB2YWx1ZT0iRHVyYXRhIi8+DQoJCTx1aXRleHQgbmFtZT0iU0VBUkNIX0hFQURJTkciIHZhbHVlPSJDZXJjYSB0ZXN0bzoiLz4NCgkJPHVpdGV4dCBuYW1lPSJUSFVNQl9IRUFESU5HIiB2YWx1ZT0iRGlhcG9zaXRpdmEiLz4NCgkJPHVpdGV4dCBuYW1lPSJUSFVNQl9JTkZPIiB2YWx1ZT0iVGl0b2xvL1RlbXBvIi8+DQoJCTx1aXRleHQgbmFtZT0iQVRUQUNITkFNRV9IRUFESU5HIiB2YWx1ZT0iTm9tZSBmaWxlIi8+DQoJCTx1aXRleHQgbmFtZT0iQVRUQUNIU0laRV9IRUFESU5HIiB2YWx1ZT0iRGltZW5zaW9uZSIvPg0KCQk8dWl0ZXh0IG5hbWU9IlNMSURFX05PVEVTIiB2YWx1ZT0iTm90ZSBkaWFwb3NpdGl2YSIvPg0KCQk8IS0tcXVpeiBwb2QgYW5kIG1lc3NhZ2UgYm94IHRleHRzLS0+DQoJCTx1aXRleHQgbmFtZT0iUVVJWlBPRF9RVUlaX0FUVEVNUFQiIHZhbHVlPSJUZW50YXRpdm8gcXVpejoiLz4NCgkJPHVpdGV4dCBuYW1lPSJRVUlaUE9EX1FVSVpfQVRURU1QVF9WQUxVRSIgdmFsdWU9IiVuIGRpICV0Ii8+DQoJCTx1aXRleHQgbmFtZT0iUVVJWlBPRF9RVUlaX1NDT1JFIiB2YWx1ZT0iUHVudGVnZ2lvOiIvPg0KCQk8dWl0ZXh0IG5hbWU9IlFVSVpQT0RfUVVJWl9QQVNTU0NPUkUiIHZhbHVlPSJQdW50ZWdnaW8gbWluaW1vOiIvPg0KCQk8dWl0ZXh0IG5hbWU9IlFVSVpQT0RfUVVJWl9NQVhTQ09SRSIgdmFsdWU9IlB1bnRlZ2dpbyBtYXNzaW1vOiIvPg0KCQk8dWl0ZXh0IG5hbWU9IlFVSVpQT0RfUVVFU0FUTVBUX1NUUiIgdmFsdWU9IlRlbnRhdGl2bzogJW4gZGkgJXQiLz4NCgkJPHVpdGV4dCBuYW1lPSJRVUlaUE9EX1FVRVNUWVBFX1NUUiIgdmFsdWU9IlRpcG86ICVzIi8+DQoJCTx1aXRleHQgbmFtZT0iUVVJWlBPRF9RVUVTVFlQRV9HUkQiIHZhbHVlPSJDb24gdmFsdXRhemlvbmUiLz4NCgkJPHVpdGV4dCBuYW1lPSJRVUlaUE9EX1FVRVNUWVBFX1NWWSIgdmFsdWU9IkluZGFnaW5lIi8+DQoJCTx1aXRleHQgbmFtZT0iUVVJWlBPRF9RVUlaQVRNUFRfSU5GIiB2YWx1ZT0iSW5maW5pdGkiLz4NCgkJPHVpdGV4dCBuYW1lPSJRVUlaUE9EX1FVRVNBVE1QVF9JTkYiIHZhbHVlPSJJbmZpbml0aSIvPg0KCQk8dWl0ZXh0IG5hbWU9IldBUk5JTkdNU0dfWUVTU1RSSU5HIiB2YWx1ZT0iU8OsIi8+DQoJCTx1aXRleHQgbmFtZT0iV0FSTklOR01TR19OT1NUUklORyIgdmFsdWU9Ik5vIi8+DQoJCTx1aXRleHQgbmFtZT0iV0FSTklOR01TR19USVRMRVNUUklORyIgdmFsdWU9IkF2dmVydGVuemEgbmF2aWdhemlvbmUgcXVpeiIvPg0KCQk8dWl0ZXh0IG5hbWU9IldBUk5JTkdNU0dfTVNHU1RSSU5HIiB2YWx1ZT0iT2Njb3JyZSBhbmNvcmEgcmlzcG9uZGVyZSBhZCBhbGN1bmUgZG9tYW5kZSBkZWwgcXVpei4mI3hBOyYjeEE7U2UgZmF0ZSBjbGljIHN1IFPDrCwgdXNjaXJldGUgZGFsIHF1aXouIEZhdGUgY2xpYyBzdSBObyBwZXIgY29udGludWFyZSBpbCBxdWl6LiIvPg0KCQk8dWl0ZXh0IG5hbWU9IklORk9STUFUSU9OX0gyNjRfRkxBU0hQTEFZRVIiIHZhbHVlPSJMYSB2ZXJzaW9uZSBkaSBGbGFzaCBQbGF5ZXIgYXR0dWFsbWVudGUgaW5zdGFsbGF0YSBub24gc3VwcG9ydGEgcXVlc3RvIHZpZGVvLiBGYXRlIGNsaWMgc3VsbCdhcmVhIGRlbCB2aWRlbyBwZXIgc2NhcmljYXJlIGwndWx0aW1hIHZlcnNpb25lIGRp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zdHJhIGJhcnJhIGxhdGVyYWxlIGFpIHBhcnRlY2lwYW50aSIvPg0KCQk8dWl0ZXh0IG5hbWU9Ik1VVEUiIHZhbHVlPSJEaXNhdHRpdmEgYXVkaW8iLz4NCgkJPHVpdGV4dCBuYW1lPSJET0NXUkFQX1RJVExFIiB2YWx1ZT0iQWxsZWdhdG8gZmlsZSBQcmVzZW50ZXIiLz4NCgkJPHVpdGV4dCBuYW1lPSJET0NXUkFQX01TRyIgdmFsdWU9IlNhbHZhIGluIFJpc29yc2UgZGVsIGNvbXB1dGVyIi8+DQoJCTx1aXRleHQgbmFtZT0iRE9DV1JBUF9QUk9NUFQiIHZhbHVlPSJDbGljIHBlciBzY2FyaWNhcmUiLz4NCgk8L2xhbmd1YWdlPg0KCTxsYW5ndWFnZSBpZD0ibmw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ICVuIi8+DQoJCTwhLS0gc3Vic3RpdHV0aW9uOiAlbiA9PSBzbGlkZSBudW1iZXIgLS0+DQoJCTwhLS0gc3Vic3RpdHV0aW9uOiAldCA9PSB0b3RhbCBzbGlkZSBjb3VudCAtLT4NCgkJPHVpdGV4dCBuYW1lPSJTQ1JVQkJBUlNUQVRVU19TTElERUlORk8iIHZhbHVlPSJEaWEgJW4gLyAldCB8ICIvPg0KCQk8dWl0ZXh0IG5hbWU9IlNDUlVCQkFSU1RBVFVTX1NUT1BQRUQiIHZhbHVlPSJHZXN0b3B0Ii8+DQoJCTx1aXRleHQgbmFtZT0iU0NSVUJCQVJTVEFUVVNfUExBWUlORyIgdmFsdWU9IkFmc3BlbGVuIi8+DQoJCTx1aXRleHQgbmFtZT0iU0NSVUJCQVJTVEFUVVNfTk9BVURJTyIgdmFsdWU9IkdlZW4gYXVkaW8iLz4NCgkJPHVpdGV4dCBuYW1lPSJTQ1JVQkJBUlNUQVRVU19WSURQTEFZSU5HIiB2YWx1ZT0iVmlkZW8gYWZzcGVsZW4iLz4NCgkJPHVpdGV4dCBuYW1lPSJTQ1JVQkJBUlNUQVRVU19MT0FESU5HIiB2YWx1ZT0iTGFkZW4iLz4NCgkJPHVpdGV4dCBuYW1lPSJTQ1JVQkJBUlNUQVRVU19CVUZGRVJJTkciIHZhbHVlPSJCdWZmZXJlbiIvPg0KCQk8dWl0ZXh0IG5hbWU9IlNDUlVCQkFSU1RBVFVTX1FVRVNUSU9OIiB2YWx1ZT0iVnJhYWcgbWV0IGFudHdvb3JkIi8+DQoJCTx1aXRleHQgbmFtZT0iU0NSVUJCQVJTVEFUVVNfUkVWSUVXUVVJWiIgdmFsdWU9IlF1aXogY29udHJvbGVyZW4iLz4NCgkJPCEtLSBzdWJzdGl0dXRpb246ICVtID09IG1pbnV0ZXMgcmVtYWluaW5nIC0tPg0KCQk8IS0tIHN1YnN0aXR1dGlvbjogJXMgPT0gc2Vjb25kcyByZW1haW5pbmcgLS0+DQoJCTx1aXRleHQgbmFtZT0iRUxBUFNFRCIgdmFsdWU9IkVyIHJlc3RlcmVuICVtIG1pbnV0ZW4gJXMgc2Vjb25kZW4iLz4NCgkJPHVpdGV4dCBuYW1lPSJOT1RGT1VORCIgdmFsdWU9Ik5pZXRzIGdldm9uZGVuIi8+DQoJCTx1aXRleHQgbmFtZT0iQVRUQUNITUVOVFMiIHZhbHVlPSJCaWpsYWdlbiIvPg0KCQk8IS0tIHN1YnN0aXR1dGlvbjogJXAgPT0gY3VycmVudCBzcGVha2VyJ3MgdGl0bGUgLS0+DQoJCTx1aXRleHQgbmFtZT0iQklPV0lOX1RJVExFIiB2YWx1ZT0iQmlvZ3JhZmllOiAlcCIvPg0KCQk8dWl0ZXh0IG5hbWU9IkJJT0JUTl9USVRMRSIgdmFsdWU9IkJpb2dyYWZpZSIvPg0KCQk8dWl0ZXh0IG5hbWU9IkRJVklERVJCVE5fVElUTEUiIHZhbHVlPSJ8Ii8+DQoJCTx1aXRleHQgbmFtZT0iQ09OVEFDVEJUTl9USVRMRSIgdmFsdWU9IkNvbnRhY3QiLz4NCgkJPHVpdGV4dCBuYW1lPSJUQUJfUVVJWiIgdmFsdWU9IlF1aXoiLz4NCgkJPHVpdGV4dCBuYW1lPSJUQUJfT1VUTElORSIgdmFsdWU9Ik92ZXJ6aWNodCIvPg0KCQk8dWl0ZXh0IG5hbWU9IlRBQl9USFVNQiIgdmFsdWU9Ik1pbmlhdHV1ciIvPg0KCQk8dWl0ZXh0IG5hbWU9IlRBQl9OT1RFUyIgdmFsdWU9Ik5vdGl0aWVzIi8+DQoJCTx1aXRleHQgbmFtZT0iVEFCX1NFQVJDSCIgdmFsdWU9IlpvZWtlbiIvPg0KCQk8dWl0ZXh0IG5hbWU9IlNMSURFX0hFQURJTkciIHZhbHVlPSJUaXRlbCB2YW4gZGlhIi8+DQoJCTx1aXRleHQgbmFtZT0iRFVSQVRJT05fSEVBRElORyIgdmFsdWU9IkR1dXIiLz4NCgkJPHVpdGV4dCBuYW1lPSJTRUFSQ0hfSEVBRElORyIgdmFsdWU9IlpvZWtlbiBuYWFyIHRla3N0OiIvPg0KCQk8dWl0ZXh0IG5hbWU9IlRIVU1CX0hFQURJTkciIHZhbHVlPSJEaWEiLz4NCgkJPHVpdGV4dCBuYW1lPSJUSFVNQl9JTkZPIiB2YWx1ZT0iVGl0ZWwvZHV1ciB2YW4gZGlhIi8+DQoJCTx1aXRleHQgbmFtZT0iQVRUQUNITkFNRV9IRUFESU5HIiB2YWx1ZT0iQmVzdGFuZHNuYWFtIi8+DQoJCTx1aXRleHQgbmFtZT0iQVRUQUNIU0laRV9IRUFESU5HIiB2YWx1ZT0iR3Jvb3R0ZSIvPg0KCQk8dWl0ZXh0IG5hbWU9IlNMSURFX05PVEVTIiB2YWx1ZT0iRGlhbm90aXRpZXM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CEtLXF1aXogcG9kIGFuZCBtZXNzYWdlIGJveCB0ZXh0cy0tPg0KCQk8dWl0ZXh0IG5hbWU9IlFVSVpQT0RfUVVJWl9BVFRFTVBUIiB2YWx1ZT0i5rWL6aqM5bCd6K+V5qyh5pWwOiIvPg0KCQk8dWl0ZXh0IG5hbWU9IlFVSVpQT0RfUVVJWl9BVFRFTVBUX1ZBTFVFIiB2YWx1ZT0i56ysICVuIOasoe+8jOWFsSAldCDmrKEiLz4NCgkJPHVpdGV4dCBuYW1lPSJRVUlaUE9EX1FVSVpfU0NPUkUiIHZhbHVlPSLlvpfliIY6Ii8+DQoJCTx1aXRleHQgbmFtZT0iUVVJWlBPRF9RVUlaX1BBU1NTQ09SRSIgdmFsdWU9IuWPiuagvOWIhuaVsDoiLz4NCgkJPHVpdGV4dCBuYW1lPSJRVUlaUE9EX1FVSVpfTUFYU0NPUkUiIHZhbHVlPSLmnIDpq5jliIbmlbA6Ii8+DQoJCTx1aXRleHQgbmFtZT0iUVVJWlBPRF9RVUVTQVRNUFRfU1RSIiB2YWx1ZT0i5bCd6K+V5qyh5pWwOiDnrKwgJW4g5qyh77yM5YWxICV0IOasoSIvPg0KCQk8dWl0ZXh0IG5hbWU9IlFVSVpQT0RfUVVFU1RZUEVfU1RSIiB2YWx1ZT0i57G75Z6LOiAlcyIvPg0KCQk8dWl0ZXh0IG5hbWU9IlFVSVpQT0RfUVVFU1RZUEVfR1JEIiB2YWx1ZT0i6K+E57qnIi8+DQoJCTx1aXRleHQgbmFtZT0iUVVJWlBPRF9RVUVTVFlQRV9TVlkiIHZhbHVlPSLosIPmn6UiLz4NCgkJPHVpdGV4dCBuYW1lPSJRVUlaUE9EX1FVSVpBVE1QVF9JTkYiIHZhbHVlPSLml6DpmZAiLz4NCgkJPHVpdGV4dCBuYW1lPSJRVUlaUE9EX1FVRVNBVE1QVF9JTkYiIHZhbHVlPSLml6DpmZAiLz4NCgkJPHVpdGV4dCBuYW1lPSJXQVJOSU5HTVNHX1lFU1NUUklORyIgdmFsdWU9IuaYryIvPg0KCQk8dWl0ZXh0IG5hbWU9IldBUk5JTkdNU0dfTk9TVFJJTkciIHZhbHVlPSLlkKYiLz4NCgkJPHVpdGV4dCBuYW1lPSJXQVJOSU5HTVNHX1RJVExFU1RSSU5HIiB2YWx1ZT0i5rWL6aqM5a+86Iiq6K2m5ZGKIi8+DQoJCTx1aXRleHQgbmFtZT0iV0FSTklOR01TR19NU0dTVFJJTkciIHZhbHVlPSLmraTmtYvpqozkuK3mnInmnKrlsJ3or5XkvZznrZTnmoTpl67popjjgIImI3hBOyYjeEE75Y2V5Ye74oCc5piv4oCd6YCA5Ye65q2k5rWL6aqM44CC5Y2V5Ye74oCc5ZCm4oCd57un57ut5rWL6aqM44CCIi8+DQoJCTx1aXRleHQgbmFtZT0iSU5GT1JNQVRJT05fSDI2NF9GTEFTSFBMQVlFUiIgdmFsdWU9IuW9k+WJjeWuieijheWcqOaCqOeahOiuoeeul+acuuS4iueahCBGbGFzaCBQbGF5ZXIg54mI5pys5LiN5pSv5oyB6K+l6KeG6aKR44CC5Y2V5Ye76KeG6aKR5Yy65Z+f5LiL6L295pyA5paw54mI5pys55qEIEZsYXNoIFBsYXllcu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lkJHlj4LliqDogIXmmL7npLrmj5DopoHmoI8iLz4NCgkJPHVpdGV4dCBuYW1lPSJNVVRFIiB2YWx1ZT0i6Z2Z6Z+zIi8+DQoJCTx1aXRleHQgbmFtZT0iRE9DV1JBUF9USVRMRSIgdmFsdWU9IlByZXNlbnRlciDmlofku7bpmYTku7YiLz4NCgkJPHVpdGV4dCBuYW1lPSJET0NXUkFQX01TRyIgdmFsdWU9IuS/neWtmOWIsOaIkeeahOiuoeeul+acuiIvPg0KCQk8dWl0ZXh0IG5hbWU9IkRPQ1dSQVBfUFJPTVBUIiB2YWx1ZT0i5Y2V5Ye75Lul5LiL6L29Ii8+DQoJPC9sYW5ndWFnZT4NCgk8bGFuZ3VhZ2UgaWQ9InRy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YXl0ICVuIi8+DQoJCTwhLS0gc3Vic3RpdHV0aW9uOiAlbiA9PSBzbGlkZSBudW1iZXIgLS0+DQoJCTwhLS0gc3Vic3RpdHV0aW9uOiAldCA9PSB0b3RhbCBzbGlkZSBjb3VudCAtLT4NCgkJPHVpdGV4dCBuYW1lPSJTQ1JVQkJBUlNUQVRVU19TTElERUlORk8iIHZhbHVlPSJTbGF5dCAlbiAvICV0IHwgIi8+DQoJCTx1aXRleHQgbmFtZT0iU0NSVUJCQVJTVEFUVVNfU1RPUFBFRCIgdmFsdWU9IkR1cmR1cnVsZHUiLz4NCgkJPHVpdGV4dCBuYW1lPSJTQ1JVQkJBUlNUQVRVU19QTEFZSU5HIiB2YWx1ZT0iT3luYXTEsWzEsXlvciIvPg0KCQk8dWl0ZXh0IG5hbWU9IlNDUlVCQkFSU1RBVFVTX05PQVVESU8iIHZhbHVlPSJTZXMgWW9rIi8+DQoJCTx1aXRleHQgbmFtZT0iU0NSVUJCQVJTVEFUVVNfVklEUExBWUlORyIgdmFsdWU9IlZpZGVvIE95bmF0xLFsxLF5b3IiLz4NCgkJPHVpdGV4dCBuYW1lPSJTQ1JVQkJBUlNUQVRVU19MT0FESU5HIiB2YWx1ZT0iWcO8a2xlbml5b3IiLz4NCgkJPHVpdGV4dCBuYW1lPSJTQ1JVQkJBUlNUQVRVU19CVUZGRVJJTkciIHZhbHVlPSJBcmFiZWxsZcSfZSBBbMSxbsSxeW9yIi8+DQoJCTx1aXRleHQgbmFtZT0iU0NSVUJCQVJTVEFUVVNfUVVFU1RJT04iIHZhbHVlPSJTb3J1eXUgWWFuxLF0bGEiLz4NCgkJPHVpdGV4dCBuYW1lPSJTQ1JVQkJBUlNUQVRVU19SRVZJRVdRVUlaIiB2YWx1ZT0iU8SxbmF2IMSwbmNlbGVuaXlvciIvPg0KCQk8IS0tIHN1YnN0aXR1dGlvbjogJW0gPT0gbWludXRlcyByZW1haW5pbmcgLS0+DQoJCTwhLS0gc3Vic3RpdHV0aW9uOiAlcyA9PSBzZWNvbmRzIHJlbWFpbmluZyAtLT4NCgkJPHVpdGV4dCBuYW1lPSJFTEFQU0VEIiB2YWx1ZT0iJW0gRGFraWthICVzIFNhbml5ZSBLYWxkxLEiLz4NCgkJPHVpdGV4dCBuYW1lPSJOT1RGT1VORCIgdmFsdWU9IkhlcmhhbmdpIEJpciDFnmV5IEJ1bHVubWFkxLEiLz4NCgkJPHVpdGV4dCBuYW1lPSJBVFRBQ0hNRU5UUyIgdmFsdWU9IkVrbGVy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xLBydGliYXQiLz4NCgkJPHVpdGV4dCBuYW1lPSJUQUJfUVVJWiIgdmFsdWU9IlPEsW5hdiIvPg0KCQk8dWl0ZXh0IG5hbWU9IlRBQl9PVVRMSU5FIiB2YWx1ZT0iQW5hIEhhdCIvPg0KCQk8dWl0ZXh0IG5hbWU9IlRBQl9USFVNQiIgdmFsdWU9IlJlc2ltIi8+DQoJCTx1aXRleHQgbmFtZT0iVEFCX05PVEVTIiB2YWx1ZT0iTm90bGFyIi8+DQoJCTx1aXRleHQgbmFtZT0iVEFCX1NFQVJDSCIgdmFsdWU9IkFyYSIvPg0KCQk8dWl0ZXh0IG5hbWU9IlNMSURFX0hFQURJTkciIHZhbHVlPSJTbGF5dCBCYcWfbMSxxJ/EsSIvPg0KCQk8dWl0ZXh0IG5hbWU9IkRVUkFUSU9OX0hFQURJTkciIHZhbHVlPSJTw7xyZSIvPg0KCQk8dWl0ZXh0IG5hbWU9IlNFQVJDSF9IRUFESU5HIiB2YWx1ZT0iTWV0bmkgYXJhOiIvPg0KCQk8dWl0ZXh0IG5hbWU9IlRIVU1CX0hFQURJTkciIHZhbHVlPSJTbGF5dCIvPg0KCQk8dWl0ZXh0IG5hbWU9IlRIVU1CX0lORk8iIHZhbHVlPSJTbGF5dCBCYcWfbMSxxJ/EsS9Tw7xyZXNpIi8+DQoJCTx1aXRleHQgbmFtZT0iQVRUQUNITkFNRV9IRUFESU5HIiB2YWx1ZT0iRG9zeWEgQWTEsSIvPg0KCQk8dWl0ZXh0IG5hbWU9IkFUVEFDSFNJWkVfSEVBRElORyIgdmFsdWU9IkJveXV0Ii8+DQoJCTx1aXRleHQgbmFtZT0iU0xJREVfTk9URVMiIHZhbHVlPSJTbGF5dCBOb3RsYXLEsSIvPg0KCQk8IS0tcXVpeiBwb2QgYW5kIG1lc3NhZ2UgYm94IHRleHRzLS0+DQoJCTx1aXRleHQgbmFtZT0iUVVJWlBPRF9RVUlaX0FUVEVNUFQiIHZhbHVlPSJTxLFuYXYgRGVuZW1lc2k6Ii8+DQoJCTx1aXRleHQgbmFtZT0iUVVJWlBPRF9RVUlaX0FUVEVNUFRfVkFMVUUiIHZhbHVlPSIlbi8ldCIvPg0KCQk8dWl0ZXh0IG5hbWU9IlFVSVpQT0RfUVVJWl9TQ09SRSIgdmFsdWU9IlB1YW46Ii8+DQoJCTx1aXRleHQgbmFtZT0iUVVJWlBPRF9RVUlaX1BBU1NTQ09SRSIgdmFsdWU9Ikdlw6dtZSBQdWFuxLE6Ii8+DQoJCTx1aXRleHQgbmFtZT0iUVVJWlBPRF9RVUlaX01BWFNDT1JFIiB2YWx1ZT0iTWFrc2ltdW0gUHVhbjoiLz4NCgkJPHVpdGV4dCBuYW1lPSJRVUlaUE9EX1FVRVNBVE1QVF9TVFIiIHZhbHVlPSJEZW5lbWU6ICVuLyV0Ii8+DQoJCTx1aXRleHQgbmFtZT0iUVVJWlBPRF9RVUVTVFlQRV9TVFIiIHZhbHVlPSJUw7xyOiAlcyIvPg0KCQk8dWl0ZXh0IG5hbWU9IlFVSVpQT0RfUVVFU1RZUEVfR1JEIiB2YWx1ZT0iQmFzYW1ha2zEsSIvPg0KCQk8dWl0ZXh0IG5hbWU9IlFVSVpQT0RfUVVFU1RZUEVfU1ZZIiB2YWx1ZT0iQW5rZXQiLz4NCgkJPHVpdGV4dCBuYW1lPSJRVUlaUE9EX1FVSVpBVE1QVF9JTkYiIHZhbHVlPSJTxLFuxLFyc8SxeiIvPg0KCQk8dWl0ZXh0IG5hbWU9IlFVSVpQT0RfUVVFU0FUTVBUX0lORiIgdmFsdWU9IlPEsW7EsXJzxLF6Ii8+DQoJCTx1aXRleHQgbmFtZT0iV0FSTklOR01TR19ZRVNTVFJJTkciIHZhbHVlPSJFdmV0Ii8+DQoJCTx1aXRleHQgbmFtZT0iV0FSTklOR01TR19OT1NUUklORyIgdmFsdWU9IkhhecSxciIvPg0KCQk8dWl0ZXh0IG5hbWU9IldBUk5JTkdNU0dfVElUTEVTVFJJTkciIHZhbHVlPSJTxLFuYXYgR2V6aW5tZSBVeWFyxLFzxLEiLz4NCgkJPHVpdGV4dCBuYW1lPSJXQVJOSU5HTVNHX01TR1NUUklORyIgdmFsdWU9IkJ1IFPEsW5hdmRhIGRlbmVubWVtacWfIHNvcnVsYXIgdmFyLiYjeEE7JiN4QTtFdmV0IHNlw6dlbmXEn2luaSB0xLFrbGF0xLFyc2FuxLF6IFPEsW5hdmRhbiDDp8Sxa2FjYWtzxLFuxLF6LiBTxLFuYXZhIGRldmFtIGV0bWVrIGnDp2luIEhhecSxciBzZcOnZW5lxJ9pbmkgdMSxa2xhdMSxbi4iLz4NCgkJPHVpdGV4dCBuYW1lPSJJTkZPUk1BVElPTl9IMjY0X0ZMQVNIUExBWUVSIiB2YWx1ZT0iQmlsZ2lzYXlhcsSxbsSxemEgecO8a2zDvCBvbGFuIGdlw6dlcmxpIEZsYXNoIFBsYXllciBzw7xyw7xtw7wgYnUgdmlkZW95dSBkZXN0ZWtsZW1peW9yLiBFbiBzb24gRmxhc2ggUGxheWVyIHPDvHLDvG3DvG7DvCBpbmRpcm1layBpw6dpbiB2aWRlbyBhbGFuxLFuxLEgdMSxa2xhdMSx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S2F0xLFsxLFtY8SxbGFyYSBrZW5hciDDp3VidcSfdW51IGfDtnN0ZXIiLz4NCgkJPHVpdGV4dCBuYW1lPSJNVVRFIiB2YWx1ZT0iU2Vzc2l6Ii8+DQoJCTx1aXRleHQgbmFtZT0iRE9DV1JBUF9USVRMRSIgdmFsdWU9IlByZXNlbnRlciBEb3N5YSBFa2kiLz4NCgkJPHVpdGV4dCBuYW1lPSJET0NXUkFQX01TRyIgdmFsdWU9IkJpbGdpc2F5YXLEsW1hIEtheWRldCIvPg0KCQk8dWl0ZXh0IG5hbWU9IkRPQ1dSQVBfUFJPTVBUIiB2YWx1ZT0ixLBuZGlybWVrIGnDp2luIFTEsWtsYXTEsW4iLz4NCgk8L2xhbmd1YWdlPg0KCTxsYW5ndWFnZSBpZD0icn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0KHQu9Cw0LnQtCAlbiIvPg0KCQk8IS0tIHN1YnN0aXR1dGlvbjogJW4gPT0gc2xpZGUgbnVtYmVyIC0tPg0KCQk8IS0tIHN1YnN0aXR1dGlvbjogJXQgPT0gdG90YWwgc2xpZGUgY291bnQgLS0+DQoJCTx1aXRleHQgbmFtZT0iU0NSVUJCQVJTVEFUVVNfU0xJREVJTkZPIiB2YWx1ZT0i0KHQu9Cw0LnQtCAlbiAvICV0IHwgIi8+DQoJCTx1aXRleHQgbmFtZT0iU0NSVUJCQVJTVEFUVVNfU1RPUFBFRCIgdmFsdWU9ItCe0YHRgtCw0L3QvtCy0LvQtdC90L4iLz4NCgkJPHVpdGV4dCBuYW1lPSJTQ1JVQkJBUlNUQVRVU19QTEFZSU5HIiB2YWx1ZT0i0JLQvtGB0L/RgNC+0LjQt9Cy0LXQtNC10L3QuNC1Ii8+DQoJCTx1aXRleHQgbmFtZT0iU0NSVUJCQVJTVEFUVVNfTk9BVURJTyIgdmFsdWU9ItCd0LXRgiDQsNGD0LTQuNC+Ii8+DQoJCTx1aXRleHQgbmFtZT0iU0NSVUJCQVJTVEFUVVNfVklEUExBWUlORyIgdmFsdWU9ItCS0L7RgdC/0YDQvtC40LfQstC10LTQtdC90LjQtSDQstC40LTQtdC+Ii8+DQoJCTx1aXRleHQgbmFtZT0iU0NSVUJCQVJTVEFUVVNfTE9BRElORyIgdmFsdWU9ItCX0LDQs9GA0YPQt9C60LAiLz4NCgkJPHVpdGV4dCBuYW1lPSJTQ1JVQkJBUlNUQVRVU19CVUZGRVJJTkciIHZhbHVlPSLQkdGD0YTQtdGA0LjQt9Cw0YbQuNGPIi8+DQoJCTx1aXRleHQgbmFtZT0iU0NSVUJCQVJTVEFUVVNfUVVFU1RJT04iIHZhbHVlPSLQntGC0LLQtdGCINC90LAg0LLQvtC/0YDQvtGBIi8+DQoJCTx1aXRleHQgbmFtZT0iU0NSVUJCQVJTVEFUVVNfUkVWSUVXUVVJWiIgdmFsdWU9ItCe0LHQt9C+0YAg0L7Qv9GA0L7RgdCwIi8+DQoJCTwhLS0gc3Vic3RpdHV0aW9uOiAlbSA9PSBtaW51dGVzIHJlbWFpbmluZyAtLT4NCgkJPCEtLSBzdWJzdGl0dXRpb246ICVzID09IHNlY29uZHMgcmVtYWluaW5nIC0tPg0KCQk8dWl0ZXh0IG5hbWU9IkVMQVBTRUQiIHZhbHVlPSLQntGB0YLQsNC70L7RgdGMICVtINC80LjQvS4gJXMg0YEiLz4NCgkJPHVpdGV4dCBuYW1lPSJOT1RGT1VORCIgdmFsdWU9ItCd0LjRh9C10LPQviDQvdC1INC90LDQudC00LXQvdC+Ii8+DQoJCTx1aXRleHQgbmFtZT0iQVRUQUNITUVOVFMiIHZhbHVlPSLQktC70L7QttC10L3QuNGPIi8+DQoJCTwhLS0gc3Vic3RpdHV0aW9uOiAlcCA9PSBjdXJyZW50IHNwZWFrZXIncyB0aXRsZSAtLT4NCgkJPHVpdGV4dCBuYW1lPSJCSU9XSU5fVElUTEUiIHZhbHVlPSLQkdC40L7Qs9GA0LDRhNC40Y86ICVwIi8+DQoJCTx1aXRleHQgbmFtZT0iQklPQlROX1RJVExFIiB2YWx1ZT0i0JHQuNC+0LPRgNCw0YTQuNGPIi8+DQoJCTx1aXRleHQgbmFtZT0iRElWSURFUkJUTl9USVRMRSIgdmFsdWU9InwiLz4NCgkJPHVpdGV4dCBuYW1lPSJDT05UQUNUQlROX1RJVExFIiB2YWx1ZT0i0JrQvtC90YLQsNC60YIiLz4NCgkJPHVpdGV4dCBuYW1lPSJUQUJfUVVJWiIgdmFsdWU9ItCe0L/RgNC+0YEiLz4NCgkJPHVpdGV4dCBuYW1lPSJUQUJfT1VUTElORSIgdmFsdWU9ItCh0YXQtdC80LAiLz4NCgkJPHVpdGV4dCBuYW1lPSJUQUJfVEhVTUIiIHZhbHVlPSLQkdC10LPRg9C90L7QuiIvPg0KCQk8dWl0ZXh0IG5hbWU9IlRBQl9OT1RFUyIgdmFsdWU9ItCX0LDQvNC10YLQutC4Ii8+DQoJCTx1aXRleHQgbmFtZT0iVEFCX1NFQVJDSCIgdmFsdWU9ItCf0L7QuNGB0LoiLz4NCgkJPHVpdGV4dCBuYW1lPSJTTElERV9IRUFESU5HIiB2YWx1ZT0i0JfQsNCz0L7Qu9C+0LLQvtC6INGB0LvQsNC50LTQsCIvPg0KCQk8dWl0ZXh0IG5hbWU9IkRVUkFUSU9OX0hFQURJTkciIHZhbHVlPSLQlNC70LjRgi3RgdGC0YwiLz4NCgkJPHVpdGV4dCBuYW1lPSJTRUFSQ0hfSEVBRElORyIgdmFsdWU9ItCf0L7QuNGB0Log0YLQtdC60YHRgtCwOiIvPg0KCQk8dWl0ZXh0IG5hbWU9IlRIVU1CX0hFQURJTkciIHZhbHVlPSLQodC70LDQudC0Ii8+DQoJCTx1aXRleHQgbmFtZT0iVEhVTUJfSU5GTyIgdmFsdWU9ItCd0LDQt9Cy0LDQvdC40LUv0LTQu9C40YIt0L3QvtGB0YLRjCIvPg0KCQk8dWl0ZXh0IG5hbWU9IkFUVEFDSE5BTUVfSEVBRElORyIgdmFsdWU9ItCY0LzRjyDRhNCw0LnQu9CwIi8+DQoJCTx1aXRleHQgbmFtZT0iQVRUQUNIU0laRV9IRUFESU5HIiB2YWx1ZT0i0KDQsNC30LzQtdGAIi8+DQoJCTx1aXRleHQgbmFtZT0iU0xJREVfTk9URVMiIHZhbHVlPSLQl9Cw0LzQtdGC0LrQuCDQuiDRgdC70LDQudC00YM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4&quot;/&gt;&lt;lineCharCount val=&quot;14&quot;/&gt;&lt;lineCharCount val=&quot;15&quot;/&gt;&lt;lineCharCount val=&quot;13&quot;/&gt;&lt;lineCharCount val=&quot;12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8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1&quot;/&gt;&lt;lineCharCount val=&quot;13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1&quot;/&gt;&lt;lineCharCount val=&quot;13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8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4&quot;/&gt;&lt;lineCharCount val=&quot;14&quot;/&gt;&lt;lineCharCount val=&quot;15&quot;/&gt;&lt;lineCharCount val=&quot;13&quot;/&gt;&lt;lineCharCount val=&quot;12&quot;/&gt;&lt;/TableIndex&gt;&lt;/ShapeTextInfo&gt;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50</TotalTime>
  <Words>2004</Words>
  <Application>Microsoft Office PowerPoint</Application>
  <PresentationFormat>Apresentação na tela (4:3)</PresentationFormat>
  <Paragraphs>94</Paragraphs>
  <Slides>32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3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Adriana Mitsue Matsuda</dc:creator>
  <cp:lastModifiedBy>Silmara Cristiane Gomes</cp:lastModifiedBy>
  <cp:revision>7</cp:revision>
  <dcterms:created xsi:type="dcterms:W3CDTF">2013-06-03T20:16:43Z</dcterms:created>
  <dcterms:modified xsi:type="dcterms:W3CDTF">2026-03-07T15:02:08Z</dcterms:modified>
</cp:coreProperties>
</file>