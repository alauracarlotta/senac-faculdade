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98" r:id="rId5"/>
    <p:sldId id="310" r:id="rId6"/>
    <p:sldId id="312" r:id="rId7"/>
    <p:sldId id="314" r:id="rId8"/>
    <p:sldId id="313" r:id="rId9"/>
    <p:sldId id="315" r:id="rId10"/>
    <p:sldId id="316" r:id="rId11"/>
    <p:sldId id="317" r:id="rId12"/>
    <p:sldId id="319" r:id="rId13"/>
    <p:sldId id="320" r:id="rId14"/>
    <p:sldId id="338" r:id="rId15"/>
    <p:sldId id="339" r:id="rId16"/>
    <p:sldId id="340" r:id="rId17"/>
    <p:sldId id="341" r:id="rId18"/>
    <p:sldId id="342" r:id="rId19"/>
    <p:sldId id="322" r:id="rId20"/>
  </p:sldIdLst>
  <p:sldSz cx="9144000" cy="6858000" type="screen4x3"/>
  <p:notesSz cx="6858000" cy="9144000"/>
  <p:custDataLst>
    <p:tags r:id="rId22"/>
  </p:custData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83" autoAdjust="0"/>
  </p:normalViewPr>
  <p:slideViewPr>
    <p:cSldViewPr>
      <p:cViewPr varScale="1">
        <p:scale>
          <a:sx n="65" d="100"/>
          <a:sy n="65" d="100"/>
        </p:scale>
        <p:origin x="6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mara Cristiane Gomes" userId="c18ed8b1-30ab-4227-bb94-24578034ab2f" providerId="ADAL" clId="{05125595-7EBB-48ED-AA20-9213D4426689}"/>
    <pc:docChg chg="delSld">
      <pc:chgData name="Silmara Cristiane Gomes" userId="c18ed8b1-30ab-4227-bb94-24578034ab2f" providerId="ADAL" clId="{05125595-7EBB-48ED-AA20-9213D4426689}" dt="2025-05-27T20:45:35.714" v="0" actId="47"/>
      <pc:docMkLst>
        <pc:docMk/>
      </pc:docMkLst>
      <pc:sldChg chg="del">
        <pc:chgData name="Silmara Cristiane Gomes" userId="c18ed8b1-30ab-4227-bb94-24578034ab2f" providerId="ADAL" clId="{05125595-7EBB-48ED-AA20-9213D4426689}" dt="2025-05-27T20:45:35.714" v="0" actId="47"/>
        <pc:sldMkLst>
          <pc:docMk/>
          <pc:sldMk cId="1448451351" sldId="31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2A037-7541-41AD-B154-52522D86A5EF}" type="datetimeFigureOut">
              <a:rPr lang="pt-BR" smtClean="0"/>
              <a:t>27/05/2025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FDCB2-7140-45F5-B0BB-25F223B1578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773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tags" Target="../tags/tag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9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tags" Target="../tags/tag1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9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5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2"/>
          <p:cNvSpPr/>
          <p:nvPr userDrawn="1">
            <p:custDataLst>
              <p:tags r:id="rId1"/>
            </p:custDataLst>
          </p:nvPr>
        </p:nvSpPr>
        <p:spPr bwMode="auto">
          <a:xfrm>
            <a:off x="0" y="2949588"/>
            <a:ext cx="9144000" cy="2356326"/>
          </a:xfrm>
          <a:prstGeom prst="rect">
            <a:avLst/>
          </a:prstGeom>
          <a:solidFill>
            <a:schemeClr val="accent1">
              <a:lumMod val="20000"/>
              <a:lumOff val="80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sp>
        <p:nvSpPr>
          <p:cNvPr id="15" name="Rectangle 3"/>
          <p:cNvSpPr/>
          <p:nvPr userDrawn="1">
            <p:custDataLst>
              <p:tags r:id="rId2"/>
            </p:custDataLst>
          </p:nvPr>
        </p:nvSpPr>
        <p:spPr bwMode="auto">
          <a:xfrm>
            <a:off x="0" y="5305914"/>
            <a:ext cx="9144000" cy="126531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sp>
        <p:nvSpPr>
          <p:cNvPr id="18" name="Rectangle 8"/>
          <p:cNvSpPr/>
          <p:nvPr userDrawn="1">
            <p:custDataLst>
              <p:tags r:id="rId3"/>
            </p:custDataLst>
          </p:nvPr>
        </p:nvSpPr>
        <p:spPr bwMode="auto">
          <a:xfrm>
            <a:off x="0" y="5305914"/>
            <a:ext cx="9144000" cy="1552085"/>
          </a:xfrm>
          <a:prstGeom prst="rect">
            <a:avLst/>
          </a:prstGeom>
          <a:solidFill>
            <a:schemeClr val="accent6">
              <a:lumMod val="75000"/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charset="0"/>
            </a:endParaRPr>
          </a:p>
        </p:txBody>
      </p:sp>
      <p:cxnSp>
        <p:nvCxnSpPr>
          <p:cNvPr id="20" name="Straight Connector 4"/>
          <p:cNvCxnSpPr/>
          <p:nvPr userDrawn="1"/>
        </p:nvCxnSpPr>
        <p:spPr bwMode="auto">
          <a:xfrm flipH="1">
            <a:off x="0" y="5305914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2" name="Straight Connector 7"/>
          <p:cNvCxnSpPr/>
          <p:nvPr userDrawn="1"/>
        </p:nvCxnSpPr>
        <p:spPr bwMode="auto">
          <a:xfrm flipH="1">
            <a:off x="0" y="6584108"/>
            <a:ext cx="9144000" cy="0"/>
          </a:xfrm>
          <a:prstGeom prst="line">
            <a:avLst/>
          </a:prstGeom>
          <a:solidFill>
            <a:srgbClr val="FFFFFF"/>
          </a:solidFill>
          <a:ln w="12700" cap="rnd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3" name="Straight Connector 20"/>
          <p:cNvCxnSpPr/>
          <p:nvPr userDrawn="1"/>
        </p:nvCxnSpPr>
        <p:spPr bwMode="auto">
          <a:xfrm flipH="1">
            <a:off x="0" y="2322525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4" name="Straight Connector 23"/>
          <p:cNvCxnSpPr/>
          <p:nvPr userDrawn="1"/>
        </p:nvCxnSpPr>
        <p:spPr bwMode="auto">
          <a:xfrm flipH="1">
            <a:off x="0" y="2955172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26" name="Rectangle 12"/>
          <p:cNvSpPr/>
          <p:nvPr userDrawn="1">
            <p:custDataLst>
              <p:tags r:id="rId4"/>
            </p:custDataLst>
          </p:nvPr>
        </p:nvSpPr>
        <p:spPr bwMode="auto">
          <a:xfrm>
            <a:off x="0" y="6571226"/>
            <a:ext cx="9144000" cy="286773"/>
          </a:xfrm>
          <a:prstGeom prst="rect">
            <a:avLst/>
          </a:prstGeom>
          <a:solidFill>
            <a:srgbClr val="144D8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pic>
        <p:nvPicPr>
          <p:cNvPr id="27" name="Imagem 1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191" y="751851"/>
            <a:ext cx="1794811" cy="105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Espaço Reservado para Texto 9"/>
          <p:cNvSpPr>
            <a:spLocks noGrp="1"/>
          </p:cNvSpPr>
          <p:nvPr>
            <p:ph type="body" sz="quarter" idx="14" hasCustomPrompt="1"/>
            <p:custDataLst>
              <p:tags r:id="rId5"/>
            </p:custDataLst>
          </p:nvPr>
        </p:nvSpPr>
        <p:spPr>
          <a:xfrm>
            <a:off x="468313" y="5661025"/>
            <a:ext cx="7848600" cy="432271"/>
          </a:xfrm>
        </p:spPr>
        <p:txBody>
          <a:bodyPr>
            <a:normAutofit/>
          </a:bodyPr>
          <a:lstStyle>
            <a:lvl1pPr marL="0" indent="0">
              <a:buNone/>
              <a:defRPr lang="pt-BR" sz="1800" kern="1200" dirty="0">
                <a:solidFill>
                  <a:srgbClr val="FFC776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pt-BR" dirty="0"/>
              <a:t>Clique para editar o nome do professor</a:t>
            </a:r>
          </a:p>
        </p:txBody>
      </p:sp>
      <p:sp>
        <p:nvSpPr>
          <p:cNvPr id="30" name="Subtítulo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1371600" y="34290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lang="pt-BR" sz="4000" b="1" kern="1200" dirty="0">
                <a:solidFill>
                  <a:srgbClr val="144D8D"/>
                </a:solidFill>
                <a:latin typeface="Calibri"/>
                <a:ea typeface="+mj-ea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20671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191" y="751851"/>
            <a:ext cx="1794811" cy="1051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22"/>
          <p:cNvSpPr/>
          <p:nvPr userDrawn="1">
            <p:custDataLst>
              <p:tags r:id="rId1"/>
            </p:custDataLst>
          </p:nvPr>
        </p:nvSpPr>
        <p:spPr bwMode="auto">
          <a:xfrm>
            <a:off x="0" y="3377642"/>
            <a:ext cx="9144000" cy="1909186"/>
          </a:xfrm>
          <a:prstGeom prst="rect">
            <a:avLst/>
          </a:prstGeom>
          <a:solidFill>
            <a:schemeClr val="accent1">
              <a:lumMod val="20000"/>
              <a:lumOff val="80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sp>
        <p:nvSpPr>
          <p:cNvPr id="30" name="Rectangle 3"/>
          <p:cNvSpPr/>
          <p:nvPr userDrawn="1">
            <p:custDataLst>
              <p:tags r:id="rId2"/>
            </p:custDataLst>
          </p:nvPr>
        </p:nvSpPr>
        <p:spPr bwMode="auto">
          <a:xfrm>
            <a:off x="0" y="5305914"/>
            <a:ext cx="9144000" cy="126531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sp>
        <p:nvSpPr>
          <p:cNvPr id="31" name="Rectangle 8"/>
          <p:cNvSpPr/>
          <p:nvPr userDrawn="1">
            <p:custDataLst>
              <p:tags r:id="rId3"/>
            </p:custDataLst>
          </p:nvPr>
        </p:nvSpPr>
        <p:spPr bwMode="auto">
          <a:xfrm>
            <a:off x="0" y="5305914"/>
            <a:ext cx="9144000" cy="1552085"/>
          </a:xfrm>
          <a:prstGeom prst="rect">
            <a:avLst/>
          </a:prstGeom>
          <a:solidFill>
            <a:schemeClr val="accent6">
              <a:lumMod val="75000"/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charset="0"/>
            </a:endParaRPr>
          </a:p>
        </p:txBody>
      </p:sp>
      <p:cxnSp>
        <p:nvCxnSpPr>
          <p:cNvPr id="32" name="Straight Connector 4"/>
          <p:cNvCxnSpPr/>
          <p:nvPr userDrawn="1"/>
        </p:nvCxnSpPr>
        <p:spPr bwMode="auto">
          <a:xfrm flipH="1">
            <a:off x="0" y="5305914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4" name="Straight Connector 7"/>
          <p:cNvCxnSpPr/>
          <p:nvPr userDrawn="1"/>
        </p:nvCxnSpPr>
        <p:spPr bwMode="auto">
          <a:xfrm flipH="1">
            <a:off x="0" y="6584108"/>
            <a:ext cx="9144000" cy="0"/>
          </a:xfrm>
          <a:prstGeom prst="line">
            <a:avLst/>
          </a:prstGeom>
          <a:solidFill>
            <a:srgbClr val="FFFFFF"/>
          </a:solidFill>
          <a:ln w="12700" cap="rnd" cmpd="sng" algn="ctr">
            <a:solidFill>
              <a:schemeClr val="accent6">
                <a:lumMod val="5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5" name="Straight Connector 20"/>
          <p:cNvCxnSpPr/>
          <p:nvPr userDrawn="1"/>
        </p:nvCxnSpPr>
        <p:spPr bwMode="auto">
          <a:xfrm flipH="1">
            <a:off x="0" y="2699428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6" name="Straight Connector 23"/>
          <p:cNvCxnSpPr/>
          <p:nvPr userDrawn="1"/>
        </p:nvCxnSpPr>
        <p:spPr bwMode="auto">
          <a:xfrm flipH="1">
            <a:off x="0" y="3369604"/>
            <a:ext cx="9144000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39" name="Rectangle 12"/>
          <p:cNvSpPr/>
          <p:nvPr userDrawn="1">
            <p:custDataLst>
              <p:tags r:id="rId4"/>
            </p:custDataLst>
          </p:nvPr>
        </p:nvSpPr>
        <p:spPr bwMode="auto">
          <a:xfrm>
            <a:off x="0" y="6571226"/>
            <a:ext cx="9144000" cy="286773"/>
          </a:xfrm>
          <a:prstGeom prst="rect">
            <a:avLst/>
          </a:prstGeom>
          <a:solidFill>
            <a:srgbClr val="144D8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>
              <a:ln>
                <a:noFill/>
              </a:ln>
              <a:solidFill>
                <a:srgbClr val="FF6600"/>
              </a:solidFill>
              <a:effectLst/>
              <a:latin typeface="Arial" charset="0"/>
            </a:endParaRPr>
          </a:p>
        </p:txBody>
      </p:sp>
      <p:sp>
        <p:nvSpPr>
          <p:cNvPr id="40" name="Subtítulo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371600" y="3692624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lang="pt-BR" sz="4000" b="1" kern="1200" dirty="0">
                <a:solidFill>
                  <a:srgbClr val="144D8D"/>
                </a:solidFill>
                <a:latin typeface="Calibri"/>
                <a:ea typeface="+mj-ea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41" name="Espaço Reservado para Texto 9"/>
          <p:cNvSpPr>
            <a:spLocks noGrp="1"/>
          </p:cNvSpPr>
          <p:nvPr>
            <p:ph type="body" sz="quarter" idx="14" hasCustomPrompt="1"/>
            <p:custDataLst>
              <p:tags r:id="rId6"/>
            </p:custDataLst>
          </p:nvPr>
        </p:nvSpPr>
        <p:spPr>
          <a:xfrm>
            <a:off x="468313" y="5661025"/>
            <a:ext cx="7848600" cy="432271"/>
          </a:xfrm>
        </p:spPr>
        <p:txBody>
          <a:bodyPr>
            <a:normAutofit/>
          </a:bodyPr>
          <a:lstStyle>
            <a:lvl1pPr marL="0" indent="0">
              <a:buNone/>
              <a:defRPr lang="pt-BR" sz="1800" kern="1200" dirty="0">
                <a:solidFill>
                  <a:srgbClr val="FFC776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pt-BR" dirty="0"/>
              <a:t>Clique para editar o 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1317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9189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012572" y="274638"/>
            <a:ext cx="5626968" cy="418058"/>
          </a:xfrm>
        </p:spPr>
        <p:txBody>
          <a:bodyPr>
            <a:normAutofit/>
          </a:bodyPr>
          <a:lstStyle>
            <a:lvl1pPr marL="0" algn="r" defTabSz="457200" rtl="0" eaLnBrk="1" latinLnBrk="0" hangingPunct="1">
              <a:spcBef>
                <a:spcPct val="0"/>
              </a:spcBef>
              <a:buNone/>
              <a:defRPr lang="pt-BR" sz="3100" b="1" kern="1200" dirty="0">
                <a:solidFill>
                  <a:schemeClr val="accent6">
                    <a:lumMod val="75000"/>
                  </a:schemeClr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7031032" y="6135446"/>
            <a:ext cx="2133600" cy="365125"/>
          </a:xfrm>
        </p:spPr>
        <p:txBody>
          <a:bodyPr/>
          <a:lstStyle>
            <a:lvl1pPr>
              <a:defRPr lang="pt-BR" sz="18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0C52AAA-52BA-4E9F-ACEC-F67C74DBBBA3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530003" y="1052736"/>
            <a:ext cx="8109538" cy="4392487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pic>
        <p:nvPicPr>
          <p:cNvPr id="9" name="Imagem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726" y="156881"/>
            <a:ext cx="877948" cy="514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Connector 11"/>
          <p:cNvCxnSpPr/>
          <p:nvPr userDrawn="1"/>
        </p:nvCxnSpPr>
        <p:spPr bwMode="auto">
          <a:xfrm flipH="1">
            <a:off x="5589917" y="631422"/>
            <a:ext cx="3554084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37091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1"/>
          <p:cNvCxnSpPr/>
          <p:nvPr userDrawn="1"/>
        </p:nvCxnSpPr>
        <p:spPr bwMode="auto">
          <a:xfrm flipH="1">
            <a:off x="5055419" y="631422"/>
            <a:ext cx="4088581" cy="0"/>
          </a:xfrm>
          <a:prstGeom prst="line">
            <a:avLst/>
          </a:prstGeom>
          <a:solidFill>
            <a:srgbClr val="FFFFFF"/>
          </a:solidFill>
          <a:ln w="3175" cap="rnd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9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7031032" y="6135446"/>
            <a:ext cx="2133600" cy="365125"/>
          </a:xfrm>
        </p:spPr>
        <p:txBody>
          <a:bodyPr/>
          <a:lstStyle>
            <a:lvl1pPr>
              <a:defRPr lang="pt-BR" sz="18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0C52AAA-52BA-4E9F-ACEC-F67C74DBBBA3}" type="slidenum">
              <a:rPr lang="pt-BR" smtClean="0"/>
              <a:pPr/>
              <a:t>‹nº›</a:t>
            </a:fld>
            <a:endParaRPr lang="pt-BR" dirty="0"/>
          </a:p>
        </p:txBody>
      </p:sp>
      <p:pic>
        <p:nvPicPr>
          <p:cNvPr id="8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726" y="156881"/>
            <a:ext cx="877948" cy="514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5601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72451" y="6215063"/>
            <a:ext cx="900113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7D5541-FFC0-4DB6-AF7F-B5786F76AFD7}" type="slidenum">
              <a:rPr lang="pt-BR">
                <a:solidFill>
                  <a:srgbClr val="000000"/>
                </a:solidFill>
              </a:rPr>
              <a:pPr>
                <a:defRPr/>
              </a:pPr>
              <a:t>‹nº›</a:t>
            </a:fld>
            <a:endParaRPr lang="pt-B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9434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52AAA-52BA-4E9F-ACEC-F67C74DBBBA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39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4" r:id="rId4"/>
    <p:sldLayoutId id="2147483655" r:id="rId5"/>
    <p:sldLayoutId id="2147483658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020907" y="4036468"/>
            <a:ext cx="7169728" cy="95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400" b="1">
                <a:solidFill>
                  <a:srgbClr val="002060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Fundamentos </a:t>
            </a:r>
            <a:r>
              <a:rPr lang="pt-BR" sz="2400" b="1" dirty="0">
                <a:solidFill>
                  <a:srgbClr val="002060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 Administração</a:t>
            </a:r>
          </a:p>
          <a:p>
            <a:pPr algn="ctr" fontAlgn="base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400" b="1" dirty="0">
                <a:solidFill>
                  <a:srgbClr val="002060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Professora Dra. Silmara Gomes</a:t>
            </a:r>
          </a:p>
        </p:txBody>
      </p:sp>
      <p:pic>
        <p:nvPicPr>
          <p:cNvPr id="8" name="Picture 2" descr="http://www.go.senac.br/bancodeoportunidades/assets/img/logo-senac-70-anos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39709" b="-13178"/>
          <a:stretch/>
        </p:blipFill>
        <p:spPr bwMode="auto">
          <a:xfrm>
            <a:off x="2965818" y="1916832"/>
            <a:ext cx="3279905" cy="1855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84686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7D5541-FFC0-4DB6-AF7F-B5786F76AFD7}" type="slidenum">
              <a:rPr lang="pt-BR" smtClean="0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pt-BR">
              <a:solidFill>
                <a:srgbClr val="00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79512" y="980728"/>
            <a:ext cx="8640960" cy="560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200000"/>
              </a:lnSpc>
              <a:defRPr/>
            </a:pPr>
            <a:r>
              <a:rPr lang="pt-BR" sz="1800" i="0" u="none" strike="noStrike" baseline="0" dirty="0">
                <a:latin typeface="Roboto Condensed" panose="02000000000000000000" pitchFamily="2" charset="0"/>
              </a:rPr>
              <a:t>A transformação digital e as organizações </a:t>
            </a:r>
            <a:endParaRPr lang="pt-BR" dirty="0">
              <a:latin typeface="Arial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899592" y="1916832"/>
            <a:ext cx="77768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O termo transformação digital foi criado recentemente e de forma conjunta pelo MIT e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Roboto Light" panose="02000000000000000000" pitchFamily="2" charset="0"/>
              </a:rPr>
              <a:t>Capgemini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 em 2011. A ideia era sumarizar um movimento que vinha ocorrendo a aproximadamente 60 anos. Esse movimento teve início em 1948, com o matemático Claude E. Shannon, quando publica seu trabalho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Roboto Light" panose="02000000000000000000" pitchFamily="2" charset="0"/>
              </a:rPr>
              <a:t>Mathematical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Roboto Light" panose="02000000000000000000" pitchFamily="2" charset="0"/>
              </a:rPr>
              <a:t>Theory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Roboto Light" panose="02000000000000000000" pitchFamily="2" charset="0"/>
              </a:rPr>
              <a:t>of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 Communication. Esse trabalho começa a definir a teoria da informação, na qual é introduzida o termo bit, fundamental para a computação moderna. 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Atualmente, entende-se transformação digital como um fenômeno que incorpora o uso da tecnologia digital a solução de questões e problemas tradicionais e organizacionais 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2312668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3</a:t>
            </a:fld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755576" y="1916832"/>
            <a:ext cx="734481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É fundamental entrar no campo de visão dessas pessoas, que muitas vezes está na tela de aparelhos eletrônicos. Não há perspectiva de um retrocesso nas questões tecnológicas, por isso é crucial se adequar e compreender que o físico está perdendo espaço para o digital, pouco a pouco, ano a ano. Assim, as organizações precisam se ajustar as novas realidades.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8158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4</a:t>
            </a:fld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467544" y="1412776"/>
            <a:ext cx="80648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Na atualidade, vemos um modelo de produção de bens e serviços cada vez mais dominado por máquinas, robôs e autoatendimentos. Ao mesmo tempo, profissionais ansiosos em se manter no mercado de trabalho. Esses profissionais gradativamente se veem obrigados a buscar qualificação constante e essas qualificações devem passar pelo desenvolvimento de competências comportamentais, pois é o diferencial central entre homem e máquina.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9897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467544" y="1268760"/>
            <a:ext cx="84969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 inteligência emocional passa a ser um ativo do indivíduo e a ser uma das habilidades mais importantes dos profissionais. Com a transformação digital, a busca por profissionais mais qualificados aumenta, tornando-se as qualificações múltiplas necessárias. Apenas habilidades técnicas podem ser substituídas por máquinas, mas o conjunto de habilidades técnicas com habilidade emocionais traz o diferencial para o indivíduo. Atividades que exigem múltiplas inteligências têm a tendência de serem executadas apenas pelo indivíduo e não pela máquina.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662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899592" y="1484784"/>
            <a:ext cx="741682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Segundo o relatório do Fórum Econômico Mundial sobre o futuro do trabalho de 2023, espera-se que cerca de 23% dos empregos mudem até 2027, resultando na criação de 69 milhões de novos empregos criados e 83 milhões eliminados. As mudanças são múltiplas e um dos fatores determinantes para tamanha mudança é a tecnologia. Os avanços tecnológicos são indiscutíveis e mostram que não é mais possível gerir as organizações nos mesmos moldes de Ford. </a:t>
            </a:r>
          </a:p>
          <a:p>
            <a:pPr algn="just"/>
            <a:endParaRPr lang="pt-BR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pPr algn="just"/>
            <a:endParaRPr lang="pt-BR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 gestão das organizações com foco na divisão do trabalho, na produtividade e produção em massa não faz mais sentido na sociedade atual. Intensidade de produção se pode obter com máquinas, mas qualidade, valor agregado e vantagem competitiva são questões que passam por vias distintas. O indivíduo, além de entender a importância do seu trabalho de forma diferente do século passado, também aprende sua relação com as organizações de forma diferente.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6266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7</a:t>
            </a:fld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323528" y="1916832"/>
            <a:ext cx="84249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As habilidades passam a ter papel fundamental na construção do indivíduo que deseja se manter ativo profissionalmente na atualidade. </a:t>
            </a: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Esse indivíduo, empreendedor de si mesmo, deve estar atento as necessidades do mercado e das organizações. Entender que atividades repetitivas, de execução linear e que necessitam de inteligências programáveis, tendem a ser entregues para máquinas e inteligências artificiais e isso não deveria ser um problema. Afinal, tira-se do indivíduo atividades monótonas para que ele possa executar atividades criativas, complexas, múltiplas. Nesse período de transição, é essencial investir em construção de habilidade diversas e principalmente na construção de caminhos que lhe agrade em termos laborais.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9636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8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755576" y="1700808"/>
            <a:ext cx="748883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Toda ruptura tecnológica exige dos indivíduos novas formas de ação. Negócios comuns em uma época em um momento seguinte podem desaparecer. </a:t>
            </a:r>
          </a:p>
          <a:p>
            <a:endParaRPr lang="pt-BR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endParaRPr lang="pt-BR" dirty="0">
              <a:solidFill>
                <a:srgbClr val="000000"/>
              </a:solidFill>
              <a:latin typeface="Roboto Light" panose="02000000000000000000" pitchFamily="2" charset="0"/>
            </a:endParaRP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Os trabalhadores que pretendem se desenvolver no novo cenário que se desenha devem buscar o desenvolvimento daquilo que os diferenciem diretamente das máquinas, ou seja, suas habilidades socioemocionais ou </a:t>
            </a:r>
            <a:r>
              <a:rPr lang="pt-BR" sz="1800" b="0" i="1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soft skills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3613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9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539552" y="1268760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800" i="0" u="none" strike="noStrike" baseline="0" dirty="0">
                <a:latin typeface="Roboto Condensed" panose="02000000000000000000" pitchFamily="2" charset="0"/>
              </a:rPr>
              <a:t>Cultura e diversidade 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5AC1A21-07FD-8365-705A-816CA777069B}"/>
              </a:ext>
            </a:extLst>
          </p:cNvPr>
          <p:cNvSpPr txBox="1"/>
          <p:nvPr/>
        </p:nvSpPr>
        <p:spPr>
          <a:xfrm>
            <a:off x="683568" y="2852936"/>
            <a:ext cx="79208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b="0" i="0" u="none" strike="noStrike" baseline="0">
                <a:solidFill>
                  <a:srgbClr val="000000"/>
                </a:solidFill>
                <a:latin typeface="Roboto Light" panose="02000000000000000000" pitchFamily="2" charset="0"/>
              </a:rPr>
              <a:t>A cultura é considerada uma das principais características que diferencia o homem dos outros seres vivos. É construída por meio de compartilhamento de informações, valores, saberes, costumes e vivências. Considerando o que ela é, conseguimos conceber que cada individuo, diante de sua construção social, carrega consigo sua cultura.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004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10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611560" y="1124744"/>
            <a:ext cx="770485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Existem variadas definições do que é essa cultura. Segundo Santos (1994, p.42), pode ser definida como: [...] </a:t>
            </a:r>
            <a:r>
              <a:rPr lang="pt-BR" sz="1800" b="0" i="1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valores e crenças compartilhados pelos membros de uma organização, a qual funciona como um mecanismo de controle organizacional, informalmente aprovando ou proibindo comportamentos e que dá significado, direção e mobilização para os membros da organização.</a:t>
            </a:r>
            <a:endParaRPr lang="pt-BR" dirty="0">
              <a:solidFill>
                <a:srgbClr val="000000"/>
              </a:solidFill>
              <a:latin typeface="Roboto Lt"/>
            </a:endParaRPr>
          </a:p>
        </p:txBody>
      </p:sp>
    </p:spTree>
    <p:extLst>
      <p:ext uri="{BB962C8B-B14F-4D97-AF65-F5344CB8AC3E}">
        <p14:creationId xmlns:p14="http://schemas.microsoft.com/office/powerpoint/2010/main" val="872208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11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215516" y="1700808"/>
            <a:ext cx="87129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As organizações são compostas por pessoas e ambientes em que indivíduos de culturas diferentes convivem continuamente. Sabe-se que as subculturas impactam a diretamente na cultura da empresa. Entende-se como subcultura comportamentos e características próprios de um grupo ou departamento da organização. Por vezes, podemos observar que alguns grupos ou departamentos têm formas e formatos de agir que se dissociam da cultura organizacional. É importante perceber que isso não invalida a cultura. A maneira como a empresa compreende e age em relação as subculturas é importante para conceber sua cultura organizacional como um todo.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40193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12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611560" y="1340768"/>
            <a:ext cx="777686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Existem três níveis de cultura organizacional: as observáveis, que são os artefatos; os valores adotados, que são as justificativas que as pessoas dão para agir como agem, normalmente estão vinculados a pessoas que já passaram pela organização; e por último, as hipóteses básicas que são as crenças estabelecidas.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513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13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323528" y="1412776"/>
            <a:ext cx="86409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Somos múltiplos e complexos, quanto a essa afirmação não conseguimos argumentar de forma contrária. </a:t>
            </a: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Cada indivíduo é diferente. Sente, pensa, fala, age, entende de forma diferente. Essas diferenças incontestáveis de cada indivíduo estão atreladas diretamente as suas experiências, crenças, educação, construção social e familiar, renda, acesso à informação entre outros elementos. O que nos forma também é múltiplo.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1845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14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791580" y="2132856"/>
            <a:ext cx="75608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Cox Jr. (1993, p. 5-6) define diversidade como: </a:t>
            </a:r>
          </a:p>
          <a:p>
            <a:pPr marR="2800"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(...) a representação, em um sistema social, de pessoas com afiliações a grupos claramente diferentes em termos de significado cultural. A questão da diversidade em um contexto de sistema social é caracterizada por um grupo majoritário e por grupos minoritários, isto é, aqueles grupos com menor quantidade de membros representados no sistema social.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7651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52AAA-52BA-4E9F-ACEC-F67C74DBBBA3}" type="slidenum">
              <a:rPr lang="pt-BR" smtClean="0"/>
              <a:pPr/>
              <a:t>15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755576" y="1997839"/>
            <a:ext cx="76328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Nas organizações isso gera uma perda de valor agregado, gera uma perda na capacidade de compreender públicos múltiplos e por consequência atendê-los de forma adequada. E quando se fala em atender de forma adequado, se está falando dos colaboradores e consumidores.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6188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ço Reservado para Número de Slide 1">
            <a:extLst>
              <a:ext uri="{FF2B5EF4-FFF2-40B4-BE49-F238E27FC236}">
                <a16:creationId xmlns:a16="http://schemas.microsoft.com/office/drawing/2014/main" id="{E23D3135-CD19-43BA-B8C9-7FB301C9086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7031038" y="6135688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B9CDE5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66AC1123-5B84-46A6-AFFE-682FAF693ED0}" type="slidenum">
              <a:rPr lang="pt-BR" altLang="pt-BR" smtClean="0"/>
              <a:pPr>
                <a:spcBef>
                  <a:spcPct val="0"/>
                </a:spcBef>
                <a:buFontTx/>
                <a:buNone/>
                <a:defRPr/>
              </a:pPr>
              <a:t>16</a:t>
            </a:fld>
            <a:endParaRPr lang="pt-BR" altLang="pt-BR" sz="1800">
              <a:solidFill>
                <a:srgbClr val="B9CDE5"/>
              </a:solidFill>
            </a:endParaRPr>
          </a:p>
        </p:txBody>
      </p:sp>
      <p:sp>
        <p:nvSpPr>
          <p:cNvPr id="10243" name="Retângulo 2">
            <a:extLst>
              <a:ext uri="{FF2B5EF4-FFF2-40B4-BE49-F238E27FC236}">
                <a16:creationId xmlns:a16="http://schemas.microsoft.com/office/drawing/2014/main" id="{4FB45985-324E-45C1-A647-64B7969C7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916113"/>
            <a:ext cx="7848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2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2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pt-BR" sz="1800" b="0" i="0" u="none" strike="noStrike" baseline="0" dirty="0">
                <a:solidFill>
                  <a:srgbClr val="000000"/>
                </a:solidFill>
                <a:latin typeface="Roboto Light" panose="02000000000000000000" pitchFamily="2" charset="0"/>
              </a:rPr>
              <a:t>Equipes de alta performance se constroem com treinamento, com construção de capital intelectual, mas principalmente com o desenvolvimento humano e neste quesito a diversidade tem papel fundamental. </a:t>
            </a:r>
            <a:endParaRPr lang="pt-BR" altLang="pt-BR" sz="1800" dirty="0">
              <a:solidFill>
                <a:srgbClr val="000000"/>
              </a:solidFill>
              <a:latin typeface="Roboto 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9.0&quot;&gt;&lt;object type=&quot;1&quot; unique_id=&quot;10001&quot;&gt;&lt;property id=&quot;20141&quot; value=&quot;Modelo AN 2014&quot;/&gt;&lt;property id=&quot;20144&quot; value=&quot;1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0&quot;/&gt;&lt;property id=&quot;20183&quot; value=&quot;1&quot;/&gt;&lt;property id=&quot;20184&quot; value=&quot;7&quot;/&gt;&lt;property id=&quot;20193&quot; value=&quot;-1&quot;/&gt;&lt;property id=&quot;20221&quot; value=&quot;E:\Dri\Adriana\logos senac\MARCA_RGB\&quot;/&gt;&lt;property id=&quot;20224&quot; value=&quot;C:\Users\adriana.mmatsuda\Documents\My Adobe Presentations\modelo_2014&quot;/&gt;&lt;property id=&quot;20250&quot; value=&quot;0&quot;/&gt;&lt;property id=&quot;20251&quot; value=&quot;0&quot;/&gt;&lt;property id=&quot;20259&quot; value=&quot;0&quot;/&gt;&lt;property id=&quot;20600&quot; value=&quot;0&quot;/&gt;&lt;property id=&quot;20700&quot; value=&quot;0&quot;/&gt;&lt;object type=&quot;2&quot; unique_id=&quot;10118&quot;&gt;&lt;object type=&quot;3&quot; unique_id=&quot;10253&quot;&gt;&lt;property id=&quot;20148&quot; value=&quot;5&quot;/&gt;&lt;property id=&quot;20300&quot; value=&quot;Slide 3&quot;/&gt;&lt;property id=&quot;20303&quot; value=&quot;-1&quot;/&gt;&lt;property id=&quot;20307&quot; value=&quot;257&quot;/&gt;&lt;property id=&quot;20309&quot; value=&quot;-1&quot;/&gt;&lt;/object&gt;&lt;object type=&quot;3&quot; unique_id=&quot;10271&quot;&gt;&lt;property id=&quot;20148&quot; value=&quot;5&quot;/&gt;&lt;property id=&quot;20300&quot; value=&quot;Slide 5 - &amp;quot;Referências bibliográficas&amp;quot;&quot;/&gt;&lt;property id=&quot;20303&quot; value=&quot;-1&quot;/&gt;&lt;property id=&quot;20307&quot; value=&quot;258&quot;/&gt;&lt;property id=&quot;20309&quot; value=&quot;-1&quot;/&gt;&lt;/object&gt;&lt;object type=&quot;3&quot; unique_id=&quot;10272&quot;&gt;&lt;property id=&quot;20148&quot; value=&quot;5&quot;/&gt;&lt;property id=&quot;20300&quot; value=&quot;Slide 4 - &amp;quot;Conclusão&amp;quot;&quot;/&gt;&lt;property id=&quot;20303&quot; value=&quot;-1&quot;/&gt;&lt;property id=&quot;20307&quot; value=&quot;259&quot;/&gt;&lt;property id=&quot;20309&quot; value=&quot;-1&quot;/&gt;&lt;/object&gt;&lt;object type=&quot;3&quot; unique_id=&quot;10415&quot;&gt;&lt;property id=&quot;20148&quot; value=&quot;5&quot;/&gt;&lt;property id=&quot;20300&quot; value=&quot;Slide 1&quot;/&gt;&lt;property id=&quot;20301&quot; value=&quot;Título- 1linha&quot;/&gt;&lt;property id=&quot;20303&quot; value=&quot;-1&quot;/&gt;&lt;property id=&quot;20307&quot; value=&quot;261&quot;/&gt;&lt;property id=&quot;20309&quot; value=&quot;-1&quot;/&gt;&lt;/object&gt;&lt;object type=&quot;3&quot; unique_id=&quot;10497&quot;&gt;&lt;property id=&quot;20148&quot; value=&quot;5&quot;/&gt;&lt;property id=&quot;20300&quot; value=&quot;Slide 6 - &amp;quot;Donec eget nisi dolor - nec risus&amp;quot;&quot;/&gt;&lt;property id=&quot;20303&quot; value=&quot;-1&quot;/&gt;&lt;property id=&quot;20307&quot; value=&quot;262&quot;/&gt;&lt;property id=&quot;20309&quot; value=&quot;-1&quot;/&gt;&lt;/object&gt;&lt;object type=&quot;3&quot; unique_id=&quot;10808&quot;&gt;&lt;property id=&quot;20148&quot; value=&quot;5&quot;/&gt;&lt;property id=&quot;20300&quot; value=&quot;Slide 2&quot;/&gt;&lt;property id=&quot;20301&quot; value=&quot;Título - 2 linhas&quot;/&gt;&lt;property id=&quot;20303&quot; value=&quot;-1&quot;/&gt;&lt;property id=&quot;20307&quot; value=&quot;263&quot;/&gt;&lt;property id=&quot;20309&quot; value=&quot;-1&quot;/&gt;&lt;/object&gt;&lt;/object&gt;&lt;object type=&quot;8&quot; unique_id=&quot;10122&quot;&gt;&lt;/object&gt;&lt;object type=&quot;4&quot; unique_id=&quot;10304&quot;&gt;&lt;/object&gt;&lt;object type=&quot;10&quot; unique_id=&quot;10305&quot;&gt;&lt;object type=&quot;11&quot; unique_id=&quot;10306&quot;&gt;&lt;property id=&quot;20180&quot; value=&quot;0&quot;/&gt;&lt;property id=&quot;20181&quot; value=&quot;0&quot;/&gt;&lt;property id=&quot;20183&quot; value=&quot;1&quot;/&gt;&lt;/object&gt;&lt;object type=&quot;12&quot; unique_id=&quot;10538&quot;&gt;&lt;/object&gt;&lt;/object&gt;&lt;/object&gt;&lt;/database&gt;"/>
  <p:tag name="SECTOMILLISECCONVERTED" val="1"/>
  <p:tag name="MMPROD_THEME_BG_IMAGE" val=""/>
  <p:tag name="MMPROD_TAG_VCONFIG" val="PD94bWwgdmVyc2lvbj0iMS4wIiBlbmNvZGluZz0iVVRGLTgiPz4NCjxjb25maWd1cmF0aW9uPg0KCTxicmFuZGluZz4NCgkJPHVpZm9udCBuYW1lPSJGT05UX05PVEVTX1RFWFQiIHZhbHVlPSJWZXJkYW5hLDE0LGZhbHNlLGZhbHNlLGZhbHNlIi8+DQoJPC9icmFuZGluZz4NCgk8Y29sb3JzPg0KCQk8dWljb2xvciBuYW1lPSJwcmltYXJ5IiB2YWx1ZT0iMHhDQ0NDQ0MiLz4NCgkJPHVpY29sb3IgbmFtZT0iZ2xvdyIgdmFsdWU9IjB4RkRDMTgwIi8+DQoJCTx1aWNvbG9yIG5hbWU9InRleHQiIHZhbHVlPSIweDAwMDAwMCIvPg0KCQk8dWljb2xvciBuYW1lPSJsaWdodCIgdmFsdWU9IjB4OEY4RjhGIi8+DQoJCTx1aWNvbG9yIG5hbWU9InNoYWRvdyIgdmFsdWU9IjB4RkZGRkZGIi8+DQoJCTx1aWNvbG9yIG5hbWU9ImJhY2tncm91bmQiIHZhbHVlPSIweDAwMzM2NiIvPg0KCQk8dWljb2xvciBuYW1lPSJub3Rlc1RleHRCYWNrZ3JvdW5kIiB2YWx1ZT0iMHhGRkZGRkYiLz4NCgk8L2NvbG9ycz4NCgk8bGF5b3V0Pg0KCQk8dWlzaG93IG5hbWU9InByZXNlbnRhdGlvbnRpdGxlIiB2YWx1ZT0idHJ1ZSIvPg0KCQk8dWlzaG93IG5hbWU9InByZXNlbnRlcnBob3RvIiB2YWx1ZT0idHJ1ZSIvPg0KCQk8dWlzaG93IG5hbWU9InByZXNlbnRlcm5hbWUiIHZhbHVlPSJ0cnVlIi8+DQoJCTx1aXNob3cgbmFtZT0icHJlc2VudGVydGl0bGUiIHZhbHVlPSJ0cnVlIi8+DQoJCTx1aXNob3cgbmFtZT0icHJlc2VudGVyZW1haWwiIHZhbHVlPSJ0cnVlIi8+DQoJCTx1aXNob3cgbmFtZT0icHJlc2VudGVyYmlvIiB2YWx1ZT0idHJ1ZSIvPg0KCQk8dWlzaG93IG5hbWU9ImNvbXBhbnlsb2dvIiB2YWx1ZT0idHJ1ZSIvPg0KCQk8dWlzaG93IG5hbWU9InNpZGViYXIiIHZhbHVlPSJ0cnVlIi8+DQoJCTx1aXNob3cgbmFtZT0ib3V0bGluZSIgdmFsdWU9InRydWUiLz4NCgkJPHVpc2hvdyBuYW1lPSJ0aHVtYm5haWwiIHZhbHVlPSJ0cnVlIi8+DQoJCTx1aXNob3cgbmFtZT0ibm90ZXMiIHZhbHVlPSJ0cnVlIi8+DQoJCTx1aXNob3cgbmFtZT0ic2VhcmNoIiB2YWx1ZT0idHJ1ZSIvPg0KCQk8dWlzaG93IG5hbWU9InF1aXoiIHZhbHVlPSJ0cnVlIi8+DQoJCTx1aXNob3cgbmFtZT0iYXR0YWNobWVudHMiIHZhbHVlPSJ0cnVlIi8+DQoJCTx1aXNob3cgbmFtZT0idXRpbHMiIHZhbHVlPSJ0cnVlIi8+DQoJCTx1aXNob3cgbmFtZT0idm9sdW1lIiB2YWx1ZT0idHJ1ZSIvPg0KCQk8dWlzaG93IG5hbWU9InBsYXliYXIiIHZhbHVlPSJ0cnVlIi8+DQoJCTx1aXNob3cgbmFtZT0idGFsa2luZ2hlYWQiIHZhbHVlPSJ0cnVlIi8+DQoJCTx1aXNob3cgbmFtZT0ic2lkZWJhcm9ucmlnaHQiIHZhbHVlPSJ0cnVlIi8+DQoJCTx1aXNob3cgbmFtZT0idmlld2NoYW5nZSIgdmFsdWU9InRydWUiLz4NCgkJPHVpc2hvdyBuYW1lPSJhbHdheXNTY3J1bmNoIiB2YWx1ZT0iZmFsc2UiLz4NCgkJPHVpc2hvdyBuYW1lPSJpbml0aWFsZGlzcGxheW1vZGVpc25vcm1hbCIgdmFsdWU9InRydWUiLz4NCgkJPHVpc2hvdyBuYW1lPSJjY3RleHRoaWdobGlnaHRpbmciIHZhbHVlPSJ0cnVlIi8+DQoJCTx1aXJlcGxhY2UgbmFtZT0ibG9nbyIgdmFsdWU9IiIvPg0KCQk8dWlyZXBsYWNlIG5hbWU9ImJnaW1hZ2UiIHZhbHVlPSIiLz4NCgkJPHVpcmVwbGFjZSBuYW1lPSJpbml0aWFsdGFiIiB2YWx1ZT0ib3V0bGluZSIvPg0KCTwvbGF5b3V0Pg0KCTxwcmVsb2FkZXI+PHNldEJvb2wgbmFtZT0iZGlzYWJsZUFzc2V0UHJlbG9hZGVyIiB2YWx1ZT0idHJ1ZSIvPjwvcHJlbG9hZGVyPjxsYW5ndWFnZSBpZD0iZW4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whLS1xdWl6IHBvZCBhbmQgbWVzc2FnZSBib3ggdGV4dHMtLT4NCgkJPHVpdGV4dCBuYW1lPSJRVUlaUE9EX1FVSVpfQVRURU1QVCIgdmFsdWU9IlF1aXogQXR0ZW1wdDoiLz4NCgkJPHVpdGV4dCBuYW1lPSJRVUlaUE9EX1FVSVpfQVRURU1QVF9WQUxVRSIgdmFsdWU9IiVuIG9mICV0Ii8+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+DQoJCTx1aXRleHQgbmFtZT0iUVVJWlBPRF9RVUlaQVRNUFRfSU5GIiB2YWx1ZT0iSW5maW5pdGUiLz4NCgkJPHVpdGV4dCBuYW1lPSJRVUlaUE9EX1FVRVNBVE1QVF9JTkYiIHZhbHVlPSJJbmZpbml0ZSIvPg0KCQk8dWl0ZXh0IG5hbWU9IldBUk5JTkdNU0dfWUVTU1RSSU5HIiB2YWx1ZT0iWWVzIi8+DQoJCTx1aXRleHQgbmFtZT0iV0FSTklOR01TR19OT1NUUklORyIgdmFsdWU9Ik5vIi8+DQoJCTx1aXRleHQgbmFtZT0iV0FSTklOR01TR19USVRMRVNUUklORyIgdmFsdWU9IlF1aXogTmF2aWdhdGlvbiBXYXJuaW5nIi8+DQoJCTx1aXRleHQgbmFtZT0iV0FSTklOR01TR19NU0dTVFJJTkciIHZhbHVlPSJUaGVyZSBhcmUgdW4tYXR0ZW1wdGVkIHF1ZXN0aW9ucyBpbiB0aGlzIFF1aXouJiN4QTsmI3hBO0NsaWNraW5nIFllcyB3aWxsIHRha2UgeW91IG91dCBvZiB0aGUgUXVpei4gQ2xpY2sgTm8gdG8gY29udGludWUgdGhlIFF1aXouIi8+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+DQoJCTx1aXRleHQgbmFtZT0iRE9DV1JBUF9USVRMRSIgdmFsdWU9IlByZXNlbnRlciBGaWxlIEF0dGFjaG1lbnQiLz4NCgkJPHVpdGV4dCBuYW1lPSJET0NXUkFQX01TRyIgdmFsdWU9IlNhdmUgdG8gTXkgQ29tcHV0ZXIiLz4NCgkJPHVpdGV4dCBuYW1lPSJET0NXUkFQX1BST01QVCIgdmFsdWU9IkNsaWNrIHRvIERvd25sb2FkIi8+DQoJPC9sYW5ndWFnZT4NCgk8bGFuZ3VhZ2UgaWQ9ImRl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ZvbGllICVuIi8+DQoJCTwhLS0gc3Vic3RpdHV0aW9uOiAlbiA9PSBzbGlkZSBudW1iZXIgLS0+DQoJCTwhLS0gc3Vic3RpdHV0aW9uOiAldCA9PSB0b3RhbCBzbGlkZSBjb3VudCAtLT4NCgkJPHVpdGV4dCBuYW1lPSJTQ1JVQkJBUlNUQVRVU19TTElERUlORk8iIHZhbHVlPSJGb2xpZSAlbiAvICV0IHwgIi8+DQoJCTx1aXRleHQgbmFtZT0iU0NSVUJCQVJTVEFUVVNfU1RPUFBFRCIgdmFsdWU9IkJlZW5kZXQiLz4NCgkJPHVpdGV4dCBuYW1lPSJTQ1JVQkJBUlNUQVRVU19QTEFZSU5HIiB2YWx1ZT0iV2llZGVyZ2FiZSIvPg0KCQk8dWl0ZXh0IG5hbWU9IlNDUlVCQkFSU1RBVFVTX05PQVVESU8iIHZhbHVlPSJLZWluIEF1ZGlvIi8+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+DQoJCTx1aXRleHQgbmFtZT0iU0NSVUJCQVJTVEFUVVNfUkVWSUVXUVVJWiIgdmFsdWU9Ik5vY2htYWxzIGR1cmNoc2VoZW4iLz4NCgkJPCEtLSBzdWJzdGl0dXRpb246ICVtID09IG1pbnV0ZXMgcmVtYWluaW5nIC0tPg0KCQk8IS0tIHN1YnN0aXR1dGlvbjogJXMgPT0gc2Vjb25kcyByZW1haW5pbmcgLS0+DQoJCTx1aXRleHQgbmFtZT0iRUxBUFNFRCIgdmFsdWU9IlJlc3RkYXVlcjogJW0gTWludXRlbiAlcyBTZWt1bmRlbiIvPg0KCQk8dWl0ZXh0IG5hbWU9Ik5PVEZPVU5EIiB2YWx1ZT0iTmljaHRzIGdlZnVuZGVuIi8+DQoJCTx1aXRleHQgbmFtZT0iQVRUQUNITUVOVFMiIHZhbHVlPSJBbmxhZ2VuIi8+DQoJCTwhLS0gc3Vic3RpdHV0aW9uOiAlcCA9PSBjdXJyZW50IHNwZWFrZXIncyB0aXRsZSAtLT4NCgkJPHVpdGV4dCBuYW1lPSJCSU9XSU5fVElUTEUiIHZhbHVlPSJTcHJlY2hlcjogJXAiLz4NCgkJPHVpdGV4dCBuYW1lPSJCSU9CVE5fVElUTEUiIHZhbHVlPSJTcHJlY2hlciIvPg0KCQk8dWl0ZXh0IG5hbWU9IkRJVklERVJCVE5fVElUTEUiIHZhbHVlPSJ8Ii8+DQoJCTx1aXRleHQgbmFtZT0iQ09OVEFDVEJUTl9USVRMRSIgdmFsdWU9IktvbnRha3QiLz4NCgkJPHVpdGV4dCBuYW1lPSJUQUJfUVVJWiIgdmFsdWU9IlF1aXoiLz4NCgkJPHVpdGV4dCBuYW1lPSJUQUJfT1VUTElORSIgdmFsdWU9IlN0cnVrdHVyIi8+DQoJCTx1aXRleHQgbmFtZT0iVEFCX1RIVU1CIiB2YWx1ZT0iTWluaWF0dXIiLz4NCgkJPHVpdGV4dCBuYW1lPSJUQUJfTk9URVMiIHZhbHVlPSJOb3RpemVuIi8+DQoJCTx1aXRleHQgbmFtZT0iVEFCX1NFQVJDSCIgdmFsdWU9IlN1Y2hlbiIvPg0KCQk8dWl0ZXh0IG5hbWU9IlNMSURFX0hFQURJTkciIHZhbHVlPSJGb2xpZW50aXRlbCIvPg0KCQk8dWl0ZXh0IG5hbWU9IkRVUkFUSU9OX0hFQURJTkciIHZhbHVlPSJEYXVlciIvPg0KCQk8dWl0ZXh0IG5hbWU9IlNFQVJDSF9IRUFESU5HIiB2YWx1ZT0iVGV4dCBzdWNoZW46Ii8+DQoJCTx1aXRleHQgbmFtZT0iVEhVTUJfSEVBRElORyIgdmFsdWU9IkZvbGllIi8+DQoJCTx1aXRleHQgbmFtZT0iVEhVTUJfSU5GTyIgdmFsdWU9IkZvbGllbnRpdGVsL0RhdWVyIi8+DQoJCTx1aXRleHQgbmFtZT0iQVRUQUNITkFNRV9IRUFESU5HIiB2YWx1ZT0iRGF0ZWluYW1lIi8+DQoJCTx1aXRleHQgbmFtZT0iQVRUQUNIU0laRV9IRUFESU5HIiB2YWx1ZT0iR3LDtsOfZSIvPg0KCQk8dWl0ZXh0IG5hbWU9IlNMSURFX05PVEVTIiB2YWx1ZT0iRm9saWVubm90aXplbiIvPg0KCQk8IS0tcXVpeiBwb2QgYW5kIG1lc3NhZ2UgYm94IHRleHRzLS0+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+DQoJCTx1aXRleHQgbmFtZT0iUVVJWlBPRF9RVUVTVFlQRV9TVlkiIHZhbHVlPSJVbWZyYWdlIi8+DQoJCTx1aXRleHQgbmFtZT0iUVVJWlBPRF9RVUlaQVRNUFRfSU5GIiB2YWx1ZT0iVW5lbmRsaWNoIi8+DQoJCTx1aXRleHQgbmFtZT0iUVVJWlBPRF9RVUVTQVRNUFRfSU5GIiB2YWx1ZT0iVW5lbmRsaWNoIi8+DQoJCTx1aXRleHQgbmFtZT0iV0FSTklOR01TR19ZRVNTVFJJTkciIHZhbHVlPSJKYSIvPg0KCQk8dWl0ZXh0IG5hbWU9IldBUk5JTkdNU0dfTk9TVFJJTkciIHZhbHVlPSJOZWluIi8+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EZW4gVGVpbG5laG1lcm4gZGllIFNlaXRlbmxlaXN0ZSBhbnplaWdlbiIvPg0KCQk8dWl0ZXh0IG5hbWU9Ik1VVEUiIHZhbHVlPSJBdXMiLz4NCgkJPHVpdGV4dCBuYW1lPSJET0NXUkFQX1RJVExFIiB2YWx1ZT0iUHJlc2VudGVyLUFuaGFuZyIvPg0KCQk8dWl0ZXh0IG5hbWU9IkRPQ1dSQVBfTVNHIiB2YWx1ZT0iQXVmIG1laW5lbSBBcmJlaXRzcGxhdHogc3BlaWNoZXJuIi8+DQoJCTx1aXRleHQgbmFtZT0iRE9DV1JBUF9QUk9NUFQiIHZhbHVlPSJadW0gSGVydW50ZXJsYWRlbiBrbGlja2VuIi8+DQoJPC9sYW5ndWFnZT4NCgk8bGFuZ3VhZ2UgaWQ9ImZy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XBvc2l0aXZlICVuIi8+DQoJCTwhLS0gc3Vic3RpdHV0aW9uOiAlbiA9PSBzbGlkZSBudW1iZXIgLS0+DQoJCTwhLS0gc3Vic3RpdHV0aW9uOiAldCA9PSB0b3RhbCBzbGlkZSBjb3VudCAtLT4NCgkJPHVpdGV4dCBuYW1lPSJTQ1JVQkJBUlNUQVRVU19TTElERUlORk8iIHZhbHVlPSJEaWFwb3NpdGl2ZSAlbiAvICV0IHwgIi8+DQoJCTx1aXRleHQgbmFtZT0iU0NSVUJCQVJTVEFUVVNfU1RPUFBFRCIgdmFsdWU9IkFycsOqdMOpZSIvPg0KCQk8dWl0ZXh0IG5hbWU9IlNDUlVCQkFSU1RBVFVTX1BMQVlJTkciIHZhbHVlPSJMZWN0dXJlIi8+DQoJCTx1aXRleHQgbmFtZT0iU0NSVUJCQVJTVEFUVVNfTk9BVURJTyIgdmFsdWU9IlBhcyBkZSBzb24iLz4NCgkJPHVpdGV4dCBuYW1lPSJTQ1JVQkJBUlNUQVRVU19WSURQTEFZSU5HIiB2YWx1ZT0iTGVjdHVyZSB2aWTDqW8gZW4gY291cnMiLz4NCgkJPHVpdGV4dCBuYW1lPSJTQ1JVQkJBUlNUQVRVU19MT0FESU5HIiB2YWx1ZT0iQ2hhcmdlbWVudCBlbiBjb3VycyIvPg0KCQk8dWl0ZXh0IG5hbWU9IlNDUlVCQkFSU1RBVFVTX0JVRkZFUklORyIgdmFsdWU9Ik1pc2UgZW4gbcOpbW9pcmUiLz4NCgkJPHVpdGV4dCBuYW1lPSJTQ1JVQkJBUlNUQVRVU19RVUVTVElPTiIgdmFsdWU9IlLDqXBvbmRyZSDDoCBsYSBxdWVzdGlvbiIvPg0KCQk8dWl0ZXh0IG5hbWU9IlNDUlVCQkFSU1RBVFVTX1JFVklFV1FVSVoiIHZhbHVlPSJSw6l2aXNpb24gZHUgcXVlc3Rpb25uYWlyZSIvPg0KCQk8IS0tIHN1YnN0aXR1dGlvbjogJW0gPT0gbWludXRlcyByZW1haW5pbmcgLS0+DQoJCTwhLS0gc3Vic3RpdHV0aW9uOiAlcyA9PSBzZWNvbmRzIHJlbWFpbmluZyAtLT4NCgkJPHVpdGV4dCBuYW1lPSJFTEFQU0VEIiB2YWx1ZT0iJW0gbWludXRlcyAlcyBzZWNvbmRlcyByZXN0YW50ZXMiLz4NCgkJPHVpdGV4dCBuYW1lPSJOT1RGT1VORCIgdmFsdWU9IlJpZW4gdHJvdXbDqSIvPg0KCQk8dWl0ZXh0IG5hbWU9IkFUVEFDSE1FTlRTIiB2YWx1ZT0iUGnDqGNlcyBqb2ludGVzIi8+DQoJCTwhLS0gc3Vic3RpdHV0aW9uOiAlcCA9PSBjdXJyZW50IHNwZWFrZXIncyB0aXRsZSAtLT4NCgkJPHVpdGV4dCBuYW1lPSJCSU9XSU5fVElUTEUiIHZhbHVlPSJCaW8gOiAlcCIvPg0KCQk8dWl0ZXh0IG5hbWU9IkJJT0JUTl9USVRMRSIgdmFsdWU9IkJpbyA6Ii8+DQoJCTx1aXRleHQgbmFtZT0iRElWSURFUkJUTl9USVRMRSIgdmFsdWU9InwiLz4NCgkJPHVpdGV4dCBuYW1lPSJDT05UQUNUQlROX1RJVExFIiB2YWx1ZT0iQ29udGFjdCIvPg0KCQk8dWl0ZXh0IG5hbWU9IlRBQl9RVUlaIiB2YWx1ZT0iUXVpeiIvPg0KCQk8dWl0ZXh0IG5hbWU9IlRBQl9PVVRMSU5FIiB2YWx1ZT0iUGxhbiIvPg0KCQk8dWl0ZXh0IG5hbWU9IlRBQl9USFVNQiIgdmFsdWU9IkRpYXBvcyIvPg0KCQk8dWl0ZXh0IG5hbWU9IlRBQl9OT1RFUyIgdmFsdWU9Ik5vdGVzIi8+DQoJCTx1aXRleHQgbmFtZT0iVEFCX1NFQVJDSCIgdmFsdWU9IlJlY2hlcmNoZSIvPg0KCQk8dWl0ZXh0IG5hbWU9IlNMSURFX0hFQURJTkciIHZhbHVlPSJUaXRyZSBkZSBsYSBkaWFwb3NpdGl2ZSIvPg0KCQk8dWl0ZXh0IG5hbWU9IkRVUkFUSU9OX0hFQURJTkciIHZhbHVlPSJEdXLDqWUiLz4NCgkJPHVpdGV4dCBuYW1lPSJTRUFSQ0hfSEVBRElORyIgdmFsdWU9IlJlY2hlcmNoZSBkZSB0ZXh0ZSA6Ii8+DQoJCTx1aXRleHQgbmFtZT0iVEhVTUJfSEVBRElORyIgdmFsdWU9IkRpYXBvc2l0aXZlIi8+DQoJCTx1aXRleHQgbmFtZT0iVEhVTUJfSU5GTyIgdmFsdWU9IlRpdHJlL2R1csOpZSIvPg0KCQk8dWl0ZXh0IG5hbWU9IkFUVEFDSE5BTUVfSEVBRElORyIgdmFsdWU9Ik5vbSBkZSBmaWNoaWVyIi8+DQoJCTx1aXRleHQgbmFtZT0iQVRUQUNIU0laRV9IRUFESU5HIiB2YWx1ZT0iVGFpbGxlIi8+DQoJCTx1aXRleHQgbmFtZT0iU0xJREVfTk9URVMiIHZhbHVlPSJDb21tZW50YWlyZXMgZGVzIGRpYXBvc2l0aXZlcyIvPg0KCQk8IS0tcXVpeiBwb2QgYW5kIG1lc3NhZ2UgYm94IHRleHRzLS0+DQoJCTx1aXRleHQgbmFtZT0iUVVJWlBPRF9RVUlaX0FUVEVNUFQiIHZhbHVlPSJUZW50YXRpdmUgZGUgcXVlc3Rpb25uYWlyZSA6Ii8+DQoJCTx1aXRleHQgbmFtZT0iUVVJWlBPRF9RVUlaX0FUVEVNUFRfVkFMVUUiIHZhbHVlPSIlbiBzdXIgJXQiLz4NCgkJPHVpdGV4dCBuYW1lPSJRVUlaUE9EX1FVSVpfU0NPUkUiIHZhbHVlPSJOb3RlIG9idGVudWUgOiIvPg0KCQk8dWl0ZXh0IG5hbWU9IlFVSVpQT0RfUVVJWl9QQVNTU0NPUkUiIHZhbHVlPSJOb3RlIGQnYWRtaXNzaWJpbGl0w6nCoDoiLz4NCgkJPHVpdGV4dCBuYW1lPSJRVUlaUE9EX1FVSVpfTUFYU0NPUkUiIHZhbHVlPSJOb3RlIG1heGltYWxlIDoiLz4NCgkJPHVpdGV4dCBuYW1lPSJRVUlaUE9EX1FVRVNBVE1QVF9TVFIiIHZhbHVlPSJUZW50YXRpdmUgOiAlbiBzdXIgJXQiLz4NCgkJPHVpdGV4dCBuYW1lPSJRVUlaUE9EX1FVRVNUWVBFX1NUUiIgdmFsdWU9IlR5cGU6ICVzIi8+DQoJCTx1aXRleHQgbmFtZT0iUVVJWlBPRF9RVUVTVFlQRV9HUkQiIHZhbHVlPSJOb3TDqSIvPg0KCQk8dWl0ZXh0IG5hbWU9IlFVSVpQT0RfUVVFU1RZUEVfU1ZZIiB2YWx1ZT0iRW5xdcOqdGUiLz4NCgkJPHVpdGV4dCBuYW1lPSJRVUlaUE9EX1FVSVpBVE1QVF9JTkYiIHZhbHVlPSJJbGxpbWl0w6kiLz4NCgkJPHVpdGV4dCBuYW1lPSJRVUlaUE9EX1FVRVNBVE1QVF9JTkYiIHZhbHVlPSJJbGxpbWl0w6kiLz4NCgkJPHVpdGV4dCBuYW1lPSJXQVJOSU5HTVNHX1lFU1NUUklORyIgdmFsdWU9Ik91aSIvPg0KCQk8dWl0ZXh0IG5hbWU9IldBUk5JTkdNU0dfTk9TVFJJTkciIHZhbHVlPSJOb24iLz4NCgkJPHVpdGV4dCBuYW1lPSJXQVJOSU5HTVNHX1RJVExFU1RSSU5HIiB2YWx1ZT0iQXZlcnRpc3NlbWVudCBkZSBuYXZpZ2F0aW9uIGR1IHF1ZXN0aW9ubmFpcmUiLz4NCgkJPHVpdGV4dCBuYW1lPSJXQVJOSU5HTVNHX01TR1NUUklORyIgdmFsdWU9IlZvdXMgbidhdmV6IHBhcyByw6lwb25kdSDDoCBjZXJ0YWluZXMgcXVlc3Rpb25zIGRlIGNlIHF1ZXN0aW9ubmFpcmUuJiN4QTsmI3hBO1NpIHZvdXMgY2xpcXVleiBzdXIgT3VpLCB2b3VzIHF1aXR0ZXJleiBsZSBxdWVzdGlvbm5haXJlLiBDbGlxdWV6IHN1ciBOb24gcG91ciBjb250aW51ZXIgbGUgcXVlc3Rpb25uYWlyZS4iLz4NCgkJPHVpdGV4dCBuYW1lPSJJTkZPUk1BVElPTl9IMjY0X0ZMQVNIUExBWUVSIiB2YWx1ZT0iTGEgdmVyc2lvbiBkZSBGbGFzaCBQbGF5ZXIgYWN0dWVsbGVtZW50IGluc3RhbGzDqWUgc3VyIHZvdHJlIG1hY2hpbmUgbmUgcHJlbmQgcGFzIGVuIGNoYXJnZSBjZSB0eXBlIGRlIHZpZMOpby4gQ2xpcXVleiBzdXIgbGEgem9uZSB2aWTDqW8gcG91ciB0w6lsw6ljaGFyZ2VyIGxhIGRlcm5pw6hyZSB2ZXJzaW9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TW9udHJlciBsJ2VuY2FkcsOpIGF1eCBwYXJ0aWNpcGFudHMiLz4NCgkJPHVpdGV4dCBuYW1lPSJNVVRFIiB2YWx1ZT0iTXVldCIvPg0KCQk8dWl0ZXh0IG5hbWU9IkRPQ1dSQVBfVElUTEUiIHZhbHVlPSJQacOoY2Ugam9pbnRlIFByZXNlbnRlciIvPg0KCQk8dWl0ZXh0IG5hbWU9IkRPQ1dSQVBfTVNHIiB2YWx1ZT0iRW5yZWdpc3RyZXIgc3VyIG1vbiBvcmRpbmF0ZXVyIi8+DQoJCTx1aXRleHQgbmFtZT0iRE9DV1JBUF9QUk9NUFQiIHZhbHVlPSJDbGlxdWVyIHBvdXIgdMOpbMOpY2hhcmdlciIvPg0KCTwvbGFuZ3VhZ2U+DQoJPGxhbmd1YWdlIGlkPSJqYS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w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44K544Op44Kk44OJIDogJW4iLz4NCgkJPCEtLSBzdWJzdGl0dXRpb246ICVuID09IHNsaWRlIG51bWJlciAtLT4NCgkJPCEtLSBzdWJzdGl0dXRpb246ICV0ID09IHRvdGFsIHNsaWRlIGNvdW50IC0tPg0KCQk8dWl0ZXh0IG5hbWU9IlNDUlVCQkFSU1RBVFVTX1NMSURFSU5GTyIgdmFsdWU9IuOCueODqeOCpOODiSA6ICVuIC8gJXQgfCAiLz4NCgkJPHVpdGV4dCBuYW1lPSJTQ1JVQkJBUlNUQVRVU19TVE9QUEVEIiB2YWx1ZT0i5YGc5q2iIi8+DQoJCTx1aXRleHQgbmFtZT0iU0NSVUJCQVJTVEFUVVNfUExBWUlORyIgdmFsdWU9IuWGjeeUn+S4rSIvPg0KCQk8dWl0ZXh0IG5hbWU9IlNDUlVCQkFSU1RBVFVTX05PQVVESU8iIHZhbHVlPSLpn7Plo7DjgarjgZciLz4NCgkJPHVpdGV4dCBuYW1lPSJTQ1JVQkJBUlNUQVRVU19WSURQTEFZSU5HIiB2YWx1ZT0i44OT44OH44Kq5YaN55Sf5LitIi8+DQoJCTx1aXRleHQgbmFtZT0iU0NSVUJCQVJTVEFUVVNfTE9BRElORyIgdmFsdWU9IuODreODvOODieS4rSIvPg0KCQk8dWl0ZXh0IG5hbWU9IlNDUlVCQkFSU1RBVFVTX0JVRkZFUklORyIgdmFsdWU9IuODkOODg+ODleOCoeS4rSIvPg0KCQk8dWl0ZXh0IG5hbWU9IlNDUlVCQkFSU1RBVFVTX1FVRVNUSU9OIiB2YWx1ZT0i6LOq5ZWP44Gr562U44GI44Gm5LiL44GV44GEIi8+DQoJCTx1aXRleHQgbmFtZT0iU0NSVUJCQVJTVEFUVVNfUkVWSUVXUVVJWiIgdmFsdWU9IuOCr+OCpOOCuuOCkuODrOODk+ODpeODvOOBl+OBpuOBhOOBvuOBmSIvPg0KCQk8IS0tIHN1YnN0aXR1dGlvbjogJW0gPT0gbWludXRlcyByZW1haW5pbmcgLS0+DQoJCTwhLS0gc3Vic3RpdHV0aW9uOiAlcyA9PSBzZWNvbmRzIHJlbWFpbmluZyAtLT4NCgkJPHVpdGV4dCBuYW1lPSJFTEFQU0VEIiB2YWx1ZT0i5q6L44KKIDogJW0g5YiGICVzIOenkiIvPg0KCQk8dWl0ZXh0IG5hbWU9Ik5PVEZPVU5EIiB2YWx1ZT0i5L2V44KC6KaL44Gk44GL44KK44G+44Gb44KTIi8+DQoJCTx1aXRleHQgbmFtZT0iQVRUQUNITUVOVFMiIHZhbHVlPSLmt7vku5giLz4NCgkJPCEtLSBzdWJzdGl0dXRpb246ICVwID09IGN1cnJlbnQgc3BlYWtlcidzIHRpdGxlIC0tPg0KCQk8dWl0ZXh0IG5hbWU9IkJJT1dJTl9USVRMRSIgdmFsdWU9Iue1jOattCA6ICVwIi8+DQoJCTx1aXRleHQgbmFtZT0iQklPQlROX1RJVExFIiB2YWx1ZT0i57WM5q20Ii8+DQoJCTx1aXRleHQgbmFtZT0iRElWSURFUkJUTl9USVRMRSIgdmFsdWU9InwiLz4NCgkJPHVpdGV4dCBuYW1lPSJDT05UQUNUQlROX1RJVExFIiB2YWx1ZT0i44GK5ZWP44GE5ZCI44KP44GbIi8+DQoJCTx1aXRleHQgbmFtZT0iVEFCX1FVSVoiIHZhbHVlPSLjgq/jgqTjgroiLz4NCgkJPHVpdGV4dCBuYW1lPSJUQUJfT1VUTElORSIgdmFsdWU9IuOCouOCpuODiOODqeOCpOODsyIvPg0KCQk8dWl0ZXh0IG5hbWU9IlRBQl9USFVNQiIgdmFsdWU9IuOCteODoOODjeODvOODqyIvPg0KCQk8dWl0ZXh0IG5hbWU9IlRBQl9OT1RFUyIgdmFsdWU9IuODjuODvOODiCIvPg0KCQk8dWl0ZXh0IG5hbWU9IlRBQl9TRUFSQ0giIHZhbHVlPSLmpJzntKIiLz4NCgkJPHVpdGV4dCBuYW1lPSJTTElERV9IRUFESU5HIiB2YWx1ZT0i44K544Op44Kk44OJ44K/44Kk44OI44OrIi8+DQoJCTx1aXRleHQgbmFtZT0iRFVSQVRJT05fSEVBRElORyIgdmFsdWU9IumVt+OBlSIvPg0KCQk8dWl0ZXh0IG5hbWU9IlNFQVJDSF9IRUFESU5HIiB2YWx1ZT0i5qSc57Si44GZ44KL44OG44Kt44K544OIIDogIi8+DQoJCTx1aXRleHQgbmFtZT0iVEhVTUJfSEVBRElORyIgdmFsdWU9IuOCueODqeOCpOODiSIvPg0KCQk8dWl0ZXh0IG5hbWU9IlRIVU1CX0lORk8iIHZhbHVlPSLjgrnjg6njgqTjg4njgr/jgqTjg4jjg6sgLyDplbfjgZUiLz4NCgkJPHVpdGV4dCBuYW1lPSJBVFRBQ0hOQU1FX0hFQURJTkciIHZhbHVlPSLjg5XjgqHjgqTjg6vlkI0iLz4NCgkJPHVpdGV4dCBuYW1lPSJBVFRBQ0hTSVpFX0hFQURJTkciIHZhbHVlPSLjgrXjgqTjgroiLz4NCgkJPHVpdGV4dCBuYW1lPSJTTElERV9OT1RFUyIgdmFsdWU9IuOCueODqeOCpOODieODjuODvOODiCIvPg0KCQk8IS0tcXVpeiBwb2QgYW5kIG1lc3NhZ2UgYm94IHRleHRzLS0+DQoJCTx1aXRleHQgbmFtZT0iUVVJWlBPRF9RVUlaX0FUVEVNUFQiIHZhbHVlPSLjgq/jgqTjgrroqabooYzlm57mlbAgOiAiLz4NCgkJPHVpdGV4dCBuYW1lPSJRVUlaUE9EX1FVSVpfQVRURU1QVF9WQUxVRSIgdmFsdWU9IiVuIC8gJXQiLz4NCgkJPHVpdGV4dCBuYW1lPSJRVUlaUE9EX1FVSVpfU0NPUkUiIHZhbHVlPSLjgrnjgrPjgqIgOiAiLz4NCgkJPHVpdGV4dCBuYW1lPSJRVUlaUE9EX1FVSVpfUEFTU1NDT1JFIiB2YWx1ZT0i5ZCI5qC854K5IDoiLz4NCgkJPHVpdGV4dCBuYW1lPSJRVUlaUE9EX1FVSVpfTUFYU0NPUkUiIHZhbHVlPSLmnIDpq5jlvpfngrkgOiAiLz4NCgkJPHVpdGV4dCBuYW1lPSJRVUlaUE9EX1FVRVNBVE1QVF9TVFIiIHZhbHVlPSLoqabooYzlm57mlbAgOiAlbiAvICV0Ii8+DQoJCTx1aXRleHQgbmFtZT0iUVVJWlBPRF9RVUVTVFlQRV9TVFIiIHZhbHVlPSLjgr/jgqTjg5cgOiAlcyIvPg0KCQk8dWl0ZXh0IG5hbWU9IlFVSVpQT0RfUVVFU1RZUEVfR1JEIiB2YWx1ZT0i6KmV5L6hIi8+DQoJCTx1aXRleHQgbmFtZT0iUVVJWlBPRF9RVUVTVFlQRV9TVlkiIHZhbHVlPSLjgqLjg7PjgrHjg7zjg4giLz4NCgkJPHVpdGV4dCBuYW1lPSJRVUlaUE9EX1FVSVpBVE1QVF9JTkYiIHZhbHVlPSLnhKHliLbpmZAiLz4NCgkJPHVpdGV4dCBuYW1lPSJRVUlaUE9EX1FVRVNBVE1QVF9JTkYiIHZhbHVlPSLnhKHliLbpmZAiLz4NCgkJPHVpdGV4dCBuYW1lPSJXQVJOSU5HTVNHX1lFU1NUUklORyIgdmFsdWU9IuOBr+OBhCIvPg0KCQk8dWl0ZXh0IG5hbWU9IldBUk5JTkdNU0dfTk9TVFJJTkciIHZhbHVlPSLjgYTjgYTjgYgiLz4NCgkJPHVpdGV4dCBuYW1lPSJXQVJOSU5HTVNHX1RJVExFU1RSSU5HIiB2YWx1ZT0i44Kv44Kk44K644Gu44OK44OT44Ky44O844K344On44Oz44Gr6Zai44GZ44KL6K2m5ZGKIi8+DQoJCTx1aXRleHQgbmFtZT0iV0FSTklOR01TR19NU0dTVFJJTkciIHZhbHVlPSLjgZPjga7jgq/jgqTjgrrjgavjga/jgIHjgb7jgaDop6PnrZTjgZfjgabjgYTjgarjgYTos6rllY/jgYzjgYLjgorjgb7jgZnjgIImI3hBOyYjeEE7IOOCr+OCpOOCuuOCkue1guS6huOBmeOCi+OBq+OBr+OAgeOAjOOBr+OBhOOAjeOCkuOCr+ODquODg+OCr+OBl+OBvuOBmeOAguOCr+OCpOOCuuOCkue2muihjOOBmeOCi+OBq+OBr+OAgeOAjOOBhOOBhOOBiOOAjeOCkuOCr+ODquODg+OCr+OBl+OBvuOBmeOAgiIvPg0KCQk8dWl0ZXh0IG5hbWU9IklORk9STUFUSU9OX0gyNjRfRkxBU0hQTEFZRVIiIHZhbHVlPSLjgYrkvb/jgYTjga7jgrPjg7Pjg5Tjg6Xjg7zjgr/jgavnj77lnKjjgqTjg7Pjgrnjg4jjg7zjg6vjgZXjgozjgabjgYTjgosgRmxhc2ggUGxheWVyIOOBruODkOODvOOCuOODp+ODs+OBr+OAgeOBk+OBruODk+ODh+OCquOCkuOCteODneODvOODiOOBl+OBpuOBhOOBvuOBm+OCk+OAguacgOaWsOOBriBGbGFzaCBQbGF5ZXIg44KS44OA44Km44Oz44Ot44O844OJ44GZ44KL44Gr44Gv44CB44OT44OH44Kq6aCY5Z+f44KS44Kv44Oq44OD44Kv44GX44Gm44GP44Gg44GV44GE44CC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OCteOCpOODieODkOODvOOCkuWPguWKoOiAheOBq+imi+OBm+OCiyIvPg0KCQk8dWl0ZXh0IG5hbWU9Ik1VVEUiIHZhbHVlPSLjg5/jg6Xjg7zjg4giLz4NCgkJPHVpdGV4dCBuYW1lPSJET0NXUkFQX1RJVExFIiB2YWx1ZT0iUHJlc2VudGVyIOa3u+S7mOODleOCoeOCpOODqyIvPg0KCQk8dWl0ZXh0IG5hbWU9IkRPQ1dSQVBfTVNHIiB2YWx1ZT0i44Oe44Kk44Kz44Oz44OU44Ol44O844K/44Gr5L+d5a2YIi8+DQoJCTx1aXRleHQgbmFtZT0iRE9DV1JBUF9QUk9NUFQiIHZhbHVlPSLjgq/jg6rjg4Pjgq/jgZfjgabjg4Djgqbjg7Pjg63jg7zjg4kiLz4NCgk8L2xhbmd1YWdlPg0KCTxsYW5ndWFnZSBpZD0ia28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S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S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uyKrOudvOydtOuTnCAlbiIvPg0KCQk8IS0tIHN1YnN0aXR1dGlvbjogJW4gPT0gc2xpZGUgbnVtYmVyIC0tPg0KCQk8IS0tIHN1YnN0aXR1dGlvbjogJXQgPT0gdG90YWwgc2xpZGUgY291bnQgLS0+DQoJCTx1aXRleHQgbmFtZT0iU0NSVUJCQVJTVEFUVVNfU0xJREVJTkZPIiB2YWx1ZT0i7Iqs65287J2065OcICVuIC8gJXQgfCAiLz4NCgkJPHVpdGV4dCBuYW1lPSJTQ1JVQkJBUlNUQVRVU19TVE9QUEVEIiB2YWx1ZT0i7KSR7KeA65CoIi8+DQoJCTx1aXRleHQgbmFtZT0iU0NSVUJCQVJTVEFUVVNfUExBWUlORyIgdmFsdWU9IuyerOyDnSIvPg0KCQk8dWl0ZXh0IG5hbWU9IlNDUlVCQkFSU1RBVFVTX05PQVVESU8iIHZhbHVlPSLsmKTrlJTsmKQg7JeG7J2MIi8+DQoJCTx1aXRleHQgbmFtZT0iU0NSVUJCQVJTVEFUVVNfVklEUExBWUlORyIgdmFsdWU9Iuu5hOuUlOyYpCDsnqzsg50g7KSRIi8+DQoJCTx1aXRleHQgbmFtZT0iU0NSVUJCQVJTVEFUVVNfTE9BRElORyIgdmFsdWU9IuuhnOuUqSIvPg0KCQk8dWl0ZXh0IG5hbWU9IlNDUlVCQkFSU1RBVFVTX0JVRkZFUklORyIgdmFsdWU9IuuyhO2NvOungSIvPg0KCQk8dWl0ZXh0IG5hbWU9IlNDUlVCQkFSU1RBVFVTX1FVRVNUSU9OIiB2YWx1ZT0i7KeI66y47JeQIOuLte2VmOq4sCIvPg0KCQk8dWl0ZXh0IG5hbWU9IlNDUlVCQkFSU1RBVFVTX1JFVklFV1FVSVoiIHZhbHVlPSLsp4jrrLgg64uk7Iuc67O06riwIi8+DQoJCTwhLS0gc3Vic3RpdHV0aW9uOiAlbSA9PSBtaW51dGVzIHJlbWFpbmluZyAtLT4NCgkJPCEtLSBzdWJzdGl0dXRpb246ICVzID09IHNlY29uZHMgcmVtYWluaW5nIC0tPg0KCQk8dWl0ZXh0IG5hbWU9IkVMQVBTRUQiIHZhbHVlPSIlbeu2hCAlc+y0iCDrgqjsnYwiLz4NCgkJPHVpdGV4dCBuYW1lPSJOT1RGT1VORCIgdmFsdWU9IuyXhuydjCIvPg0KCQk8dWl0ZXh0IG5hbWU9IkFUVEFDSE1FTlRTIiB2YWx1ZT0i7LKo67aAIO2MjOydvCIvPg0KCQk8IS0tIHN1YnN0aXR1dGlvbjogJXAgPT0gY3VycmVudCBzcGVha2VyJ3MgdGl0bGUgLS0+DQoJCTx1aXRleHQgbmFtZT0iQklPV0lOX1RJVExFIiB2YWx1ZT0i6rK966ClIOyGjOqwnDogJXAiLz4NCgkJPHVpdGV4dCBuYW1lPSJCSU9CVE5fVElUTEUiIHZhbHVlPSLqsr3roKUg7IaM6rCcIi8+DQoJCTx1aXRleHQgbmFtZT0iRElWSURFUkJUTl9USVRMRSIgdmFsdWU9InwiLz4NCgkJPHVpdGV4dCBuYW1lPSJDT05UQUNUQlROX1RJVExFIiB2YWx1ZT0i7Jew65297LKYIi8+DQoJCTx1aXRleHQgbmFtZT0iVEFCX1FVSVoiIHZhbHVlPSLtgLTspogiLz4NCgkJPHVpdGV4dCBuYW1lPSJUQUJfT1VUTElORSIgdmFsdWU9IuqwnOyalCIvPg0KCQk8dWl0ZXh0IG5hbWU9IlRBQl9USFVNQiIgdmFsdWU9Iuy2leyGjO2MkCIvPg0KCQk8dWl0ZXh0IG5hbWU9IlRBQl9OT1RFUyIgdmFsdWU9IuuFuO2KuCIvPg0KCQk8dWl0ZXh0IG5hbWU9IlRBQl9TRUFSQ0giIHZhbHVlPSLqsoDsg4kiLz4NCgkJPHVpdGV4dCBuYW1lPSJTTElERV9IRUFESU5HIiB2YWx1ZT0i7Iqs65287J2065OcIOygnOuqqSIvPg0KCQk8dWl0ZXh0IG5hbWU9IkRVUkFUSU9OX0hFQURJTkciIHZhbHVlPSLsnqzsg53si5zqsIQiLz4NCgkJPHVpdGV4dCBuYW1lPSJTRUFSQ0hfSEVBRElORyIgdmFsdWU9Iu2FjeyKpO2KuCDqsoDsg4k6Ii8+DQoJCTx1aXRleHQgbmFtZT0iVEhVTUJfSEVBRElORyIgdmFsdWU9IuyKrOudvOydtOuTnCIvPg0KCQk8dWl0ZXh0IG5hbWU9IlRIVU1CX0lORk8iIHZhbHVlPSLsoJzrqqkv7J6s7IOd7Iuc6rCEIi8+DQoJCTx1aXRleHQgbmFtZT0iQVRUQUNITkFNRV9IRUFESU5HIiB2YWx1ZT0i7YyM7J28IOydtOumhCIvPg0KCQk8dWl0ZXh0IG5hbWU9IkFUVEFDSFNJWkVfSEVBRElORyIgdmFsdWU9Iu2BrOq4sCIvPg0KCQk8dWl0ZXh0IG5hbWU9IlNMSURFX05PVEVTIiB2YWx1ZT0i7Iqs65287J2065OcIOuFuO2KuCIvPg0KCQk8IS0tcXVpeiBwb2QgYW5kIG1lc3NhZ2UgYm94IHRleHRzLS0+DQoJCTx1aXRleHQgbmFtZT0iUVVJWlBPRF9RVUlaX0FUVEVNUFQiIHZhbHVlPSLtgLTspogg7Iuc64+EIO2an+yImDoiLz4NCgkJPHVpdGV4dCBuYW1lPSJRVUlaUE9EX1FVSVpfQVRURU1QVF9WQUxVRSIgdmFsdWU9IiVuLyV0Ii8+DQoJCTx1aXRleHQgbmFtZT0iUVVJWlBPRF9RVUlaX1NDT1JFIiB2YWx1ZT0i65Od7KCQOiIvPg0KCQk8dWl0ZXh0IG5hbWU9IlFVSVpQT0RfUVVJWl9QQVNTU0NPUkUiIHZhbHVlPSLthrXqs7wg7KCQ7IiYOiIvPg0KCQk8dWl0ZXh0IG5hbWU9IlFVSVpQT0RfUVVJWl9NQVhTQ09SRSIgdmFsdWU9Iuy1nOqzoCDsoJDsiJg6Ii8+DQoJCTx1aXRleHQgbmFtZT0iUVVJWlBPRF9RVUVTQVRNUFRfU1RSIiB2YWx1ZT0i7Iuc64+EIO2an+yImDogJW4vJXQiLz4NCgkJPHVpdGV4dCBuYW1lPSJRVUlaUE9EX1FVRVNUWVBFX1NUUiIgdmFsdWU9IuycoO2YlTogJXMiLz4NCgkJPHVpdGV4dCBuYW1lPSJRVUlaUE9EX1FVRVNUWVBFX0dSRCIgdmFsdWU9IuygkOyImCDrp6TquLDquLAg7JmE66OMIi8+DQoJCTx1aXRleHQgbmFtZT0iUVVJWlBPRF9RVUVTVFlQRV9TVlkiIHZhbHVlPSLshKTrrLgg7KGw7IKsIi8+DQoJCTx1aXRleHQgbmFtZT0iUVVJWlBPRF9RVUlaQVRNUFRfSU5GIiB2YWx1ZT0i66y07ZWcIi8+DQoJCTx1aXRleHQgbmFtZT0iUVVJWlBPRF9RVUVTQVRNUFRfSU5GIiB2YWx1ZT0i66y07ZWcIi8+DQoJCTx1aXRleHQgbmFtZT0iV0FSTklOR01TR19ZRVNTVFJJTkciIHZhbHVlPSLsmIgiLz4NCgkJPHVpdGV4dCBuYW1lPSJXQVJOSU5HTVNHX05PU1RSSU5HIiB2YWx1ZT0i7JWE64uI7JikIi8+DQoJCTx1aXRleHQgbmFtZT0iV0FSTklOR01TR19USVRMRVNUUklORyIgdmFsdWU9Iu2AtOymiCDrgrTruYTqsozsnbTshZgg6rK96rOgIi8+DQoJCTx1aXRleHQgbmFtZT0iV0FSTklOR01TR19NU0dTVFJJTkciIHZhbHVlPSLsnbQg7YC07KaI7JeQ7IScIOyLnOuPhO2VmOyngCDslYrsnYAg7KeI66y47J20IOyeiOyKteuLiOuLpC4mI3hBOyYjeEE77YC07KaI66W8IOyiheujjO2VmOugpOuptCBb7JiIXeulvCDtgbTrpq3tlZjqs6AsIO2AtOymiOulvCDqs4Tsho3tlZjroKTrqbQgW+yVhOuLiOyYpF3rpbwg7YG066at7ZWY7Iut7Iuc7JikLiIvPg0KCQk8dWl0ZXh0IG5hbWU9IklORk9STUFUSU9OX0gyNjRfRkxBU0hQTEFZRVIiIHZhbHVlPSLsi5zsiqTthZzsl5Ag7ISk7LmY65CY7Ja0IOyeiOuKlCDtmITsnqwg67KE7KCE7J2YIEZsYXNoIFBsYXllcuuKlCDsnbQg67mE65SU7Jik66W8IOyngOybkO2VmOyngCDslYrsirXri4jri6QuIOy1nOyLoCBGbGFzaCBQbGF5ZXLrpbwg64uk7Jq066Gc65Oc7ZWY66Ck66m0IOu5hOuUlOyYpCDsmIHsl63snYQg7YG066at7ZWY7Iut7Iuc7Jik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ssLjsl6zsnpDsl5Dqsowg7IS466GcIOunieuMgCDrs7TsnbTquLAiLz4NCgkJPHVpdGV4dCBuYW1lPSJNVVRFIiB2YWx1ZT0i7J2M7IaM6rGwIi8+DQoJCTx1aXRleHQgbmFtZT0iRE9DV1JBUF9USVRMRSIgdmFsdWU9IlByZXNlbnRlciDtjIzsnbwg7LKo67aAIi8+DQoJCTx1aXRleHQgbmFtZT0iRE9DV1JBUF9NU0ciIHZhbHVlPSLrgrQg7Lu07ZOo7YSw7JeQIOyggOyepSIvPg0KCQk8dWl0ZXh0IG5hbWU9IkRPQ1dSQVBfUFJPTVBUIiB2YWx1ZT0i7YG066at7ZWY7JesIOuLpOyatOuhnOuTnCIvPg0KCTwvbGFuZ3VhZ2U+DQoJPGxhbmd1YWdlIGlkPSJlcy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Fwb3NpdGl2YSAlbiIvPg0KCQk8IS0tIHN1YnN0aXR1dGlvbjogJW4gPT0gc2xpZGUgbnVtYmVyIC0tPg0KCQk8IS0tIHN1YnN0aXR1dGlvbjogJXQgPT0gdG90YWwgc2xpZGUgY291bnQgLS0+DQoJCTx1aXRleHQgbmFtZT0iU0NSVUJCQVJTVEFUVVNfU0xJREVJTkZPIiB2YWx1ZT0iRGlhcG9zaXRpdmEgJW4gLyAldCB8ICIvPg0KCQk8dWl0ZXh0IG5hbWU9IlNDUlVCQkFSU1RBVFVTX1NUT1BQRUQiIHZhbHVlPSJEZXRlbmlkYSIvPg0KCQk8dWl0ZXh0IG5hbWU9IlNDUlVCQkFSU1RBVFVTX1BMQVlJTkciIHZhbHVlPSJSZXByb2R1Y2llbmRvIi8+DQoJCTx1aXRleHQgbmFtZT0iU0NSVUJCQVJTVEFUVVNfTk9BVURJTyIgdmFsdWU9IlNpbiBzb25pZG8iLz4NCgkJPHVpdGV4dCBuYW1lPSJTQ1JVQkJBUlNUQVRVU19WSURQTEFZSU5HIiB2YWx1ZT0iVsOtZGVvIGVuIHJlcHJvZC4iLz4NCgkJPHVpdGV4dCBuYW1lPSJTQ1JVQkJBUlNUQVRVU19MT0FESU5HIiB2YWx1ZT0iQ2FyZ2FuZG8iLz4NCgkJPHVpdGV4dCBuYW1lPSJTQ1JVQkJBUlNUQVRVU19CVUZGRVJJTkciIHZhbHVlPSJBbG1hY2VuYW5kbyBlbiBiw7pmZXIiLz4NCgkJPHVpdGV4dCBuYW1lPSJTQ1JVQkJBUlNUQVRVU19RVUVTVElPTiIgdmFsdWU9IkNvbnRlc3RhciBwcmVndW50YSIvPg0KCQk8dWl0ZXh0IG5hbWU9IlNDUlVCQkFSU1RBVFVTX1JFVklFV1FVSVoiIHZhbHVlPSJSZXZpc2FuZG8gcHJ1ZWJhIi8+DQoJCTwhLS0gc3Vic3RpdHV0aW9uOiAlbSA9PSBtaW51dGVzIHJlbWFpbmluZyAtLT4NCgkJPCEtLSBzdWJzdGl0dXRpb246ICVzID09IHNlY29uZHMgcmVtYWluaW5nIC0tPg0KCQk8dWl0ZXh0IG5hbWU9IkVMQVBTRUQiIHZhbHVlPSIlbSBtaW51dG9zICVzIHNlZ3VuZG9zIHJlc3RhbnRlcyIvPg0KCQk8dWl0ZXh0IG5hbWU9Ik5PVEZPVU5EIiB2YWx1ZT0iTm8gc2UgaGEgZW5jb250cmFkbyBuYWRhIi8+DQoJCTx1aXRleHQgbmFtZT0iQVRUQUNITUVOVFMiIHZhbHVlPSJBcmNoaXZvcyBhZGp1bnRvcyIvPg0KCQk8IS0tIHN1YnN0aXR1dGlvbjogJXAgPT0gY3VycmVudCBzcGVha2VyJ3MgdGl0bGUgLS0+DQoJCTx1aXRleHQgbmFtZT0iQklPV0lOX1RJVExFIiB2YWx1ZT0iQmlvZ3JhZsOtYTogJXAiLz4NCgkJPHVpdGV4dCBuYW1lPSJCSU9CVE5fVElUTEUiIHZhbHVlPSJCaW9ncmFmw61hIi8+DQoJCTx1aXRleHQgbmFtZT0iRElWSURFUkJUTl9USVRMRSIgdmFsdWU9InwiLz4NCgkJPHVpdGV4dCBuYW1lPSJDT05UQUNUQlROX1RJVExFIiB2YWx1ZT0iQ29udGFjdG8iLz4NCgkJPHVpdGV4dCBuYW1lPSJUQUJfUVVJWiIgdmFsdWU9IlBydWViYSIvPg0KCQk8dWl0ZXh0IG5hbWU9IlRBQl9PVVRMSU5FIiB2YWx1ZT0iQ29udG9ybm8iLz4NCgkJPHVpdGV4dCBuYW1lPSJUQUJfVEhVTUIiIHZhbHVlPSJNaW5pYXQuIi8+DQoJCTx1aXRleHQgbmFtZT0iVEFCX05PVEVTIiB2YWx1ZT0iTm90YXMiLz4NCgkJPHVpdGV4dCBuYW1lPSJUQUJfU0VBUkNIIiB2YWx1ZT0iQnVzY2FyIi8+DQoJCTx1aXRleHQgbmFtZT0iU0xJREVfSEVBRElORyIgdmFsdWU9IlTDrXR1bG8gZGUgZGlhcG9zaXRpdmEiLz4NCgkJPHVpdGV4dCBuYW1lPSJEVVJBVElPTl9IRUFESU5HIiB2YWx1ZT0iRHVyYWMuIi8+DQoJCTx1aXRleHQgbmFtZT0iU0VBUkNIX0hFQURJTkciIHZhbHVlPSJCdXNjYXIgdGV4dG86Ii8+DQoJCTx1aXRleHQgbmFtZT0iVEhVTUJfSEVBRElORyIgdmFsdWU9IkRpYXBvc2l0aXZhIi8+DQoJCTx1aXRleHQgbmFtZT0iVEhVTUJfSU5GTyIgdmFsdWU9IkR1ci4vVMOtdC4gZGlhcC4iLz4NCgkJPHVpdGV4dCBuYW1lPSJBVFRBQ0hOQU1FX0hFQURJTkciIHZhbHVlPSJOb21icmUgZGUgYXJjaGl2byIvPg0KCQk8dWl0ZXh0IG5hbWU9IkFUVEFDSFNJWkVfSEVBRElORyIgdmFsdWU9IlRhbWHDsW8iLz4NCgkJPHVpdGV4dCBuYW1lPSJTTElERV9OT1RFUyIgdmFsdWU9Ik5vdGFzIGRlIGRpYXBvc2l0aXZhIi8+DQoJCTwhLS1xdWl6IHBvZCBhbmQgbWVzc2FnZSBib3ggdGV4dHMtLT4NCgkJPHVpdGV4dCBuYW1lPSJRVUlaUE9EX1FVSVpfQVRURU1QVCIgdmFsdWU9IkludGVudG8gZGUgcHJ1ZWJhOiIvPg0KCQk8dWl0ZXh0IG5hbWU9IlFVSVpQT0RfUVVJWl9BVFRFTVBUX1ZBTFVFIiB2YWx1ZT0iJW4gZGUgJXQiLz4NCgkJPHVpdGV4dCBuYW1lPSJRVUlaUE9EX1FVSVpfU0NPUkUiIHZhbHVlPSJQdW50dWFjacOzbjoiLz4NCgkJPHVpdGV4dCBuYW1lPSJRVUlaUE9EX1FVSVpfUEFTU1NDT1JFIiB2YWx1ZT0iUHVudHVhY2nDs24gcGFyYSBhcHJvYmFyOiIvPg0KCQk8dWl0ZXh0IG5hbWU9IlFVSVpQT0RfUVVJWl9NQVhTQ09SRSIgdmFsdWU9IlB1bnR1YWNpw7NuIG3DoXhpbWE6Ii8+DQoJCTx1aXRleHQgbmFtZT0iUVVJWlBPRF9RVUVTQVRNUFRfU1RSIiB2YWx1ZT0iSW50ZW50b3M6ICVuIGRlICV0Ii8+DQoJCTx1aXRleHQgbmFtZT0iUVVJWlBPRF9RVUVTVFlQRV9TVFIiIHZhbHVlPSJUaXBvOiAlcyIvPg0KCQk8dWl0ZXh0IG5hbWU9IlFVSVpQT0RfUVVFU1RZUEVfR1JEIiB2YWx1ZT0iQ29uIHB1bnR1YWNpw7NuIi8+DQoJCTx1aXRleHQgbmFtZT0iUVVJWlBPRF9RVUVTVFlQRV9TVlkiIHZhbHVlPSJFbmN1ZXN0YSIvPg0KCQk8dWl0ZXh0IG5hbWU9IlFVSVpQT0RfUVVJWkFUTVBUX0lORiIgdmFsdWU9IkluZmluaXRvIi8+DQoJCTx1aXRleHQgbmFtZT0iUVVJWlBPRF9RVUVTQVRNUFRfSU5GIiB2YWx1ZT0iSW5maW5pdG8iLz4NCgkJPHVpdGV4dCBuYW1lPSJXQVJOSU5HTVNHX1lFU1NUUklORyIgdmFsdWU9IlPDrSIvPg0KCQk8dWl0ZXh0IG5hbWU9IldBUk5JTkdNU0dfTk9TVFJJTkciIHZhbHVlPSJObyIvPg0KCQk8dWl0ZXh0IG5hbWU9IldBUk5JTkdNU0dfVElUTEVTVFJJTkciIHZhbHVlPSJBdmlzbyBkZSBuYXZlZ2FjacOzbiBkZSBwcnVlYmEiLz4NCgkJPHVpdGV4dCBuYW1lPSJXQVJOSU5HTVNHX01TR1NUUklORyIgdmFsdWU9IkhheSBwcmVndW50YXMgc2luIGludGVudG9zIGVuIGVzdGEgcHJ1ZWJhLiYjeEE7JiN4QTtQYXJhIHNhbGlyIGRlIGxhIHBydWViYSwgaGFnYSBjbGljIGVuIFPDrS4gUGFyYSBjb250aW51YXIsIGhhZ2EgY2xpYyBlbiBOby4iLz4NCgkJPHVpdGV4dCBuYW1lPSJJTkZPUk1BVElPTl9IMjY0X0ZMQVNIUExBWUVSIiB2YWx1ZT0iTGEgdmVyc2nDs24gYWN0dWFsIGRlIEZsYXNoIFBsYXllciBpbnN0YWxhZGEgZW4gZWwgb3JkZW5hZG9yIG5vIGVzIGNvbXBhdGlibGUgY29uIGVzdGUgdsOtZGVvLiBIYWdhIGNsaWMgZW4gZWwgw6FyZWEgZGUgdsOtZGVvIHBhcmEgZGVzY2FyZ2FyIGxhIMO6bHRpbWEgdmVyc2nDs24gZGUgRmxhc2ggUGxheWVyLiIvPg0KCQk8IS0tIHN1YnN0aXR1dGlvbjogJXAgPT0gcHJlc2VudGF0aW9uIHRpdGxlIC0tPg0KCQk8IS0tIHN1YnN0aXR1dGlvbjogJXMgPT0gc2xpZGUgdGl0bGUgLS0+DQoJCTwhLS0gc3Vic3RpdHV0aW9uOiAlbiA9PSBzbGlkZSBudW1iZXIgLS0+DQoJCTx1aXRleHQgbmFtZT0iQk9PS01BUksiIHZhbHVlPSJBZG9iZSBQcmVzZW50ZXI6ICVwIi8+DQoJCTwhLS0gc3Vic3RpdHV0aW9uOiAlcCA9PSBwcmVzZW50YXRpb24gdGl0bGUgLS0+DQoJCTwhLS0gc3Vic3RpdHV0aW9uOiAlcyA9PSBzbGlkZSB0aXRsZSAtLT4NCgkJPCEtLSBzdWJzdGl0dXRpb246ICVuID09IHNsaWRlIG51bWJlciAtLT4NCgkJPHVpdGV4dCBuYW1lPSJCT09LTUFSS1NMSURFIiB2YWx1ZT0iQWRvYmUgUHJlc2VudGVyOiAlcCAlcyIvPg0KCQk8dWl0ZXh0IG5hbWU9IlNIT1dTSURFQkFSIiB2YWx1ZT0iTW9zdHJhciBiYXJyYSBsYXRlcmFsIGEgbG9zIHBhcnRpY2lwYW50ZXMiLz4NCgkJPHVpdGV4dCBuYW1lPSJNVVRFIiB2YWx1ZT0iU2lsZW5jaWFyIi8+DQoJCTx1aXRleHQgbmFtZT0iRE9DV1JBUF9USVRMRSIgdmFsdWU9IkFyY2hpdm8gYWRqdW50byBkZSBQcmVzZW50ZXIiLz4NCgkJPHVpdGV4dCBuYW1lPSJET0NXUkFQX01TRyIgdmFsdWU9Ikd1YXJkYXIgZW4gTWkgUEMiLz4NCgkJPHVpdGV4dCBuYW1lPSJET0NXUkFQX1BST01QVCIgdmFsdWU9IkhhZ2EgY2xpYyBlbiBEZXNjYXJnYXIiLz4NCgk8L2xhbmd1YWdlPg0KCTxsYW5ndWFnZSBpZD0icHQ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whLS1xdWl6IHBvZCBhbmQgbWVzc2FnZSBib3ggdGV4dHMtLT4NCgkJPHVpdGV4dCBuYW1lPSJRVUlaUE9EX1FVSVpfQVRURU1QVCIgdmFsdWU9IlRlbnRhdGl2YSBubyBxdWVzdGlvbsOhcmlvOiIvPg0KCQk8dWl0ZXh0IG5hbWU9IlFVSVpQT0RfUVVJWl9BVFRFTVBUX1ZBTFVFIiB2YWx1ZT0iJW4gZGUgJXQiLz4NCgkJPHVpdGV4dCBuYW1lPSJRVUlaUE9EX1FVSVpfU0NPUkUiIHZhbHVlPSJQb250dWHDp8OjbzoiLz4NCgkJPHVpdGV4dCBuYW1lPSJRVUlaUE9EX1FVSVpfUEFTU1NDT1JFIiB2YWx1ZT0iUG9udHVhw6fDo28gZGUgYXByb3Zhw6fDo286Ii8+DQoJCTx1aXRleHQgbmFtZT0iUVVJWlBPRF9RVUlaX01BWFNDT1JFIiB2YWx1ZT0iUG9udHVhw6fDo28gbcOheGltYToiLz4NCgkJPHVpdGV4dCBuYW1lPSJRVUlaUE9EX1FVRVNBVE1QVF9TVFIiIHZhbHVlPSJUZW50YXRpdmE6ICVuIGRlICV0Ii8+DQoJCTx1aXRleHQgbmFtZT0iUVVJWlBPRF9RVUVTVFlQRV9TVFIiIHZhbHVlPSJUaXBvOiAlcyIvPg0KCQk8dWl0ZXh0IG5hbWU9IlFVSVpQT0RfUVVFU1RZUEVfR1JEIiB2YWx1ZT0iQ2xhc3NpZmljYXTDs3JpYSIvPg0KCQk8dWl0ZXh0IG5hbWU9IlFVSVpQT0RfUVVFU1RZUEVfU1ZZIiB2YWx1ZT0iUGVzcXVpc2EiLz4NCgkJPHVpdGV4dCBuYW1lPSJRVUlaUE9EX1FVSVpBVE1QVF9JTkYiIHZhbHVlPSJJbmZpbml0byIvPg0KCQk8dWl0ZXh0IG5hbWU9IlFVSVpQT0RfUVVFU0FUTVBUX0lORiIgdmFsdWU9IkluZmluaXRvIi8+DQoJCTx1aXRleHQgbmFtZT0iV0FSTklOR01TR19ZRVNTVFJJTkciIHZhbHVlPSJTaW0iLz4NCgkJPHVpdGV4dCBuYW1lPSJXQVJOSU5HTVNHX05PU1RSSU5HIiB2YWx1ZT0iTsOjbyIvPg0KCQk8dWl0ZXh0IG5hbWU9IldBUk5JTkdNU0dfVElUTEVTVFJJTkciIHZhbHVlPSJBbGVydGEgZGUgbmF2ZWdhw6fDo28gZG8gcXVlc3Rpb27DoXJpbyIvPg0KCQk8dWl0ZXh0IG5hbWU9IldBUk5JTkdNU0dfTVNHU1RSSU5HIiB2YWx1ZT0iRXhpc3RlbSBwZXJndW50YXMgcXVlIG7Do28gZm9yYW0gcmVzcG9uZGlkYXMgbmVzdGUgcXVlc3Rpb27DoXJpby4mI3hBOyYjeEE7Q2xpcXVlIGVtIFNpbSBwYXJhIHNhaXIgZG8gcXVlc3Rpb27DoXJpbyBvdSBlbSBOw6NvIHNlIHF1aXNlciBjb250aW51YXIuIi8+DQoJCTx1aXRleHQgbmFtZT0iSU5GT1JNQVRJT05fSDI2NF9GTEFTSFBMQVlFUiIgdmFsdWU9IkEgdmVyc8OjbyBhdHVhbCBkbyBGbGFzaCBQbGF5ZXIgaW5zdGFsYWRhIG5vIGNvbXB1dGFkb3IgbsOjbyBvZmVyZWNlIHN1cG9ydGUgYSBlc3NlIHbDrWRlby4gQ2xpcXVlIG5hIMOhcmVhIGRvIHbDrWRlbyBwYXJhIGJhaXhhciBhIHZlcnPDo28gbWFpcyByZWNlbnRlIGRv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TW9zdHJhciBiYXJyYSBsYXRlcmFsIGFvIHBhcnRpY2lwYW50ZXMiLz4NCgkJPHVpdGV4dCBuYW1lPSJNVVRFIiB2YWx1ZT0iTXVkbyIvPg0KCQk8dWl0ZXh0IG5hbWU9IkRPQ1dSQVBfVElUTEUiIHZhbHVlPSJBbmV4byBkZSBhcnF1aXZvIGRvIFByZXNlbnRlciIvPg0KCQk8dWl0ZXh0IG5hbWU9IkRPQ1dSQVBfTVNHIiB2YWx1ZT0iU2FsdmFyIGVtIE1ldSBjb21wdXRhZG9yIi8+DQoJCTx1aXRleHQgbmFtZT0iRE9DV1JBUF9QUk9NUFQiIHZhbHVlPSJDbGlxdWUgcGFyYSBiYWl4YXIiLz4NCgk8L2xhbmd1YWdlPg0KCTxsYW5ndWFnZSBpZD0iaXQ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SW50ZXJyb3R0byIvPg0KCQk8dWl0ZXh0IG5hbWU9IlNDUlVCQkFSU1RBVFVTX1BMQVlJTkciIHZhbHVlPSJSaXByb2R1emlvbmUiLz4NCgkJPHVpdGV4dCBuYW1lPSJTQ1JVQkJBUlNUQVRVU19OT0FVRElPIiB2YWx1ZT0iQXVkaW8gaW5hdHQuIi8+DQoJCTx1aXRleHQgbmFtZT0iU0NSVUJCQVJTVEFUVVNfVklEUExBWUlORyIgdmFsdWU9IlZpZGVvIGluIHJpcHJvZHV6aW9uZSIvPg0KCQk8dWl0ZXh0IG5hbWU9IlNDUlVCQkFSU1RBVFVTX0xPQURJTkciIHZhbHVlPSJDYXJpY2FtZW50byIvPg0KCQk8dWl0ZXh0IG5hbWU9IlNDUlVCQkFSU1RBVFVTX0JVRkZFUklORyIgdmFsdWU9IkJ1ZmZlcmluZyIvPg0KCQk8dWl0ZXh0IG5hbWU9IlNDUlVCQkFSU1RBVFVTX1FVRVNUSU9OIiB2YWx1ZT0iUmlzcG9uZGkgYSBkb21hbmRhIi8+DQoJCTx1aXRleHQgbmFtZT0iU0NSVUJCQVJTVEFUVVNfUkVWSUVXUVVJWiIgdmFsdWU9IlJldmlzaW9uZSBkZWwgcXVpeiIvPg0KCQk8IS0tIHN1YnN0aXR1dGlvbjogJW0gPT0gbWludXRlcyByZW1haW5pbmcgLS0+DQoJCTwhLS0gc3Vic3RpdHV0aW9uOiAlcyA9PSBzZWNvbmRzIHJlbWFpbmluZyAtLT4NCgkJPHVpdGV4dCBuYW1lPSJFTEFQU0VEIiB2YWx1ZT0iJW0gTWludXRpICVzIFNlY29uZGkgcmltYW5lbnRpIi8+DQoJCTx1aXRleHQgbmFtZT0iTk9URk9VTkQiIHZhbHVlPSJOZXNzdW4gZWxlbWVudG8gdHJvdmF0byIvPg0KCQk8dWl0ZXh0IG5hbWU9IkFUVEFDSE1FTlRTIiB2YWx1ZT0iQWxsZWdhdGk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LiIvPg0KCQk8dWl0ZXh0IG5hbWU9IlRBQl9RVUlaIiB2YWx1ZT0iUXVpeiIvPg0KCQk8dWl0ZXh0IG5hbWU9IlRBQl9PVVRMSU5FIiB2YWx1ZT0iU3RydXR0dXJhIi8+DQoJCTx1aXRleHQgbmFtZT0iVEFCX1RIVU1CIiB2YWx1ZT0iTWluaWF0dXJlIi8+DQoJCTx1aXRleHQgbmFtZT0iVEFCX05PVEVTIiB2YWx1ZT0iTm90ZSIvPg0KCQk8dWl0ZXh0IG5hbWU9IlRBQl9TRUFSQ0giIHZhbHVlPSJDZXJjYSIvPg0KCQk8dWl0ZXh0IG5hbWU9IlNMSURFX0hFQURJTkciIHZhbHVlPSJUaXRvbG8gZGlhcG9zaXRpdmEiLz4NCgkJPHVpdGV4dCBuYW1lPSJEVVJBVElPTl9IRUFESU5HIiB2YWx1ZT0iRHVyYXRhIi8+DQoJCTx1aXRleHQgbmFtZT0iU0VBUkNIX0hFQURJTkciIHZhbHVlPSJDZXJjYSB0ZXN0bzoiLz4NCgkJPHVpdGV4dCBuYW1lPSJUSFVNQl9IRUFESU5HIiB2YWx1ZT0iRGlhcG9zaXRpdmEiLz4NCgkJPHVpdGV4dCBuYW1lPSJUSFVNQl9JTkZPIiB2YWx1ZT0iVGl0b2xvL1RlbXBvIi8+DQoJCTx1aXRleHQgbmFtZT0iQVRUQUNITkFNRV9IRUFESU5HIiB2YWx1ZT0iTm9tZSBmaWxlIi8+DQoJCTx1aXRleHQgbmFtZT0iQVRUQUNIU0laRV9IRUFESU5HIiB2YWx1ZT0iRGltZW5zaW9uZSIvPg0KCQk8dWl0ZXh0IG5hbWU9IlNMSURFX05PVEVTIiB2YWx1ZT0iTm90ZSBkaWFwb3NpdGl2YSIvPg0KCQk8IS0tcXVpeiBwb2QgYW5kIG1lc3NhZ2UgYm94IHRleHRzLS0+DQoJCTx1aXRleHQgbmFtZT0iUVVJWlBPRF9RVUlaX0FUVEVNUFQiIHZhbHVlPSJUZW50YXRpdm8gcXVpejoiLz4NCgkJPHVpdGV4dCBuYW1lPSJRVUlaUE9EX1FVSVpfQVRURU1QVF9WQUxVRSIgdmFsdWU9IiVuIGRpICV0Ii8+DQoJCTx1aXRleHQgbmFtZT0iUVVJWlBPRF9RVUlaX1NDT1JFIiB2YWx1ZT0iUHVudGVnZ2lvOiIvPg0KCQk8dWl0ZXh0IG5hbWU9IlFVSVpQT0RfUVVJWl9QQVNTU0NPUkUiIHZhbHVlPSJQdW50ZWdnaW8gbWluaW1vOiIvPg0KCQk8dWl0ZXh0IG5hbWU9IlFVSVpQT0RfUVVJWl9NQVhTQ09SRSIgdmFsdWU9IlB1bnRlZ2dpbyBtYXNzaW1vOiIvPg0KCQk8dWl0ZXh0IG5hbWU9IlFVSVpQT0RfUVVFU0FUTVBUX1NUUiIgdmFsdWU9IlRlbnRhdGl2bzogJW4gZGkgJXQiLz4NCgkJPHVpdGV4dCBuYW1lPSJRVUlaUE9EX1FVRVNUWVBFX1NUUiIgdmFsdWU9IlRpcG86ICVzIi8+DQoJCTx1aXRleHQgbmFtZT0iUVVJWlBPRF9RVUVTVFlQRV9HUkQiIHZhbHVlPSJDb24gdmFsdXRhemlvbmUiLz4NCgkJPHVpdGV4dCBuYW1lPSJRVUlaUE9EX1FVRVNUWVBFX1NWWSIgdmFsdWU9IkluZGFnaW5lIi8+DQoJCTx1aXRleHQgbmFtZT0iUVVJWlBPRF9RVUlaQVRNUFRfSU5GIiB2YWx1ZT0iSW5maW5pdGkiLz4NCgkJPHVpdGV4dCBuYW1lPSJRVUlaUE9EX1FVRVNBVE1QVF9JTkYiIHZhbHVlPSJJbmZpbml0aSIvPg0KCQk8dWl0ZXh0IG5hbWU9IldBUk5JTkdNU0dfWUVTU1RSSU5HIiB2YWx1ZT0iU8OsIi8+DQoJCTx1aXRleHQgbmFtZT0iV0FSTklOR01TR19OT1NUUklORyIgdmFsdWU9Ik5vIi8+DQoJCTx1aXRleHQgbmFtZT0iV0FSTklOR01TR19USVRMRVNUUklORyIgdmFsdWU9IkF2dmVydGVuemEgbmF2aWdhemlvbmUgcXVpeiIvPg0KCQk8dWl0ZXh0IG5hbWU9IldBUk5JTkdNU0dfTVNHU1RSSU5HIiB2YWx1ZT0iT2Njb3JyZSBhbmNvcmEgcmlzcG9uZGVyZSBhZCBhbGN1bmUgZG9tYW5kZSBkZWwgcXVpei4mI3hBOyYjeEE7U2UgZmF0ZSBjbGljIHN1IFPDrCwgdXNjaXJldGUgZGFsIHF1aXouIEZhdGUgY2xpYyBzdSBObyBwZXIgY29udGludWFyZSBpbCBxdWl6LiIvPg0KCQk8dWl0ZXh0IG5hbWU9IklORk9STUFUSU9OX0gyNjRfRkxBU0hQTEFZRVIiIHZhbHVlPSJMYSB2ZXJzaW9uZSBkaSBGbGFzaCBQbGF5ZXIgYXR0dWFsbWVudGUgaW5zdGFsbGF0YSBub24gc3VwcG9ydGEgcXVlc3RvIHZpZGVvLiBGYXRlIGNsaWMgc3VsbCdhcmVhIGRlbCB2aWRlbyBwZXIgc2NhcmljYXJlIGwndWx0aW1hIHZlcnNpb25lIGRp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TW9zdHJhIGJhcnJhIGxhdGVyYWxlIGFpIHBhcnRlY2lwYW50aSIvPg0KCQk8dWl0ZXh0IG5hbWU9Ik1VVEUiIHZhbHVlPSJEaXNhdHRpdmEgYXVkaW8iLz4NCgkJPHVpdGV4dCBuYW1lPSJET0NXUkFQX1RJVExFIiB2YWx1ZT0iQWxsZWdhdG8gZmlsZSBQcmVzZW50ZXIiLz4NCgkJPHVpdGV4dCBuYW1lPSJET0NXUkFQX01TRyIgdmFsdWU9IlNhbHZhIGluIFJpc29yc2UgZGVsIGNvbXB1dGVyIi8+DQoJCTx1aXRleHQgbmFtZT0iRE9DV1JBUF9QUk9NUFQiIHZhbHVlPSJDbGljIHBlciBzY2FyaWNhcmUiLz4NCgk8L2xhbmd1YWdlPg0KCTxsYW5ndWFnZSBpZD0ibmw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ICVuIi8+DQoJCTwhLS0gc3Vic3RpdHV0aW9uOiAlbiA9PSBzbGlkZSBudW1iZXIgLS0+DQoJCTwhLS0gc3Vic3RpdHV0aW9uOiAldCA9PSB0b3RhbCBzbGlkZSBjb3VudCAtLT4NCgkJPHVpdGV4dCBuYW1lPSJTQ1JVQkJBUlNUQVRVU19TTElERUlORk8iIHZhbHVlPSJEaWEgJW4gLyAldCB8ICIvPg0KCQk8dWl0ZXh0IG5hbWU9IlNDUlVCQkFSU1RBVFVTX1NUT1BQRUQiIHZhbHVlPSJHZXN0b3B0Ii8+DQoJCTx1aXRleHQgbmFtZT0iU0NSVUJCQVJTVEFUVVNfUExBWUlORyIgdmFsdWU9IkFmc3BlbGVuIi8+DQoJCTx1aXRleHQgbmFtZT0iU0NSVUJCQVJTVEFUVVNfTk9BVURJTyIgdmFsdWU9IkdlZW4gYXVkaW8iLz4NCgkJPHVpdGV4dCBuYW1lPSJTQ1JVQkJBUlNUQVRVU19WSURQTEFZSU5HIiB2YWx1ZT0iVmlkZW8gYWZzcGVsZW4iLz4NCgkJPHVpdGV4dCBuYW1lPSJTQ1JVQkJBUlNUQVRVU19MT0FESU5HIiB2YWx1ZT0iTGFkZW4iLz4NCgkJPHVpdGV4dCBuYW1lPSJTQ1JVQkJBUlNUQVRVU19CVUZGRVJJTkciIHZhbHVlPSJCdWZmZXJlbiIvPg0KCQk8dWl0ZXh0IG5hbWU9IlNDUlVCQkFSU1RBVFVTX1FVRVNUSU9OIiB2YWx1ZT0iVnJhYWcgbWV0IGFudHdvb3JkIi8+DQoJCTx1aXRleHQgbmFtZT0iU0NSVUJCQVJTVEFUVVNfUkVWSUVXUVVJWiIgdmFsdWU9IlF1aXogY29udHJvbGVyZW4iLz4NCgkJPCEtLSBzdWJzdGl0dXRpb246ICVtID09IG1pbnV0ZXMgcmVtYWluaW5nIC0tPg0KCQk8IS0tIHN1YnN0aXR1dGlvbjogJXMgPT0gc2Vjb25kcyByZW1haW5pbmcgLS0+DQoJCTx1aXRleHQgbmFtZT0iRUxBUFNFRCIgdmFsdWU9IkVyIHJlc3RlcmVuICVtIG1pbnV0ZW4gJXMgc2Vjb25kZW4iLz4NCgkJPHVpdGV4dCBuYW1lPSJOT1RGT1VORCIgdmFsdWU9Ik5pZXRzIGdldm9uZGVuIi8+DQoJCTx1aXRleHQgbmFtZT0iQVRUQUNITUVOVFMiIHZhbHVlPSJCaWpsYWdlbiIvPg0KCQk8IS0tIHN1YnN0aXR1dGlvbjogJXAgPT0gY3VycmVudCBzcGVha2VyJ3MgdGl0bGUgLS0+DQoJCTx1aXRleHQgbmFtZT0iQklPV0lOX1RJVExFIiB2YWx1ZT0iQmlvZ3JhZmllOiAlcCIvPg0KCQk8dWl0ZXh0IG5hbWU9IkJJT0JUTl9USVRMRSIgdmFsdWU9IkJpb2dyYWZpZSIvPg0KCQk8dWl0ZXh0IG5hbWU9IkRJVklERVJCVE5fVElUTEUiIHZhbHVlPSJ8Ii8+DQoJCTx1aXRleHQgbmFtZT0iQ09OVEFDVEJUTl9USVRMRSIgdmFsdWU9IkNvbnRhY3QiLz4NCgkJPHVpdGV4dCBuYW1lPSJUQUJfUVVJWiIgdmFsdWU9IlF1aXoiLz4NCgkJPHVpdGV4dCBuYW1lPSJUQUJfT1VUTElORSIgdmFsdWU9Ik92ZXJ6aWNodCIvPg0KCQk8dWl0ZXh0IG5hbWU9IlRBQl9USFVNQiIgdmFsdWU9Ik1pbmlhdHV1ciIvPg0KCQk8dWl0ZXh0IG5hbWU9IlRBQl9OT1RFUyIgdmFsdWU9Ik5vdGl0aWVzIi8+DQoJCTx1aXRleHQgbmFtZT0iVEFCX1NFQVJDSCIgdmFsdWU9IlpvZWtlbiIvPg0KCQk8dWl0ZXh0IG5hbWU9IlNMSURFX0hFQURJTkciIHZhbHVlPSJUaXRlbCB2YW4gZGlhIi8+DQoJCTx1aXRleHQgbmFtZT0iRFVSQVRJT05fSEVBRElORyIgdmFsdWU9IkR1dXIiLz4NCgkJPHVpdGV4dCBuYW1lPSJTRUFSQ0hfSEVBRElORyIgdmFsdWU9IlpvZWtlbiBuYWFyIHRla3N0OiIvPg0KCQk8dWl0ZXh0IG5hbWU9IlRIVU1CX0hFQURJTkciIHZhbHVlPSJEaWEiLz4NCgkJPHVpdGV4dCBuYW1lPSJUSFVNQl9JTkZPIiB2YWx1ZT0iVGl0ZWwvZHV1ciB2YW4gZGlhIi8+DQoJCTx1aXRleHQgbmFtZT0iQVRUQUNITkFNRV9IRUFESU5HIiB2YWx1ZT0iQmVzdGFuZHNuYWFtIi8+DQoJCTx1aXRleHQgbmFtZT0iQVRUQUNIU0laRV9IRUFESU5HIiB2YWx1ZT0iR3Jvb3R0ZSIvPg0KCQk8dWl0ZXh0IG5hbWU9IlNMSURFX05PVEVTIiB2YWx1ZT0iRGlhbm90aXRpZXM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CEtLXF1aXogcG9kIGFuZCBtZXNzYWdlIGJveCB0ZXh0cy0tPg0KCQk8dWl0ZXh0IG5hbWU9IlFVSVpQT0RfUVVJWl9BVFRFTVBUIiB2YWx1ZT0i5rWL6aqM5bCd6K+V5qyh5pWwOiIvPg0KCQk8dWl0ZXh0IG5hbWU9IlFVSVpQT0RfUVVJWl9BVFRFTVBUX1ZBTFVFIiB2YWx1ZT0i56ysICVuIOasoe+8jOWFsSAldCDmrKEiLz4NCgkJPHVpdGV4dCBuYW1lPSJRVUlaUE9EX1FVSVpfU0NPUkUiIHZhbHVlPSLlvpfliIY6Ii8+DQoJCTx1aXRleHQgbmFtZT0iUVVJWlBPRF9RVUlaX1BBU1NTQ09SRSIgdmFsdWU9IuWPiuagvOWIhuaVsDoiLz4NCgkJPHVpdGV4dCBuYW1lPSJRVUlaUE9EX1FVSVpfTUFYU0NPUkUiIHZhbHVlPSLmnIDpq5jliIbmlbA6Ii8+DQoJCTx1aXRleHQgbmFtZT0iUVVJWlBPRF9RVUVTQVRNUFRfU1RSIiB2YWx1ZT0i5bCd6K+V5qyh5pWwOiDnrKwgJW4g5qyh77yM5YWxICV0IOasoSIvPg0KCQk8dWl0ZXh0IG5hbWU9IlFVSVpQT0RfUVVFU1RZUEVfU1RSIiB2YWx1ZT0i57G75Z6LOiAlcyIvPg0KCQk8dWl0ZXh0IG5hbWU9IlFVSVpQT0RfUVVFU1RZUEVfR1JEIiB2YWx1ZT0i6K+E57qnIi8+DQoJCTx1aXRleHQgbmFtZT0iUVVJWlBPRF9RVUVTVFlQRV9TVlkiIHZhbHVlPSLosIPmn6UiLz4NCgkJPHVpdGV4dCBuYW1lPSJRVUlaUE9EX1FVSVpBVE1QVF9JTkYiIHZhbHVlPSLml6DpmZAiLz4NCgkJPHVpdGV4dCBuYW1lPSJRVUlaUE9EX1FVRVNBVE1QVF9JTkYiIHZhbHVlPSLml6DpmZAiLz4NCgkJPHVpdGV4dCBuYW1lPSJXQVJOSU5HTVNHX1lFU1NUUklORyIgdmFsdWU9IuaYryIvPg0KCQk8dWl0ZXh0IG5hbWU9IldBUk5JTkdNU0dfTk9TVFJJTkciIHZhbHVlPSLlkKYiLz4NCgkJPHVpdGV4dCBuYW1lPSJXQVJOSU5HTVNHX1RJVExFU1RSSU5HIiB2YWx1ZT0i5rWL6aqM5a+86Iiq6K2m5ZGKIi8+DQoJCTx1aXRleHQgbmFtZT0iV0FSTklOR01TR19NU0dTVFJJTkciIHZhbHVlPSLmraTmtYvpqozkuK3mnInmnKrlsJ3or5XkvZznrZTnmoTpl67popjjgIImI3hBOyYjeEE75Y2V5Ye74oCc5piv4oCd6YCA5Ye65q2k5rWL6aqM44CC5Y2V5Ye74oCc5ZCm4oCd57un57ut5rWL6aqM44CCIi8+DQoJCTx1aXRleHQgbmFtZT0iSU5GT1JNQVRJT05fSDI2NF9GTEFTSFBMQVlFUiIgdmFsdWU9IuW9k+WJjeWuieijheWcqOaCqOeahOiuoeeul+acuuS4iueahCBGbGFzaCBQbGF5ZXIg54mI5pys5LiN5pSv5oyB6K+l6KeG6aKR44CC5Y2V5Ye76KeG6aKR5Yy65Z+f5LiL6L295pyA5paw54mI5pys55qEIEZsYXNoIFBsYXllcuOAg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lkJHlj4LliqDogIXmmL7npLrmj5DopoHmoI8iLz4NCgkJPHVpdGV4dCBuYW1lPSJNVVRFIiB2YWx1ZT0i6Z2Z6Z+zIi8+DQoJCTx1aXRleHQgbmFtZT0iRE9DV1JBUF9USVRMRSIgdmFsdWU9IlByZXNlbnRlciDmlofku7bpmYTku7YiLz4NCgkJPHVpdGV4dCBuYW1lPSJET0NXUkFQX01TRyIgdmFsdWU9IuS/neWtmOWIsOaIkeeahOiuoeeul+acuiIvPg0KCQk8dWl0ZXh0IG5hbWU9IkRPQ1dSQVBfUFJPTVBUIiB2YWx1ZT0i5Y2V5Ye75Lul5LiL6L29Ii8+DQoJPC9sYW5ndWFnZT4NCgk8bGFuZ3VhZ2UgaWQ9InRy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lNsYXl0ICVuIi8+DQoJCTwhLS0gc3Vic3RpdHV0aW9uOiAlbiA9PSBzbGlkZSBudW1iZXIgLS0+DQoJCTwhLS0gc3Vic3RpdHV0aW9uOiAldCA9PSB0b3RhbCBzbGlkZSBjb3VudCAtLT4NCgkJPHVpdGV4dCBuYW1lPSJTQ1JVQkJBUlNUQVRVU19TTElERUlORk8iIHZhbHVlPSJTbGF5dCAlbiAvICV0IHwgIi8+DQoJCTx1aXRleHQgbmFtZT0iU0NSVUJCQVJTVEFUVVNfU1RPUFBFRCIgdmFsdWU9IkR1cmR1cnVsZHUiLz4NCgkJPHVpdGV4dCBuYW1lPSJTQ1JVQkJBUlNUQVRVU19QTEFZSU5HIiB2YWx1ZT0iT3luYXTEsWzEsXlvciIvPg0KCQk8dWl0ZXh0IG5hbWU9IlNDUlVCQkFSU1RBVFVTX05PQVVESU8iIHZhbHVlPSJTZXMgWW9rIi8+DQoJCTx1aXRleHQgbmFtZT0iU0NSVUJCQVJTVEFUVVNfVklEUExBWUlORyIgdmFsdWU9IlZpZGVvIE95bmF0xLFsxLF5b3IiLz4NCgkJPHVpdGV4dCBuYW1lPSJTQ1JVQkJBUlNUQVRVU19MT0FESU5HIiB2YWx1ZT0iWcO8a2xlbml5b3IiLz4NCgkJPHVpdGV4dCBuYW1lPSJTQ1JVQkJBUlNUQVRVU19CVUZGRVJJTkciIHZhbHVlPSJBcmFiZWxsZcSfZSBBbMSxbsSxeW9yIi8+DQoJCTx1aXRleHQgbmFtZT0iU0NSVUJCQVJTVEFUVVNfUVVFU1RJT04iIHZhbHVlPSJTb3J1eXUgWWFuxLF0bGEiLz4NCgkJPHVpdGV4dCBuYW1lPSJTQ1JVQkJBUlNUQVRVU19SRVZJRVdRVUlaIiB2YWx1ZT0iU8SxbmF2IMSwbmNlbGVuaXlvciIvPg0KCQk8IS0tIHN1YnN0aXR1dGlvbjogJW0gPT0gbWludXRlcyByZW1haW5pbmcgLS0+DQoJCTwhLS0gc3Vic3RpdHV0aW9uOiAlcyA9PSBzZWNvbmRzIHJlbWFpbmluZyAtLT4NCgkJPHVpdGV4dCBuYW1lPSJFTEFQU0VEIiB2YWx1ZT0iJW0gRGFraWthICVzIFNhbml5ZSBLYWxkxLEiLz4NCgkJPHVpdGV4dCBuYW1lPSJOT1RGT1VORCIgdmFsdWU9IkhlcmhhbmdpIEJpciDFnmV5IEJ1bHVubWFkxLEiLz4NCgkJPHVpdGV4dCBuYW1lPSJBVFRBQ0hNRU5UUyIgdmFsdWU9IkVrbGVy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xLBydGliYXQiLz4NCgkJPHVpdGV4dCBuYW1lPSJUQUJfUVVJWiIgdmFsdWU9IlPEsW5hdiIvPg0KCQk8dWl0ZXh0IG5hbWU9IlRBQl9PVVRMSU5FIiB2YWx1ZT0iQW5hIEhhdCIvPg0KCQk8dWl0ZXh0IG5hbWU9IlRBQl9USFVNQiIgdmFsdWU9IlJlc2ltIi8+DQoJCTx1aXRleHQgbmFtZT0iVEFCX05PVEVTIiB2YWx1ZT0iTm90bGFyIi8+DQoJCTx1aXRleHQgbmFtZT0iVEFCX1NFQVJDSCIgdmFsdWU9IkFyYSIvPg0KCQk8dWl0ZXh0IG5hbWU9IlNMSURFX0hFQURJTkciIHZhbHVlPSJTbGF5dCBCYcWfbMSxxJ/EsSIvPg0KCQk8dWl0ZXh0IG5hbWU9IkRVUkFUSU9OX0hFQURJTkciIHZhbHVlPSJTw7xyZSIvPg0KCQk8dWl0ZXh0IG5hbWU9IlNFQVJDSF9IRUFESU5HIiB2YWx1ZT0iTWV0bmkgYXJhOiIvPg0KCQk8dWl0ZXh0IG5hbWU9IlRIVU1CX0hFQURJTkciIHZhbHVlPSJTbGF5dCIvPg0KCQk8dWl0ZXh0IG5hbWU9IlRIVU1CX0lORk8iIHZhbHVlPSJTbGF5dCBCYcWfbMSxxJ/EsS9Tw7xyZXNpIi8+DQoJCTx1aXRleHQgbmFtZT0iQVRUQUNITkFNRV9IRUFESU5HIiB2YWx1ZT0iRG9zeWEgQWTEsSIvPg0KCQk8dWl0ZXh0IG5hbWU9IkFUVEFDSFNJWkVfSEVBRElORyIgdmFsdWU9IkJveXV0Ii8+DQoJCTx1aXRleHQgbmFtZT0iU0xJREVfTk9URVMiIHZhbHVlPSJTbGF5dCBOb3RsYXLEsSIvPg0KCQk8IS0tcXVpeiBwb2QgYW5kIG1lc3NhZ2UgYm94IHRleHRzLS0+DQoJCTx1aXRleHQgbmFtZT0iUVVJWlBPRF9RVUlaX0FUVEVNUFQiIHZhbHVlPSJTxLFuYXYgRGVuZW1lc2k6Ii8+DQoJCTx1aXRleHQgbmFtZT0iUVVJWlBPRF9RVUlaX0FUVEVNUFRfVkFMVUUiIHZhbHVlPSIlbi8ldCIvPg0KCQk8dWl0ZXh0IG5hbWU9IlFVSVpQT0RfUVVJWl9TQ09SRSIgdmFsdWU9IlB1YW46Ii8+DQoJCTx1aXRleHQgbmFtZT0iUVVJWlBPRF9RVUlaX1BBU1NTQ09SRSIgdmFsdWU9Ikdlw6dtZSBQdWFuxLE6Ii8+DQoJCTx1aXRleHQgbmFtZT0iUVVJWlBPRF9RVUlaX01BWFNDT1JFIiB2YWx1ZT0iTWFrc2ltdW0gUHVhbjoiLz4NCgkJPHVpdGV4dCBuYW1lPSJRVUlaUE9EX1FVRVNBVE1QVF9TVFIiIHZhbHVlPSJEZW5lbWU6ICVuLyV0Ii8+DQoJCTx1aXRleHQgbmFtZT0iUVVJWlBPRF9RVUVTVFlQRV9TVFIiIHZhbHVlPSJUw7xyOiAlcyIvPg0KCQk8dWl0ZXh0IG5hbWU9IlFVSVpQT0RfUVVFU1RZUEVfR1JEIiB2YWx1ZT0iQmFzYW1ha2zEsSIvPg0KCQk8dWl0ZXh0IG5hbWU9IlFVSVpQT0RfUVVFU1RZUEVfU1ZZIiB2YWx1ZT0iQW5rZXQiLz4NCgkJPHVpdGV4dCBuYW1lPSJRVUlaUE9EX1FVSVpBVE1QVF9JTkYiIHZhbHVlPSJTxLFuxLFyc8SxeiIvPg0KCQk8dWl0ZXh0IG5hbWU9IlFVSVpQT0RfUVVFU0FUTVBUX0lORiIgdmFsdWU9IlPEsW7EsXJzxLF6Ii8+DQoJCTx1aXRleHQgbmFtZT0iV0FSTklOR01TR19ZRVNTVFJJTkciIHZhbHVlPSJFdmV0Ii8+DQoJCTx1aXRleHQgbmFtZT0iV0FSTklOR01TR19OT1NUUklORyIgdmFsdWU9IkhhecSxciIvPg0KCQk8dWl0ZXh0IG5hbWU9IldBUk5JTkdNU0dfVElUTEVTVFJJTkciIHZhbHVlPSJTxLFuYXYgR2V6aW5tZSBVeWFyxLFzxLEiLz4NCgkJPHVpdGV4dCBuYW1lPSJXQVJOSU5HTVNHX01TR1NUUklORyIgdmFsdWU9IkJ1IFPEsW5hdmRhIGRlbmVubWVtacWfIHNvcnVsYXIgdmFyLiYjeEE7JiN4QTtFdmV0IHNlw6dlbmXEn2luaSB0xLFrbGF0xLFyc2FuxLF6IFPEsW5hdmRhbiDDp8Sxa2FjYWtzxLFuxLF6LiBTxLFuYXZhIGRldmFtIGV0bWVrIGnDp2luIEhhecSxciBzZcOnZW5lxJ9pbmkgdMSxa2xhdMSxbi4iLz4NCgkJPHVpdGV4dCBuYW1lPSJJTkZPUk1BVElPTl9IMjY0X0ZMQVNIUExBWUVSIiB2YWx1ZT0iQmlsZ2lzYXlhcsSxbsSxemEgecO8a2zDvCBvbGFuIGdlw6dlcmxpIEZsYXNoIFBsYXllciBzw7xyw7xtw7wgYnUgdmlkZW95dSBkZXN0ZWtsZW1peW9yLiBFbiBzb24gRmxhc2ggUGxheWVyIHPDvHLDvG3DvG7DvCBpbmRpcm1layBpw6dpbiB2aWRlbyBhbGFuxLFuxLEgdMSxa2xhdMSx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S2F0xLFsxLFtY8SxbGFyYSBrZW5hciDDp3VidcSfdW51IGfDtnN0ZXIiLz4NCgkJPHVpdGV4dCBuYW1lPSJNVVRFIiB2YWx1ZT0iU2Vzc2l6Ii8+DQoJCTx1aXRleHQgbmFtZT0iRE9DV1JBUF9USVRMRSIgdmFsdWU9IlByZXNlbnRlciBEb3N5YSBFa2kiLz4NCgkJPHVpdGV4dCBuYW1lPSJET0NXUkFQX01TRyIgdmFsdWU9IkJpbGdpc2F5YXLEsW1hIEtheWRldCIvPg0KCQk8dWl0ZXh0IG5hbWU9IkRPQ1dSQVBfUFJPTVBUIiB2YWx1ZT0ixLBuZGlybWVrIGnDp2luIFTEsWtsYXTEsW4iLz4NCgk8L2xhbmd1YWdlPg0KCTxsYW5ndWFnZSBpZD0icn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0KHQu9Cw0LnQtCAlbiIvPg0KCQk8IS0tIHN1YnN0aXR1dGlvbjogJW4gPT0gc2xpZGUgbnVtYmVyIC0tPg0KCQk8IS0tIHN1YnN0aXR1dGlvbjogJXQgPT0gdG90YWwgc2xpZGUgY291bnQgLS0+DQoJCTx1aXRleHQgbmFtZT0iU0NSVUJCQVJTVEFUVVNfU0xJREVJTkZPIiB2YWx1ZT0i0KHQu9Cw0LnQtCAlbiAvICV0IHwgIi8+DQoJCTx1aXRleHQgbmFtZT0iU0NSVUJCQVJTVEFUVVNfU1RPUFBFRCIgdmFsdWU9ItCe0YHRgtCw0L3QvtCy0LvQtdC90L4iLz4NCgkJPHVpdGV4dCBuYW1lPSJTQ1JVQkJBUlNUQVRVU19QTEFZSU5HIiB2YWx1ZT0i0JLQvtGB0L/RgNC+0LjQt9Cy0LXQtNC10L3QuNC1Ii8+DQoJCTx1aXRleHQgbmFtZT0iU0NSVUJCQVJTVEFUVVNfTk9BVURJTyIgdmFsdWU9ItCd0LXRgiDQsNGD0LTQuNC+Ii8+DQoJCTx1aXRleHQgbmFtZT0iU0NSVUJCQVJTVEFUVVNfVklEUExBWUlORyIgdmFsdWU9ItCS0L7RgdC/0YDQvtC40LfQstC10LTQtdC90LjQtSDQstC40LTQtdC+Ii8+DQoJCTx1aXRleHQgbmFtZT0iU0NSVUJCQVJTVEFUVVNfTE9BRElORyIgdmFsdWU9ItCX0LDQs9GA0YPQt9C60LAiLz4NCgkJPHVpdGV4dCBuYW1lPSJTQ1JVQkJBUlNUQVRVU19CVUZGRVJJTkciIHZhbHVlPSLQkdGD0YTQtdGA0LjQt9Cw0YbQuNGPIi8+DQoJCTx1aXRleHQgbmFtZT0iU0NSVUJCQVJTVEFUVVNfUVVFU1RJT04iIHZhbHVlPSLQntGC0LLQtdGCINC90LAg0LLQvtC/0YDQvtGBIi8+DQoJCTx1aXRleHQgbmFtZT0iU0NSVUJCQVJTVEFUVVNfUkVWSUVXUVVJWiIgdmFsdWU9ItCe0LHQt9C+0YAg0L7Qv9GA0L7RgdCwIi8+DQoJCTwhLS0gc3Vic3RpdHV0aW9uOiAlbSA9PSBtaW51dGVzIHJlbWFpbmluZyAtLT4NCgkJPCEtLSBzdWJzdGl0dXRpb246ICVzID09IHNlY29uZHMgcmVtYWluaW5nIC0tPg0KCQk8dWl0ZXh0IG5hbWU9IkVMQVBTRUQiIHZhbHVlPSLQntGB0YLQsNC70L7RgdGMICVtINC80LjQvS4gJXMg0YEiLz4NCgkJPHVpdGV4dCBuYW1lPSJOT1RGT1VORCIgdmFsdWU9ItCd0LjRh9C10LPQviDQvdC1INC90LDQudC00LXQvdC+Ii8+DQoJCTx1aXRleHQgbmFtZT0iQVRUQUNITUVOVFMiIHZhbHVlPSLQktC70L7QttC10L3QuNGPIi8+DQoJCTwhLS0gc3Vic3RpdHV0aW9uOiAlcCA9PSBjdXJyZW50IHNwZWFrZXIncyB0aXRsZSAtLT4NCgkJPHVpdGV4dCBuYW1lPSJCSU9XSU5fVElUTEUiIHZhbHVlPSLQkdC40L7Qs9GA0LDRhNC40Y86ICVwIi8+DQoJCTx1aXRleHQgbmFtZT0iQklPQlROX1RJVExFIiB2YWx1ZT0i0JHQuNC+0LPRgNCw0YTQuNGPIi8+DQoJCTx1aXRleHQgbmFtZT0iRElWSURFUkJUTl9USVRMRSIgdmFsdWU9InwiLz4NCgkJPHVpdGV4dCBuYW1lPSJDT05UQUNUQlROX1RJVExFIiB2YWx1ZT0i0JrQvtC90YLQsNC60YIiLz4NCgkJPHVpdGV4dCBuYW1lPSJUQUJfUVVJWiIgdmFsdWU9ItCe0L/RgNC+0YEiLz4NCgkJPHVpdGV4dCBuYW1lPSJUQUJfT1VUTElORSIgdmFsdWU9ItCh0YXQtdC80LAiLz4NCgkJPHVpdGV4dCBuYW1lPSJUQUJfVEhVTUIiIHZhbHVlPSLQkdC10LPRg9C90L7QuiIvPg0KCQk8dWl0ZXh0IG5hbWU9IlRBQl9OT1RFUyIgdmFsdWU9ItCX0LDQvNC10YLQutC4Ii8+DQoJCTx1aXRleHQgbmFtZT0iVEFCX1NFQVJDSCIgdmFsdWU9ItCf0L7QuNGB0LoiLz4NCgkJPHVpdGV4dCBuYW1lPSJTTElERV9IRUFESU5HIiB2YWx1ZT0i0JfQsNCz0L7Qu9C+0LLQvtC6INGB0LvQsNC50LTQsCIvPg0KCQk8dWl0ZXh0IG5hbWU9IkRVUkFUSU9OX0hFQURJTkciIHZhbHVlPSLQlNC70LjRgi3RgdGC0YwiLz4NCgkJPHVpdGV4dCBuYW1lPSJTRUFSQ0hfSEVBRElORyIgdmFsdWU9ItCf0L7QuNGB0Log0YLQtdC60YHRgtCwOiIvPg0KCQk8dWl0ZXh0IG5hbWU9IlRIVU1CX0hFQURJTkciIHZhbHVlPSLQodC70LDQudC0Ii8+DQoJCTx1aXRleHQgbmFtZT0iVEhVTUJfSU5GTyIgdmFsdWU9ItCd0LDQt9Cy0LDQvdC40LUv0LTQu9C40YIt0L3QvtGB0YLRjCIvPg0KCQk8dWl0ZXh0IG5hbWU9IkFUVEFDSE5BTUVfSEVBRElORyIgdmFsdWU9ItCY0LzRjyDRhNCw0LnQu9CwIi8+DQoJCTx1aXRleHQgbmFtZT0iQVRUQUNIU0laRV9IRUFESU5HIiB2YWx1ZT0i0KDQsNC30LzQtdGAIi8+DQoJCTx1aXRleHQgbmFtZT0iU0xJREVfTk9URVMiIHZhbHVlPSLQl9Cw0LzQtdGC0LrQuCDQuiDRgdC70LDQudC00YM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4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4&quot;/&gt;&lt;lineCharCount val=&quot;14&quot;/&gt;&lt;lineCharCount val=&quot;15&quot;/&gt;&lt;lineCharCount val=&quot;13&quot;/&gt;&lt;lineCharCount val=&quot;12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8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31&quot;/&gt;&lt;lineCharCount val=&quot;13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31&quot;/&gt;&lt;lineCharCount val=&quot;13&quot;/&gt;&lt;/TableIndex&gt;&lt;/ShapeTextInfo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8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4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&quot;/&gt;&lt;/TableIndex&gt;&lt;/ShapeTextInfo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4&quot;/&gt;&lt;lineCharCount val=&quot;14&quot;/&gt;&lt;lineCharCount val=&quot;15&quot;/&gt;&lt;lineCharCount val=&quot;13&quot;/&gt;&lt;lineCharCount val=&quot;12&quot;/&gt;&lt;/TableIndex&gt;&lt;/ShapeTextInfo&gt;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3413975A55FA429D22775D24DE4CE4" ma:contentTypeVersion="18" ma:contentTypeDescription="Crie um novo documento." ma:contentTypeScope="" ma:versionID="9eb6731ece1a87233c5be5fcc8110a38">
  <xsd:schema xmlns:xsd="http://www.w3.org/2001/XMLSchema" xmlns:xs="http://www.w3.org/2001/XMLSchema" xmlns:p="http://schemas.microsoft.com/office/2006/metadata/properties" xmlns:ns3="3a061fb9-f959-4cbe-a0c1-728da8f439bc" xmlns:ns4="eee0345e-601d-4af1-82e7-090d66c0eb6c" targetNamespace="http://schemas.microsoft.com/office/2006/metadata/properties" ma:root="true" ma:fieldsID="e08b9c04ee1d1c0a52311730ac16b7a0" ns3:_="" ns4:_="">
    <xsd:import namespace="3a061fb9-f959-4cbe-a0c1-728da8f439bc"/>
    <xsd:import namespace="eee0345e-601d-4af1-82e7-090d66c0eb6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061fb9-f959-4cbe-a0c1-728da8f439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e0345e-601d-4af1-82e7-090d66c0eb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ee0345e-601d-4af1-82e7-090d66c0eb6c" xsi:nil="true"/>
  </documentManagement>
</p:properties>
</file>

<file path=customXml/itemProps1.xml><?xml version="1.0" encoding="utf-8"?>
<ds:datastoreItem xmlns:ds="http://schemas.openxmlformats.org/officeDocument/2006/customXml" ds:itemID="{765105A6-0746-4400-B5ED-0E55E4CF18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061fb9-f959-4cbe-a0c1-728da8f439bc"/>
    <ds:schemaRef ds:uri="eee0345e-601d-4af1-82e7-090d66c0eb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250302-1BB2-422F-8AAD-D5EF337F30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09AA86-981A-4AF0-99E8-6CEF9C25C3BC}">
  <ds:schemaRefs>
    <ds:schemaRef ds:uri="http://schemas.microsoft.com/office/2006/documentManagement/types"/>
    <ds:schemaRef ds:uri="http://purl.org/dc/terms/"/>
    <ds:schemaRef ds:uri="http://purl.org/dc/elements/1.1/"/>
    <ds:schemaRef ds:uri="3a061fb9-f959-4cbe-a0c1-728da8f439bc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eee0345e-601d-4af1-82e7-090d66c0eb6c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2578</TotalTime>
  <Words>1183</Words>
  <Application>Microsoft Office PowerPoint</Application>
  <PresentationFormat>Apresentação na tela (4:3)</PresentationFormat>
  <Paragraphs>46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Roboto Condensed</vt:lpstr>
      <vt:lpstr>Roboto Light</vt:lpstr>
      <vt:lpstr>Roboto Lt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Adriana Mitsue Matsuda</dc:creator>
  <cp:lastModifiedBy>Silmara Gomes</cp:lastModifiedBy>
  <cp:revision>269</cp:revision>
  <dcterms:created xsi:type="dcterms:W3CDTF">2013-06-03T20:16:43Z</dcterms:created>
  <dcterms:modified xsi:type="dcterms:W3CDTF">2025-05-27T20:45:46Z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0x010100233413975A55FA429D22775D24DE4CE4</vt:lpwstr>
  </property>
</Properties>
</file>